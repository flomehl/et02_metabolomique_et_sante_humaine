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69" r:id="rId3"/>
    <p:sldId id="260" r:id="rId4"/>
    <p:sldId id="256" r:id="rId5"/>
    <p:sldId id="267" r:id="rId6"/>
    <p:sldId id="262" r:id="rId7"/>
    <p:sldId id="271" r:id="rId8"/>
    <p:sldId id="268" r:id="rId9"/>
    <p:sldId id="259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9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C1E7DB-F3AE-2048-A62C-FD801110238E}" v="42" dt="2026-09-30T07:15:38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88"/>
    <p:restoredTop sz="83119"/>
  </p:normalViewPr>
  <p:slideViewPr>
    <p:cSldViewPr snapToGrid="0">
      <p:cViewPr varScale="1">
        <p:scale>
          <a:sx n="88" d="100"/>
          <a:sy n="88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drey le gouellec" userId="1f9fea40c80bc2c1" providerId="LiveId" clId="{9A1A8B62-A1C0-56E3-A0A1-D98A0F7BDA82}"/>
    <pc:docChg chg="undo custSel addSld delSld modSld sldOrd">
      <pc:chgData name="audrey le gouellec" userId="1f9fea40c80bc2c1" providerId="LiveId" clId="{9A1A8B62-A1C0-56E3-A0A1-D98A0F7BDA82}" dt="2026-10-05T13:19:46.725" v="437" actId="403"/>
      <pc:docMkLst>
        <pc:docMk/>
      </pc:docMkLst>
      <pc:sldChg chg="modSp mod">
        <pc:chgData name="audrey le gouellec" userId="1f9fea40c80bc2c1" providerId="LiveId" clId="{9A1A8B62-A1C0-56E3-A0A1-D98A0F7BDA82}" dt="2026-09-30T11:40:00.491" v="295" actId="1076"/>
        <pc:sldMkLst>
          <pc:docMk/>
          <pc:sldMk cId="3443775909" sldId="257"/>
        </pc:sldMkLst>
        <pc:picChg chg="mod">
          <ac:chgData name="audrey le gouellec" userId="1f9fea40c80bc2c1" providerId="LiveId" clId="{9A1A8B62-A1C0-56E3-A0A1-D98A0F7BDA82}" dt="2026-09-30T11:40:00.491" v="295" actId="1076"/>
          <ac:picMkLst>
            <pc:docMk/>
            <pc:sldMk cId="3443775909" sldId="257"/>
            <ac:picMk id="4" creationId="{46595A28-EE5D-29EE-9CD6-E23D59A644E3}"/>
          </ac:picMkLst>
        </pc:picChg>
      </pc:sldChg>
      <pc:sldChg chg="addSp delSp modSp add del mod modShow">
        <pc:chgData name="audrey le gouellec" userId="1f9fea40c80bc2c1" providerId="LiveId" clId="{9A1A8B62-A1C0-56E3-A0A1-D98A0F7BDA82}" dt="2026-09-30T11:38:40.232" v="289" actId="729"/>
        <pc:sldMkLst>
          <pc:docMk/>
          <pc:sldMk cId="0" sldId="260"/>
        </pc:sldMkLst>
      </pc:sldChg>
      <pc:sldChg chg="modSp mod ord modShow">
        <pc:chgData name="audrey le gouellec" userId="1f9fea40c80bc2c1" providerId="LiveId" clId="{9A1A8B62-A1C0-56E3-A0A1-D98A0F7BDA82}" dt="2026-09-30T11:39:40.469" v="292" actId="729"/>
        <pc:sldMkLst>
          <pc:docMk/>
          <pc:sldMk cId="0" sldId="262"/>
        </pc:sldMkLst>
        <pc:graphicFrameChg chg="modGraphic">
          <ac:chgData name="audrey le gouellec" userId="1f9fea40c80bc2c1" providerId="LiveId" clId="{9A1A8B62-A1C0-56E3-A0A1-D98A0F7BDA82}" dt="2026-09-30T07:18:27.431" v="1" actId="20577"/>
          <ac:graphicFrameMkLst>
            <pc:docMk/>
            <pc:sldMk cId="0" sldId="262"/>
            <ac:graphicFrameMk id="29" creationId="{BBF46AB0-8B81-40D5-A872-7B630113CC7A}"/>
          </ac:graphicFrameMkLst>
        </pc:graphicFrameChg>
      </pc:sldChg>
      <pc:sldChg chg="modSp mod">
        <pc:chgData name="audrey le gouellec" userId="1f9fea40c80bc2c1" providerId="LiveId" clId="{9A1A8B62-A1C0-56E3-A0A1-D98A0F7BDA82}" dt="2026-10-05T13:16:20.472" v="315" actId="1076"/>
        <pc:sldMkLst>
          <pc:docMk/>
          <pc:sldMk cId="3246919864" sldId="267"/>
        </pc:sldMkLst>
        <pc:spChg chg="mod">
          <ac:chgData name="audrey le gouellec" userId="1f9fea40c80bc2c1" providerId="LiveId" clId="{9A1A8B62-A1C0-56E3-A0A1-D98A0F7BDA82}" dt="2026-10-05T13:16:19.746" v="314" actId="208"/>
          <ac:spMkLst>
            <pc:docMk/>
            <pc:sldMk cId="3246919864" sldId="267"/>
            <ac:spMk id="5" creationId="{C5B911D6-20A9-DBEB-2E4B-FE553363A8C9}"/>
          </ac:spMkLst>
        </pc:spChg>
        <pc:picChg chg="mod">
          <ac:chgData name="audrey le gouellec" userId="1f9fea40c80bc2c1" providerId="LiveId" clId="{9A1A8B62-A1C0-56E3-A0A1-D98A0F7BDA82}" dt="2026-10-05T13:16:20.472" v="315" actId="1076"/>
          <ac:picMkLst>
            <pc:docMk/>
            <pc:sldMk cId="3246919864" sldId="267"/>
            <ac:picMk id="2" creationId="{4F3BEC83-F285-71D2-0BCB-3E4F971C2DB3}"/>
          </ac:picMkLst>
        </pc:picChg>
      </pc:sldChg>
      <pc:sldChg chg="addSp delSp modSp new mod modClrScheme chgLayout">
        <pc:chgData name="audrey le gouellec" userId="1f9fea40c80bc2c1" providerId="LiveId" clId="{9A1A8B62-A1C0-56E3-A0A1-D98A0F7BDA82}" dt="2026-10-05T13:19:46.725" v="437" actId="403"/>
        <pc:sldMkLst>
          <pc:docMk/>
          <pc:sldMk cId="4048301981" sldId="268"/>
        </pc:sldMkLst>
        <pc:spChg chg="mod ord">
          <ac:chgData name="audrey le gouellec" userId="1f9fea40c80bc2c1" providerId="LiveId" clId="{9A1A8B62-A1C0-56E3-A0A1-D98A0F7BDA82}" dt="2026-10-05T13:17:40.682" v="337" actId="20577"/>
          <ac:spMkLst>
            <pc:docMk/>
            <pc:sldMk cId="4048301981" sldId="268"/>
            <ac:spMk id="2" creationId="{FF048C09-71AC-D0A4-01B3-EE4DBBC2B539}"/>
          </ac:spMkLst>
        </pc:spChg>
        <pc:spChg chg="add mod ord">
          <ac:chgData name="audrey le gouellec" userId="1f9fea40c80bc2c1" providerId="LiveId" clId="{9A1A8B62-A1C0-56E3-A0A1-D98A0F7BDA82}" dt="2026-10-05T13:19:46.725" v="437" actId="403"/>
          <ac:spMkLst>
            <pc:docMk/>
            <pc:sldMk cId="4048301981" sldId="268"/>
            <ac:spMk id="3" creationId="{DDDFD483-10B3-618F-622D-DF39D394C2B4}"/>
          </ac:spMkLst>
        </pc:spChg>
        <pc:spChg chg="add mod">
          <ac:chgData name="audrey le gouellec" userId="1f9fea40c80bc2c1" providerId="LiveId" clId="{9A1A8B62-A1C0-56E3-A0A1-D98A0F7BDA82}" dt="2026-10-05T13:19:03.755" v="411" actId="403"/>
          <ac:spMkLst>
            <pc:docMk/>
            <pc:sldMk cId="4048301981" sldId="268"/>
            <ac:spMk id="4" creationId="{B26EFB1B-4A21-2E64-F5D3-8CAAC45E38F4}"/>
          </ac:spMkLst>
        </pc:spChg>
        <pc:spChg chg="add del mod">
          <ac:chgData name="audrey le gouellec" userId="1f9fea40c80bc2c1" providerId="LiveId" clId="{9A1A8B62-A1C0-56E3-A0A1-D98A0F7BDA82}" dt="2026-10-05T13:19:38.622" v="436"/>
          <ac:spMkLst>
            <pc:docMk/>
            <pc:sldMk cId="4048301981" sldId="268"/>
            <ac:spMk id="5" creationId="{9F36DDC8-6AD7-7EDC-9030-74DB93A3359A}"/>
          </ac:spMkLst>
        </pc:spChg>
      </pc:sldChg>
      <pc:sldChg chg="addSp delSp modSp add mod setBg">
        <pc:chgData name="audrey le gouellec" userId="1f9fea40c80bc2c1" providerId="LiveId" clId="{9A1A8B62-A1C0-56E3-A0A1-D98A0F7BDA82}" dt="2026-09-30T11:56:41.550" v="310" actId="14100"/>
        <pc:sldMkLst>
          <pc:docMk/>
          <pc:sldMk cId="0" sldId="269"/>
        </pc:sldMkLst>
        <pc:spChg chg="mod">
          <ac:chgData name="audrey le gouellec" userId="1f9fea40c80bc2c1" providerId="LiveId" clId="{9A1A8B62-A1C0-56E3-A0A1-D98A0F7BDA82}" dt="2026-09-30T11:55:11.945" v="297"/>
          <ac:spMkLst>
            <pc:docMk/>
            <pc:sldMk cId="0" sldId="269"/>
            <ac:spMk id="5" creationId="{00000000-0000-0000-0000-000000000000}"/>
          </ac:spMkLst>
        </pc:spChg>
        <pc:spChg chg="mod">
          <ac:chgData name="audrey le gouellec" userId="1f9fea40c80bc2c1" providerId="LiveId" clId="{9A1A8B62-A1C0-56E3-A0A1-D98A0F7BDA82}" dt="2026-09-30T11:56:15.260" v="308" actId="403"/>
          <ac:spMkLst>
            <pc:docMk/>
            <pc:sldMk cId="0" sldId="269"/>
            <ac:spMk id="6" creationId="{00000000-0000-0000-0000-000000000000}"/>
          </ac:spMkLst>
        </pc:spChg>
        <pc:spChg chg="mod">
          <ac:chgData name="audrey le gouellec" userId="1f9fea40c80bc2c1" providerId="LiveId" clId="{9A1A8B62-A1C0-56E3-A0A1-D98A0F7BDA82}" dt="2026-09-30T11:33:58.940" v="213" actId="103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audrey le gouellec" userId="1f9fea40c80bc2c1" providerId="LiveId" clId="{9A1A8B62-A1C0-56E3-A0A1-D98A0F7BDA82}" dt="2026-09-30T11:33:56.695" v="209" actId="103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audrey le gouellec" userId="1f9fea40c80bc2c1" providerId="LiveId" clId="{9A1A8B62-A1C0-56E3-A0A1-D98A0F7BDA82}" dt="2026-09-30T11:36:20.460" v="286" actId="1035"/>
          <ac:spMkLst>
            <pc:docMk/>
            <pc:sldMk cId="0" sldId="269"/>
            <ac:spMk id="12" creationId="{00000000-0000-0000-0000-000000000000}"/>
          </ac:spMkLst>
        </pc:spChg>
        <pc:spChg chg="mod">
          <ac:chgData name="audrey le gouellec" userId="1f9fea40c80bc2c1" providerId="LiveId" clId="{9A1A8B62-A1C0-56E3-A0A1-D98A0F7BDA82}" dt="2026-09-30T11:36:20.460" v="286" actId="1035"/>
          <ac:spMkLst>
            <pc:docMk/>
            <pc:sldMk cId="0" sldId="269"/>
            <ac:spMk id="18" creationId="{00000000-0000-0000-0000-000000000000}"/>
          </ac:spMkLst>
        </pc:spChg>
        <pc:spChg chg="mod">
          <ac:chgData name="audrey le gouellec" userId="1f9fea40c80bc2c1" providerId="LiveId" clId="{9A1A8B62-A1C0-56E3-A0A1-D98A0F7BDA82}" dt="2026-09-30T11:34:09.967" v="232" actId="1037"/>
          <ac:spMkLst>
            <pc:docMk/>
            <pc:sldMk cId="0" sldId="269"/>
            <ac:spMk id="22" creationId="{00000000-0000-0000-0000-000000000000}"/>
          </ac:spMkLst>
        </pc:spChg>
        <pc:spChg chg="mod">
          <ac:chgData name="audrey le gouellec" userId="1f9fea40c80bc2c1" providerId="LiveId" clId="{9A1A8B62-A1C0-56E3-A0A1-D98A0F7BDA82}" dt="2026-09-30T11:34:05.686" v="226" actId="1037"/>
          <ac:spMkLst>
            <pc:docMk/>
            <pc:sldMk cId="0" sldId="269"/>
            <ac:spMk id="23" creationId="{00000000-0000-0000-0000-000000000000}"/>
          </ac:spMkLst>
        </pc:spChg>
        <pc:spChg chg="mod">
          <ac:chgData name="audrey le gouellec" userId="1f9fea40c80bc2c1" providerId="LiveId" clId="{9A1A8B62-A1C0-56E3-A0A1-D98A0F7BDA82}" dt="2026-09-30T11:36:20.460" v="286" actId="1035"/>
          <ac:spMkLst>
            <pc:docMk/>
            <pc:sldMk cId="0" sldId="269"/>
            <ac:spMk id="24" creationId="{00000000-0000-0000-0000-000000000000}"/>
          </ac:spMkLst>
        </pc:spChg>
        <pc:spChg chg="mod">
          <ac:chgData name="audrey le gouellec" userId="1f9fea40c80bc2c1" providerId="LiveId" clId="{9A1A8B62-A1C0-56E3-A0A1-D98A0F7BDA82}" dt="2026-09-30T11:35:15.444" v="274" actId="14100"/>
          <ac:spMkLst>
            <pc:docMk/>
            <pc:sldMk cId="0" sldId="269"/>
            <ac:spMk id="26" creationId="{00000000-0000-0000-0000-000000000000}"/>
          </ac:spMkLst>
        </pc:spChg>
        <pc:spChg chg="mod">
          <ac:chgData name="audrey le gouellec" userId="1f9fea40c80bc2c1" providerId="LiveId" clId="{9A1A8B62-A1C0-56E3-A0A1-D98A0F7BDA82}" dt="2026-09-30T11:35:01.753" v="269" actId="103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audrey le gouellec" userId="1f9fea40c80bc2c1" providerId="LiveId" clId="{9A1A8B62-A1C0-56E3-A0A1-D98A0F7BDA82}" dt="2026-09-30T11:34:52.177" v="258" actId="1036"/>
          <ac:spMkLst>
            <pc:docMk/>
            <pc:sldMk cId="0" sldId="269"/>
            <ac:spMk id="28" creationId="{00000000-0000-0000-0000-000000000000}"/>
          </ac:spMkLst>
        </pc:spChg>
        <pc:spChg chg="mod">
          <ac:chgData name="audrey le gouellec" userId="1f9fea40c80bc2c1" providerId="LiveId" clId="{9A1A8B62-A1C0-56E3-A0A1-D98A0F7BDA82}" dt="2026-09-30T11:34:44.011" v="245" actId="20577"/>
          <ac:spMkLst>
            <pc:docMk/>
            <pc:sldMk cId="0" sldId="269"/>
            <ac:spMk id="29" creationId="{00000000-0000-0000-0000-000000000000}"/>
          </ac:spMkLst>
        </pc:spChg>
        <pc:spChg chg="add mod">
          <ac:chgData name="audrey le gouellec" userId="1f9fea40c80bc2c1" providerId="LiveId" clId="{9A1A8B62-A1C0-56E3-A0A1-D98A0F7BDA82}" dt="2026-09-30T11:56:41.550" v="310" actId="14100"/>
          <ac:spMkLst>
            <pc:docMk/>
            <pc:sldMk cId="0" sldId="269"/>
            <ac:spMk id="31" creationId="{3AF8C353-5B61-8E96-256A-58074B5CB9F4}"/>
          </ac:spMkLst>
        </pc:spChg>
        <pc:spChg chg="add mod">
          <ac:chgData name="audrey le gouellec" userId="1f9fea40c80bc2c1" providerId="LiveId" clId="{9A1A8B62-A1C0-56E3-A0A1-D98A0F7BDA82}" dt="2026-09-30T11:56:12.535" v="307" actId="1036"/>
          <ac:spMkLst>
            <pc:docMk/>
            <pc:sldMk cId="0" sldId="269"/>
            <ac:spMk id="32" creationId="{52E52EDB-1A3C-6D50-06B1-ED2AF40E73C3}"/>
          </ac:spMkLst>
        </pc:spChg>
      </pc:sldChg>
      <pc:sldChg chg="modSp add setBg">
        <pc:chgData name="audrey le gouellec" userId="1f9fea40c80bc2c1" providerId="LiveId" clId="{9A1A8B62-A1C0-56E3-A0A1-D98A0F7BDA82}" dt="2026-09-30T11:39:27.870" v="291"/>
        <pc:sldMkLst>
          <pc:docMk/>
          <pc:sldMk cId="0" sldId="271"/>
        </pc:sldMkLst>
        <pc:graphicFrameChg chg="mod">
          <ac:chgData name="audrey le gouellec" userId="1f9fea40c80bc2c1" providerId="LiveId" clId="{9A1A8B62-A1C0-56E3-A0A1-D98A0F7BDA82}" dt="2026-09-30T11:39:27.870" v="291"/>
          <ac:graphicFrameMkLst>
            <pc:docMk/>
            <pc:sldMk cId="0" sldId="271"/>
            <ac:graphicFrameMk id="30" creationId="{7F9E084C-818A-4343-9093-EA12C0B4561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8DDC1-0821-9742-BD0A-DD952B209EAA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167D3-B986-1E40-897F-981AB43542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9718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Evenement</a:t>
            </a:r>
            <a:r>
              <a:rPr lang="fr-FR" dirty="0"/>
              <a:t> </a:t>
            </a:r>
            <a:r>
              <a:rPr lang="fr-FR" dirty="0" err="1"/>
              <a:t>coporté</a:t>
            </a:r>
            <a:r>
              <a:rPr lang="fr-FR" dirty="0"/>
              <a:t> par la SFBC et le RFMF, sponsorisé comme école thématique du CNRS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167D3-B986-1E40-897F-981AB43542D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0180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L’idée était de détourner le vocabulaire de l’annotation métabolomique :</a:t>
            </a:r>
          </a:p>
          <a:p>
            <a:pPr lvl="0"/>
            <a:r>
              <a:rPr lang="fr-FR" b="1" dirty="0"/>
              <a:t>« Composition exacte : secrète »</a:t>
            </a:r>
            <a:r>
              <a:rPr lang="fr-FR" dirty="0"/>
              <a:t> → clin d’œil à la recette de la Chartreuse, connue pour être tenue secrète.</a:t>
            </a:r>
          </a:p>
          <a:p>
            <a:pPr lvl="0"/>
            <a:r>
              <a:rPr lang="fr-FR" b="1" dirty="0"/>
              <a:t>« Annotation niveau 1 : impossible »</a:t>
            </a:r>
            <a:r>
              <a:rPr lang="fr-FR" dirty="0"/>
              <a:t> → même avec nos meilleurs standards analytiques, impossible d’obtenir une identification certaine de tous les constituants 😄.</a:t>
            </a:r>
          </a:p>
          <a:p>
            <a:pPr lvl="0"/>
            <a:r>
              <a:rPr lang="fr-FR" b="1" dirty="0"/>
              <a:t>« Convivialité : confirmée »</a:t>
            </a:r>
            <a:r>
              <a:rPr lang="fr-FR" dirty="0"/>
              <a:t> → en revanche, son intérêt pour le moment convivial ne nécessite aucune validation supplémentaire.</a:t>
            </a:r>
          </a:p>
          <a:p>
            <a:r>
              <a:rPr lang="fr-FR" dirty="0"/>
              <a:t>C’était donc plutôt destiné à une </a:t>
            </a:r>
            <a:r>
              <a:rPr lang="fr-FR" b="1" dirty="0"/>
              <a:t>slide légère sur la convivialité / le moment informel</a:t>
            </a:r>
            <a:r>
              <a:rPr lang="fr-FR" dirty="0"/>
              <a:t>, pour faire le lien entre la région, la Chartreuse et la métabolomique.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167D3-B986-1E40-897F-981AB43542D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386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C72B62-5B55-CE49-BF86-877ED868E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A792ED-4757-61FD-3A7F-F51024C27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953FB7-8654-8BFC-5C31-DA5BBD4D2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229-F3FE-EB40-A67B-93D298269155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26A2FC-C604-BBAC-3803-0B423C447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10CD42-894E-49D5-EE25-7E8AA0A42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87F0-8831-DE45-ABE4-1C4F15FF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8086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8426B9-B3FF-8F77-669F-895E5F835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FA8128-6D15-4218-69F6-BB669D956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A95802-FF80-E44B-0952-1805AEB2D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229-F3FE-EB40-A67B-93D298269155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577FC9-CCD5-3AB6-8CAA-60A4A361A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944AF4-4AA8-A2E0-B5AB-EC699033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87F0-8831-DE45-ABE4-1C4F15FF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380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13F902-BB6A-264A-72E7-2FA7B0D7F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84CFA0-368C-3D65-546A-4F50861B4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066E2C-E3EE-D1A6-72F7-7F28168EC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229-F3FE-EB40-A67B-93D298269155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6F8109-2E6B-A0BE-7311-AB4982EA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CCA978-D8B5-E0C8-E061-BD7CA031B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87F0-8831-DE45-ABE4-1C4F15FF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2444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051037-CD32-97BD-3355-83289EB0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BBEC2C-FCD5-5B9A-26EC-E60E96C53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BAD5B6-31F8-BAFA-F0F8-1ADF0B36F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C41ED6-32AA-5525-DC6B-882D99B85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229-F3FE-EB40-A67B-93D298269155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994B7D-6C82-7FE9-720F-E1E0B0DF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B49FEF-A282-C3CC-FD95-12CA1353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87F0-8831-DE45-ABE4-1C4F15FF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278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CE0E0A-C81D-F1DE-D024-5B5525FDD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E030D3-5AE5-E968-3DEB-541EF5657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95E801-FF65-69CE-2992-D28858E7D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0A6FF8E-F06F-A224-FE8B-396AAFF96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4BC4FDC-438C-1F53-07F9-AB52DDBFBF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5DDDCAC-C52E-F602-6AC8-29F85372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229-F3FE-EB40-A67B-93D298269155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845D128-A65C-60BE-F269-F50D40DFA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377A00-D368-401F-085F-681536C4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87F0-8831-DE45-ABE4-1C4F15FF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110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F5AB59-77A8-D3B8-E502-D67549EB4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FE5B00F-3FA6-B9A6-8456-757061F99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229-F3FE-EB40-A67B-93D298269155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0220ADC-F1EE-EBF9-3118-F2DFEA229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8BB3B19-9827-46A5-0EA8-3AFC2D60F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87F0-8831-DE45-ABE4-1C4F15FF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844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533C73-7F30-56AA-E482-09699EC8F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229-F3FE-EB40-A67B-93D298269155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742C84-B3C9-9D55-DE15-FAB7A4CF1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0C78A4-2909-29E9-0793-2D306794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87F0-8831-DE45-ABE4-1C4F15FF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5878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BE70F-ACE3-B178-9D71-215E4625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84AD0C-702E-3346-A27A-ACE5E5E2F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5B3CA1-C145-87ED-DBC7-37F07226B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65A03F-F3DB-4CD8-B9F9-A5699F7C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229-F3FE-EB40-A67B-93D298269155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7E99D4-C245-0F62-3FFD-E1A41B44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73D758-9223-D450-671C-E6A9F95D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87F0-8831-DE45-ABE4-1C4F15FF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4649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4C58D9-0348-241B-6AA1-BD3F7D2C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17CCBBF-F9C6-4CEE-288B-602C7E58A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323894C-FB3E-D6FE-9D8E-F02CA972B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E82F10-BDB2-E89D-6644-A1254D1F4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229-F3FE-EB40-A67B-93D298269155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F3A97F-3A5F-31C9-4BC9-0DAD081F5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4B452F-447B-A046-AA4E-461CBB13B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87F0-8831-DE45-ABE4-1C4F15FF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694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2BB15-AEBD-AE5B-9F76-CBAC9D5C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74D48DD-4DC1-4E42-7D34-5C4438EA8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F9A8B1-228E-4FEA-84D6-4ED43DA8C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229-F3FE-EB40-A67B-93D298269155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2D82DB-E103-6E9C-9B67-9E8D19964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12344B-9731-B4B0-1593-5A6C156DE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87F0-8831-DE45-ABE4-1C4F15FF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290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1FC6373-93D1-9528-823F-11076CCA4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8C72AD-9ED1-366B-31A9-7F7DB7C15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31D1B9-5EFA-3F07-814B-9D8D4D927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229-F3FE-EB40-A67B-93D298269155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01700B-6132-7BE2-A4DD-93355FFA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27B4BF-5519-4032-9315-BECF0CBC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87F0-8831-DE45-ABE4-1C4F15FF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8234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65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4E5A"/>
          </a:solidFill>
          <a:ln w="12700">
            <a:solidFill>
              <a:srgbClr val="214E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73152" cy="713232"/>
          </a:xfrm>
          <a:prstGeom prst="rect">
            <a:avLst/>
          </a:prstGeom>
          <a:solidFill>
            <a:srgbClr val="5AA897"/>
          </a:solidFill>
          <a:ln w="12700">
            <a:solidFill>
              <a:srgbClr val="5AA89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13232" y="53035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3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Conférenciers invités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diversité d’expertises en métabolomique, RMN, spectrométrie de masse, bioinformatique et clinique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A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8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529D28-E5EF-FEFA-8656-12C05F123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21CB2F-33BE-DB6B-5893-09DAB81FB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255FD2-2650-119D-BA9A-E39553797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49229-F3FE-EB40-A67B-93D298269155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4823A4-91A6-9072-FE44-135CE8448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1A86F4-4A86-BC17-3C6D-5F61403D7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4287F0-8831-DE45-ABE4-1C4F15FF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27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5" Type="http://schemas.openxmlformats.org/officeDocument/2006/relationships/image" Target="../media/image15.jp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https://2-et-rfmf-2026.sciencesconf.org/data/pages/_7.jpg" TargetMode="External"/><Relationship Id="rId13" Type="http://schemas.openxmlformats.org/officeDocument/2006/relationships/image" Target="https://2-et-rfmf-2026.sciencesconf.org/data/pages/11.jpg" TargetMode="External"/><Relationship Id="rId18" Type="http://schemas.microsoft.com/office/2007/relationships/hdphoto" Target="../media/hdphoto1.wdp"/><Relationship Id="rId3" Type="http://schemas.openxmlformats.org/officeDocument/2006/relationships/image" Target="https://2-et-rfmf-2026.sciencesconf.org/data/pages/01.jpg" TargetMode="External"/><Relationship Id="rId7" Type="http://schemas.openxmlformats.org/officeDocument/2006/relationships/image" Target="https://2-et-rfmf-2026.sciencesconf.org/data/pages/05.png" TargetMode="External"/><Relationship Id="rId12" Type="http://schemas.openxmlformats.org/officeDocument/2006/relationships/image" Target="https://2-et-rfmf-2026.sciencesconf.org/data/pages/10.jpg" TargetMode="External"/><Relationship Id="rId17" Type="http://schemas.openxmlformats.org/officeDocument/2006/relationships/image" Target="../media/image19.png"/><Relationship Id="rId2" Type="http://schemas.openxmlformats.org/officeDocument/2006/relationships/image" Target="../media/image16.png"/><Relationship Id="rId16" Type="http://schemas.openxmlformats.org/officeDocument/2006/relationships/image" Target="../media/image18.png"/><Relationship Id="rId20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6" Type="http://schemas.openxmlformats.org/officeDocument/2006/relationships/image" Target="https://2-et-rfmf-2026.sciencesconf.org/data/pages/04.jpg" TargetMode="External"/><Relationship Id="rId11" Type="http://schemas.openxmlformats.org/officeDocument/2006/relationships/image" Target="https://2-et-rfmf-2026.sciencesconf.org/data/pages/09.jpg" TargetMode="External"/><Relationship Id="rId5" Type="http://schemas.openxmlformats.org/officeDocument/2006/relationships/image" Target="https://2-et-rfmf-2026.sciencesconf.org/data/pages/03.jpg" TargetMode="External"/><Relationship Id="rId15" Type="http://schemas.openxmlformats.org/officeDocument/2006/relationships/image" Target="../media/image17.png"/><Relationship Id="rId10" Type="http://schemas.openxmlformats.org/officeDocument/2006/relationships/image" Target="https://2-et-rfmf-2026.sciencesconf.org/data/pages/08.png" TargetMode="External"/><Relationship Id="rId19" Type="http://schemas.microsoft.com/office/2007/relationships/hdphoto" Target="../media/hdphoto2.wdp"/><Relationship Id="rId4" Type="http://schemas.openxmlformats.org/officeDocument/2006/relationships/image" Target="https://2-et-rfmf-2026.sciencesconf.org/data/pages/02.png" TargetMode="External"/><Relationship Id="rId9" Type="http://schemas.openxmlformats.org/officeDocument/2006/relationships/image" Target="https://2-et-rfmf-2026.sciencesconf.org/data/pages/07.jpg" TargetMode="External"/><Relationship Id="rId14" Type="http://schemas.openxmlformats.org/officeDocument/2006/relationships/image" Target="https://2-et-rfmf-2026.sciencesconf.org/data/pages/12.jpg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tgem.github.i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ilesender.renater.fr/?s=download&amp;token=9ac15feb-a033-4558-8a82-9163fafc1011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6595A28-EE5D-29EE-9CD6-E23D59A64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7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99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56032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4991AB"/>
                </a:solidFill>
                <a:latin typeface="Aptos"/>
              </a:rPr>
              <a:t>ÉCOLE THÉMATIQUE #2 · RFMF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58368"/>
            <a:ext cx="6937925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dirty="0">
                <a:solidFill>
                  <a:srgbClr val="1A4B78"/>
                </a:solidFill>
              </a:rPr>
              <a:t>SCIENCE, RESPECT &amp; BONNE HUMEUR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61872"/>
            <a:ext cx="54308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rgbClr val="5C6771"/>
                </a:solidFill>
              </a:rPr>
              <a:t>On peut débattre fort… sans jamais se manquer de respect.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84448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3584448" cy="512064"/>
          </a:xfrm>
          <a:prstGeom prst="roundRect">
            <a:avLst/>
          </a:prstGeom>
          <a:solidFill>
            <a:srgbClr val="499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2139696"/>
            <a:ext cx="3584448" cy="256032"/>
          </a:xfrm>
          <a:prstGeom prst="rect">
            <a:avLst/>
          </a:prstGeom>
          <a:solidFill>
            <a:srgbClr val="499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50884" y="1975103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4991A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379" y="1965960"/>
            <a:ext cx="280720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 dirty="0">
                <a:solidFill>
                  <a:srgbClr val="FFFFFF"/>
                </a:solidFill>
                <a:latin typeface="Aptos"/>
              </a:rPr>
              <a:t>RESPECTER LA PAROLE DE CHACUN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2546"/>
            <a:ext cx="3099816" cy="22893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dirty="0">
                <a:solidFill>
                  <a:srgbClr val="3A485B"/>
                </a:solidFill>
                <a:latin typeface="Aptos"/>
              </a:rPr>
              <a:t>• Une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personne</a:t>
            </a:r>
            <a:r>
              <a:rPr sz="1400" dirty="0">
                <a:solidFill>
                  <a:srgbClr val="3A485B"/>
                </a:solidFill>
                <a:latin typeface="Aptos"/>
              </a:rPr>
              <a:t> à la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fois</a:t>
            </a:r>
            <a:r>
              <a:rPr sz="1400" dirty="0">
                <a:solidFill>
                  <a:srgbClr val="3A485B"/>
                </a:solidFill>
                <a:latin typeface="Aptos"/>
              </a:rPr>
              <a:t> :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laisser</a:t>
            </a:r>
            <a:r>
              <a:rPr sz="1400" dirty="0">
                <a:solidFill>
                  <a:srgbClr val="3A485B"/>
                </a:solidFill>
                <a:latin typeface="Aptos"/>
              </a:rPr>
              <a:t> chacun terminer et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éviter</a:t>
            </a:r>
            <a:r>
              <a:rPr sz="1400" dirty="0">
                <a:solidFill>
                  <a:srgbClr val="3A485B"/>
                </a:solidFill>
                <a:latin typeface="Aptos"/>
              </a:rPr>
              <a:t> les conversations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parallèles</a:t>
            </a:r>
            <a:r>
              <a:rPr sz="1400" dirty="0">
                <a:solidFill>
                  <a:srgbClr val="3A485B"/>
                </a:solidFill>
                <a:latin typeface="Aptos"/>
              </a:rPr>
              <a:t>.</a:t>
            </a:r>
          </a:p>
          <a:p>
            <a:r>
              <a:rPr sz="1400" dirty="0">
                <a:solidFill>
                  <a:srgbClr val="3A485B"/>
                </a:solidFill>
                <a:latin typeface="Aptos"/>
              </a:rPr>
              <a:t>• Faire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une</a:t>
            </a:r>
            <a:r>
              <a:rPr sz="1400" dirty="0">
                <a:solidFill>
                  <a:srgbClr val="3A485B"/>
                </a:solidFill>
                <a:latin typeface="Aptos"/>
              </a:rPr>
              <a:t> place à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toutes</a:t>
            </a:r>
            <a:r>
              <a:rPr sz="1400" dirty="0">
                <a:solidFill>
                  <a:srgbClr val="3A485B"/>
                </a:solidFill>
                <a:latin typeface="Aptos"/>
              </a:rPr>
              <a:t> les contributions, y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compris</a:t>
            </a:r>
            <a:r>
              <a:rPr sz="1400" dirty="0">
                <a:solidFill>
                  <a:srgbClr val="3A485B"/>
                </a:solidFill>
                <a:latin typeface="Aptos"/>
              </a:rPr>
              <a:t> aux voix plus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discrètes</a:t>
            </a:r>
            <a:r>
              <a:rPr sz="1400" dirty="0">
                <a:solidFill>
                  <a:srgbClr val="3A485B"/>
                </a:solidFill>
                <a:latin typeface="Aptos"/>
              </a:rPr>
              <a:t>.</a:t>
            </a:r>
            <a:endParaRPr lang="fr-FR" sz="1400" dirty="0">
              <a:solidFill>
                <a:srgbClr val="3A485B"/>
              </a:solidFill>
              <a:latin typeface="Aptos"/>
            </a:endParaRPr>
          </a:p>
          <a:p>
            <a:endParaRPr sz="1400" dirty="0">
              <a:solidFill>
                <a:srgbClr val="3A485B"/>
              </a:solidFill>
              <a:latin typeface="Aptos"/>
            </a:endParaRPr>
          </a:p>
          <a:p>
            <a:r>
              <a:rPr sz="1400" dirty="0">
                <a:solidFill>
                  <a:srgbClr val="3A485B"/>
                </a:solidFill>
                <a:latin typeface="Aptos"/>
              </a:rPr>
              <a:t>•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Valoriser</a:t>
            </a:r>
            <a:r>
              <a:rPr sz="1400" dirty="0">
                <a:solidFill>
                  <a:srgbClr val="3A485B"/>
                </a:solidFill>
                <a:latin typeface="Aptos"/>
              </a:rPr>
              <a:t> la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diversité</a:t>
            </a:r>
            <a:r>
              <a:rPr sz="1400" dirty="0">
                <a:solidFill>
                  <a:srgbClr val="3A485B"/>
                </a:solidFill>
                <a:latin typeface="Aptos"/>
              </a:rPr>
              <a:t> des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parcours</a:t>
            </a:r>
            <a:r>
              <a:rPr sz="1400" dirty="0">
                <a:solidFill>
                  <a:srgbClr val="3A485B"/>
                </a:solidFill>
                <a:latin typeface="Aptos"/>
              </a:rPr>
              <a:t>, des points de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vue</a:t>
            </a:r>
            <a:r>
              <a:rPr sz="1400" dirty="0">
                <a:solidFill>
                  <a:srgbClr val="3A485B"/>
                </a:solidFill>
                <a:latin typeface="Aptos"/>
              </a:rPr>
              <a:t>, des disciplines et des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niveaux</a:t>
            </a:r>
            <a:r>
              <a:rPr sz="1400" dirty="0">
                <a:solidFill>
                  <a:srgbClr val="3A485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d’expérience</a:t>
            </a:r>
            <a:r>
              <a:rPr sz="1400" dirty="0">
                <a:solidFill>
                  <a:srgbClr val="3A485B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874519"/>
            <a:ext cx="3584448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06824" y="1874519"/>
            <a:ext cx="3584448" cy="512064"/>
          </a:xfrm>
          <a:prstGeom prst="roundRect">
            <a:avLst/>
          </a:prstGeom>
          <a:solidFill>
            <a:srgbClr val="67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06824" y="2139696"/>
            <a:ext cx="3584448" cy="256032"/>
          </a:xfrm>
          <a:prstGeom prst="rect">
            <a:avLst/>
          </a:prstGeom>
          <a:solidFill>
            <a:srgbClr val="67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89704" y="1975103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74E9B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1965960"/>
            <a:ext cx="280720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ÉCOUTER ACTIVEMENT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492546"/>
            <a:ext cx="2999232" cy="18584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dirty="0">
                <a:solidFill>
                  <a:srgbClr val="3A485B"/>
                </a:solidFill>
                <a:latin typeface="Aptos"/>
              </a:rPr>
              <a:t>•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Être</a:t>
            </a:r>
            <a:r>
              <a:rPr sz="1400" dirty="0">
                <a:solidFill>
                  <a:srgbClr val="3A485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pleinement</a:t>
            </a:r>
            <a:r>
              <a:rPr sz="1400" dirty="0">
                <a:solidFill>
                  <a:srgbClr val="3A485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présent</a:t>
            </a:r>
            <a:r>
              <a:rPr sz="1400" dirty="0">
                <a:solidFill>
                  <a:srgbClr val="3A485B"/>
                </a:solidFill>
                <a:latin typeface="Aptos"/>
              </a:rPr>
              <a:t> et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écouter</a:t>
            </a:r>
            <a:r>
              <a:rPr sz="1400" dirty="0">
                <a:solidFill>
                  <a:srgbClr val="3A485B"/>
                </a:solidFill>
                <a:latin typeface="Aptos"/>
              </a:rPr>
              <a:t> pour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comprendre</a:t>
            </a:r>
            <a:r>
              <a:rPr sz="1400" dirty="0">
                <a:solidFill>
                  <a:srgbClr val="3A485B"/>
                </a:solidFill>
                <a:latin typeface="Aptos"/>
              </a:rPr>
              <a:t>, pas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seulement</a:t>
            </a:r>
            <a:r>
              <a:rPr sz="1400" dirty="0">
                <a:solidFill>
                  <a:srgbClr val="3A485B"/>
                </a:solidFill>
                <a:latin typeface="Aptos"/>
              </a:rPr>
              <a:t> pour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répondre</a:t>
            </a:r>
            <a:r>
              <a:rPr sz="1400" dirty="0">
                <a:solidFill>
                  <a:srgbClr val="3A485B"/>
                </a:solidFill>
                <a:latin typeface="Aptos"/>
              </a:rPr>
              <a:t>.</a:t>
            </a:r>
          </a:p>
          <a:p>
            <a:r>
              <a:rPr sz="1400" dirty="0">
                <a:solidFill>
                  <a:srgbClr val="3A485B"/>
                </a:solidFill>
                <a:latin typeface="Aptos"/>
              </a:rPr>
              <a:t>• Poser des questions pour clarifier avant de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contredire</a:t>
            </a:r>
            <a:r>
              <a:rPr sz="1400" dirty="0">
                <a:solidFill>
                  <a:srgbClr val="3A485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ou</a:t>
            </a:r>
            <a:r>
              <a:rPr sz="1400" dirty="0">
                <a:solidFill>
                  <a:srgbClr val="3A485B"/>
                </a:solidFill>
                <a:latin typeface="Aptos"/>
              </a:rPr>
              <a:t> de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corriger</a:t>
            </a:r>
            <a:r>
              <a:rPr sz="1400" dirty="0">
                <a:solidFill>
                  <a:srgbClr val="3A485B"/>
                </a:solidFill>
                <a:latin typeface="Aptos"/>
              </a:rPr>
              <a:t>.</a:t>
            </a:r>
            <a:endParaRPr lang="fr-FR" sz="1400" dirty="0">
              <a:solidFill>
                <a:srgbClr val="3A485B"/>
              </a:solidFill>
              <a:latin typeface="Aptos"/>
            </a:endParaRPr>
          </a:p>
          <a:p>
            <a:endParaRPr sz="1400" dirty="0">
              <a:solidFill>
                <a:srgbClr val="3A485B"/>
              </a:solidFill>
              <a:latin typeface="Aptos"/>
            </a:endParaRPr>
          </a:p>
          <a:p>
            <a:r>
              <a:rPr sz="1400" dirty="0">
                <a:solidFill>
                  <a:srgbClr val="3A485B"/>
                </a:solidFill>
                <a:latin typeface="Aptos"/>
              </a:rPr>
              <a:t>•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Accueillir</a:t>
            </a:r>
            <a:r>
              <a:rPr sz="1400" dirty="0">
                <a:solidFill>
                  <a:srgbClr val="3A485B"/>
                </a:solidFill>
                <a:latin typeface="Aptos"/>
              </a:rPr>
              <a:t> avec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curiosité</a:t>
            </a:r>
            <a:r>
              <a:rPr sz="1400" dirty="0">
                <a:solidFill>
                  <a:srgbClr val="3A485B"/>
                </a:solidFill>
                <a:latin typeface="Aptos"/>
              </a:rPr>
              <a:t> les points de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vue</a:t>
            </a:r>
            <a:r>
              <a:rPr sz="1400" dirty="0">
                <a:solidFill>
                  <a:srgbClr val="3A485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différents</a:t>
            </a:r>
            <a:r>
              <a:rPr sz="1400" dirty="0">
                <a:solidFill>
                  <a:srgbClr val="3A485B"/>
                </a:solidFill>
                <a:latin typeface="Aptos"/>
              </a:rPr>
              <a:t> des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siens</a:t>
            </a:r>
            <a:r>
              <a:rPr sz="1400" dirty="0">
                <a:solidFill>
                  <a:srgbClr val="3A485B"/>
                </a:solidFill>
                <a:latin typeface="Apto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1874519"/>
            <a:ext cx="3584448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91856" y="1874519"/>
            <a:ext cx="3584448" cy="512064"/>
          </a:xfrm>
          <a:prstGeom prst="roundRect">
            <a:avLst/>
          </a:prstGeom>
          <a:solidFill>
            <a:srgbClr val="CF7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91856" y="2139696"/>
            <a:ext cx="3584448" cy="256032"/>
          </a:xfrm>
          <a:prstGeom prst="rect">
            <a:avLst/>
          </a:prstGeom>
          <a:solidFill>
            <a:srgbClr val="CF7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94054" y="1975103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CF7840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0208" y="1965960"/>
            <a:ext cx="280720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 dirty="0">
                <a:solidFill>
                  <a:srgbClr val="FFFFFF"/>
                </a:solidFill>
                <a:latin typeface="Aptos"/>
              </a:rPr>
              <a:t>ÊTRE BIENVEILLANT ET CONSTRUCTIF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492546"/>
            <a:ext cx="2999232" cy="20739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dirty="0">
                <a:solidFill>
                  <a:srgbClr val="3A485B"/>
                </a:solidFill>
                <a:latin typeface="Aptos"/>
              </a:rPr>
              <a:t>•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Discuter</a:t>
            </a:r>
            <a:r>
              <a:rPr sz="1400" dirty="0">
                <a:solidFill>
                  <a:srgbClr val="3A485B"/>
                </a:solidFill>
                <a:latin typeface="Aptos"/>
              </a:rPr>
              <a:t> les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idées</a:t>
            </a:r>
            <a:r>
              <a:rPr sz="1400" dirty="0">
                <a:solidFill>
                  <a:srgbClr val="3A485B"/>
                </a:solidFill>
                <a:latin typeface="Aptos"/>
              </a:rPr>
              <a:t>, jamais les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personnes</a:t>
            </a:r>
            <a:r>
              <a:rPr sz="1400" dirty="0">
                <a:solidFill>
                  <a:srgbClr val="3A485B"/>
                </a:solidFill>
                <a:latin typeface="Aptos"/>
              </a:rPr>
              <a:t> : le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désaccord</a:t>
            </a:r>
            <a:r>
              <a:rPr sz="1400" dirty="0">
                <a:solidFill>
                  <a:srgbClr val="3A485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peut</a:t>
            </a:r>
            <a:r>
              <a:rPr sz="1400" dirty="0">
                <a:solidFill>
                  <a:srgbClr val="3A485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être</a:t>
            </a:r>
            <a:r>
              <a:rPr sz="1400" dirty="0">
                <a:solidFill>
                  <a:srgbClr val="3A485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exigeant</a:t>
            </a:r>
            <a:r>
              <a:rPr sz="1400" dirty="0">
                <a:solidFill>
                  <a:srgbClr val="3A485B"/>
                </a:solidFill>
                <a:latin typeface="Aptos"/>
              </a:rPr>
              <a:t> et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respectueux</a:t>
            </a:r>
            <a:r>
              <a:rPr sz="1400" dirty="0">
                <a:solidFill>
                  <a:srgbClr val="3A485B"/>
                </a:solidFill>
                <a:latin typeface="Aptos"/>
              </a:rPr>
              <a:t>.</a:t>
            </a:r>
          </a:p>
          <a:p>
            <a:r>
              <a:rPr sz="1400" dirty="0">
                <a:solidFill>
                  <a:srgbClr val="3A485B"/>
                </a:solidFill>
                <a:latin typeface="Aptos"/>
              </a:rPr>
              <a:t>•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Appuyer</a:t>
            </a:r>
            <a:r>
              <a:rPr sz="1400" dirty="0">
                <a:solidFill>
                  <a:srgbClr val="3A485B"/>
                </a:solidFill>
                <a:latin typeface="Aptos"/>
              </a:rPr>
              <a:t> les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échanges</a:t>
            </a:r>
            <a:r>
              <a:rPr sz="1400" dirty="0">
                <a:solidFill>
                  <a:srgbClr val="3A485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scientifiques</a:t>
            </a:r>
            <a:r>
              <a:rPr sz="1400" dirty="0">
                <a:solidFill>
                  <a:srgbClr val="3A485B"/>
                </a:solidFill>
                <a:latin typeface="Aptos"/>
              </a:rPr>
              <a:t> sur les faits, la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curiosité</a:t>
            </a:r>
            <a:r>
              <a:rPr sz="1400" dirty="0">
                <a:solidFill>
                  <a:srgbClr val="3A485B"/>
                </a:solidFill>
                <a:latin typeface="Aptos"/>
              </a:rPr>
              <a:t> et la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générosité</a:t>
            </a:r>
            <a:r>
              <a:rPr sz="1400" dirty="0">
                <a:solidFill>
                  <a:srgbClr val="3A485B"/>
                </a:solidFill>
                <a:latin typeface="Aptos"/>
              </a:rPr>
              <a:t>.</a:t>
            </a:r>
            <a:endParaRPr lang="fr-FR" sz="1400" dirty="0">
              <a:solidFill>
                <a:srgbClr val="3A485B"/>
              </a:solidFill>
              <a:latin typeface="Aptos"/>
            </a:endParaRPr>
          </a:p>
          <a:p>
            <a:endParaRPr sz="1400" dirty="0">
              <a:solidFill>
                <a:srgbClr val="3A485B"/>
              </a:solidFill>
              <a:latin typeface="Aptos"/>
            </a:endParaRPr>
          </a:p>
          <a:p>
            <a:r>
              <a:rPr sz="1400" dirty="0">
                <a:solidFill>
                  <a:srgbClr val="3A485B"/>
                </a:solidFill>
                <a:latin typeface="Aptos"/>
              </a:rPr>
              <a:t>• Les questions, le doute et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l’erreur</a:t>
            </a:r>
            <a:r>
              <a:rPr sz="1400" dirty="0">
                <a:solidFill>
                  <a:srgbClr val="3A485B"/>
                </a:solidFill>
                <a:latin typeface="Aptos"/>
              </a:rPr>
              <a:t> font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partie</a:t>
            </a:r>
            <a:r>
              <a:rPr sz="1400" dirty="0">
                <a:solidFill>
                  <a:srgbClr val="3A485B"/>
                </a:solidFill>
                <a:latin typeface="Aptos"/>
              </a:rPr>
              <a:t> de </a:t>
            </a:r>
            <a:r>
              <a:rPr sz="1400" dirty="0" err="1">
                <a:solidFill>
                  <a:srgbClr val="3A485B"/>
                </a:solidFill>
                <a:latin typeface="Aptos"/>
              </a:rPr>
              <a:t>l’apprentissage</a:t>
            </a:r>
            <a:r>
              <a:rPr sz="1400" dirty="0">
                <a:solidFill>
                  <a:srgbClr val="3A485B"/>
                </a:solidFill>
                <a:latin typeface="Aptos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974335"/>
            <a:ext cx="10268712" cy="11430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" y="5316429"/>
            <a:ext cx="9829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 err="1">
                <a:solidFill>
                  <a:srgbClr val="143562"/>
                </a:solidFill>
                <a:latin typeface="Aptos Display"/>
              </a:rPr>
              <a:t>Créer</a:t>
            </a:r>
            <a:r>
              <a:rPr sz="2000" b="1" dirty="0">
                <a:solidFill>
                  <a:srgbClr val="143562"/>
                </a:solidFill>
                <a:latin typeface="Aptos Display"/>
              </a:rPr>
              <a:t> un </a:t>
            </a:r>
            <a:r>
              <a:rPr sz="2000" b="1" dirty="0" err="1">
                <a:solidFill>
                  <a:srgbClr val="143562"/>
                </a:solidFill>
                <a:latin typeface="Aptos Display"/>
              </a:rPr>
              <a:t>espace</a:t>
            </a:r>
            <a:r>
              <a:rPr sz="2000" b="1" dirty="0">
                <a:solidFill>
                  <a:srgbClr val="143562"/>
                </a:solidFill>
                <a:latin typeface="Aptos Display"/>
              </a:rPr>
              <a:t> </a:t>
            </a:r>
            <a:r>
              <a:rPr sz="2000" b="1" dirty="0" err="1">
                <a:solidFill>
                  <a:srgbClr val="143562"/>
                </a:solidFill>
                <a:latin typeface="Aptos Display"/>
              </a:rPr>
              <a:t>où</a:t>
            </a:r>
            <a:r>
              <a:rPr sz="2000" b="1" dirty="0">
                <a:solidFill>
                  <a:srgbClr val="143562"/>
                </a:solidFill>
                <a:latin typeface="Aptos Display"/>
              </a:rPr>
              <a:t> chacun se sent libre de </a:t>
            </a:r>
            <a:r>
              <a:rPr sz="2000" b="1" dirty="0" err="1">
                <a:solidFill>
                  <a:srgbClr val="143562"/>
                </a:solidFill>
                <a:latin typeface="Aptos Display"/>
              </a:rPr>
              <a:t>contribuer</a:t>
            </a:r>
            <a:r>
              <a:rPr sz="2000" b="1" dirty="0">
                <a:solidFill>
                  <a:srgbClr val="143562"/>
                </a:solidFill>
                <a:latin typeface="Aptos Display"/>
              </a:rPr>
              <a:t>, </a:t>
            </a:r>
            <a:r>
              <a:rPr sz="2000" b="1" dirty="0" err="1">
                <a:solidFill>
                  <a:srgbClr val="143562"/>
                </a:solidFill>
                <a:latin typeface="Aptos Display"/>
              </a:rPr>
              <a:t>questionner</a:t>
            </a:r>
            <a:r>
              <a:rPr sz="2000" b="1" dirty="0">
                <a:solidFill>
                  <a:srgbClr val="143562"/>
                </a:solidFill>
                <a:latin typeface="Aptos Display"/>
              </a:rPr>
              <a:t>, </a:t>
            </a:r>
            <a:r>
              <a:rPr sz="2000" b="1" dirty="0" err="1">
                <a:solidFill>
                  <a:srgbClr val="143562"/>
                </a:solidFill>
                <a:latin typeface="Aptos Display"/>
              </a:rPr>
              <a:t>débattre</a:t>
            </a:r>
            <a:r>
              <a:rPr sz="2000" b="1" dirty="0">
                <a:solidFill>
                  <a:srgbClr val="143562"/>
                </a:solidFill>
                <a:latin typeface="Aptos Display"/>
              </a:rPr>
              <a:t> et </a:t>
            </a:r>
            <a:r>
              <a:rPr sz="2000" b="1" dirty="0" err="1">
                <a:solidFill>
                  <a:srgbClr val="143562"/>
                </a:solidFill>
                <a:latin typeface="Aptos Display"/>
              </a:rPr>
              <a:t>apprendre</a:t>
            </a:r>
            <a:endParaRPr sz="2000" b="1" dirty="0">
              <a:solidFill>
                <a:srgbClr val="143562"/>
              </a:solidFill>
              <a:latin typeface="Aptos Display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58485" y="6366913"/>
            <a:ext cx="70902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4991AB"/>
                </a:solidFill>
                <a:latin typeface="Aptos"/>
              </a:rPr>
              <a:t>Rigueur  •  Curiosité  •  Respect  •  Diversité  •  Bienveillance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3090" y="5765626"/>
            <a:ext cx="957191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8A3B46"/>
                </a:solidFill>
                <a:latin typeface="Aptos"/>
              </a:rPr>
              <a:t>Les </a:t>
            </a:r>
            <a:r>
              <a:rPr sz="1600" b="1" dirty="0" err="1">
                <a:solidFill>
                  <a:srgbClr val="8A3B46"/>
                </a:solidFill>
                <a:latin typeface="Aptos"/>
              </a:rPr>
              <a:t>comportements</a:t>
            </a:r>
            <a:r>
              <a:rPr sz="1600" b="1" dirty="0">
                <a:solidFill>
                  <a:srgbClr val="8A3B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8A3B46"/>
                </a:solidFill>
                <a:latin typeface="Aptos"/>
              </a:rPr>
              <a:t>inappropriés</a:t>
            </a:r>
            <a:r>
              <a:rPr sz="1600" b="1" dirty="0">
                <a:solidFill>
                  <a:srgbClr val="8A3B46"/>
                </a:solidFill>
                <a:latin typeface="Aptos"/>
              </a:rPr>
              <a:t>, </a:t>
            </a:r>
            <a:r>
              <a:rPr sz="1600" b="1" dirty="0" err="1">
                <a:solidFill>
                  <a:srgbClr val="8A3B46"/>
                </a:solidFill>
                <a:latin typeface="Aptos"/>
              </a:rPr>
              <a:t>discriminatoires</a:t>
            </a:r>
            <a:r>
              <a:rPr sz="1600" b="1" dirty="0">
                <a:solidFill>
                  <a:srgbClr val="8A3B46"/>
                </a:solidFill>
                <a:latin typeface="Aptos"/>
              </a:rPr>
              <a:t>, </a:t>
            </a:r>
            <a:r>
              <a:rPr sz="1600" b="1" dirty="0" err="1">
                <a:solidFill>
                  <a:srgbClr val="8A3B46"/>
                </a:solidFill>
                <a:latin typeface="Aptos"/>
              </a:rPr>
              <a:t>intimidants</a:t>
            </a:r>
            <a:r>
              <a:rPr sz="1600" b="1" dirty="0">
                <a:solidFill>
                  <a:srgbClr val="8A3B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8A3B46"/>
                </a:solidFill>
                <a:latin typeface="Aptos"/>
              </a:rPr>
              <a:t>ou</a:t>
            </a:r>
            <a:r>
              <a:rPr sz="1600" b="1" dirty="0">
                <a:solidFill>
                  <a:srgbClr val="8A3B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8A3B46"/>
                </a:solidFill>
                <a:latin typeface="Aptos"/>
              </a:rPr>
              <a:t>irrespectueux</a:t>
            </a:r>
            <a:r>
              <a:rPr sz="1600" b="1" dirty="0">
                <a:solidFill>
                  <a:srgbClr val="8A3B46"/>
                </a:solidFill>
                <a:latin typeface="Aptos"/>
              </a:rPr>
              <a:t> ne </a:t>
            </a:r>
            <a:r>
              <a:rPr sz="1600" b="1" dirty="0" err="1">
                <a:solidFill>
                  <a:srgbClr val="8A3B46"/>
                </a:solidFill>
                <a:latin typeface="Aptos"/>
              </a:rPr>
              <a:t>seront</a:t>
            </a:r>
            <a:r>
              <a:rPr sz="1600" b="1" dirty="0">
                <a:solidFill>
                  <a:srgbClr val="8A3B46"/>
                </a:solidFill>
                <a:latin typeface="Aptos"/>
              </a:rPr>
              <a:t> pas </a:t>
            </a:r>
            <a:r>
              <a:rPr sz="1600" b="1" dirty="0" err="1">
                <a:solidFill>
                  <a:srgbClr val="8A3B46"/>
                </a:solidFill>
                <a:latin typeface="Aptos"/>
              </a:rPr>
              <a:t>tolérés</a:t>
            </a:r>
            <a:endParaRPr sz="1600" b="1" dirty="0">
              <a:solidFill>
                <a:srgbClr val="8A3B46"/>
              </a:solidFill>
              <a:latin typeface="Aptos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AF8C353-5B61-8E96-256A-58074B5CB9F4}"/>
              </a:ext>
            </a:extLst>
          </p:cNvPr>
          <p:cNvSpPr txBox="1"/>
          <p:nvPr/>
        </p:nvSpPr>
        <p:spPr>
          <a:xfrm>
            <a:off x="0" y="5023281"/>
            <a:ext cx="1219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rgbClr val="42875B"/>
                </a:solidFill>
                <a:latin typeface="Aptos"/>
              </a:rPr>
              <a:t>NOTRE RESPONSABILITÉ COLLECTIVE</a:t>
            </a:r>
          </a:p>
        </p:txBody>
      </p:sp>
      <p:sp>
        <p:nvSpPr>
          <p:cNvPr id="32" name="TextBox 28">
            <a:extLst>
              <a:ext uri="{FF2B5EF4-FFF2-40B4-BE49-F238E27FC236}">
                <a16:creationId xmlns:a16="http://schemas.microsoft.com/office/drawing/2014/main" id="{52E52EDB-1A3C-6D50-06B1-ED2AF40E73C3}"/>
              </a:ext>
            </a:extLst>
          </p:cNvPr>
          <p:cNvSpPr txBox="1"/>
          <p:nvPr/>
        </p:nvSpPr>
        <p:spPr>
          <a:xfrm>
            <a:off x="8736166" y="655273"/>
            <a:ext cx="2148840" cy="438912"/>
          </a:xfrm>
          <a:prstGeom prst="rect">
            <a:avLst/>
          </a:prstGeom>
          <a:solidFill>
            <a:srgbClr val="2C9099"/>
          </a:solidFill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TOUTES &amp; TOUS RESPONSABLES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99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56032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4991AB"/>
                </a:solidFill>
                <a:latin typeface="Aptos"/>
              </a:rPr>
              <a:t>THEMATIC SCHOOL #2 · RFMF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91472" y="228600"/>
            <a:ext cx="2084831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2296" rIns="82296" bIns="18288" rtlCol="0" anchor="ctr"/>
          <a:lstStyle/>
          <a:p>
            <a:pPr algn="ctr"/>
            <a:r>
              <a:rPr sz="900" b="1">
                <a:solidFill>
                  <a:srgbClr val="143562"/>
                </a:solidFill>
                <a:latin typeface="Aptos"/>
              </a:rPr>
              <a:t>AUSSOIS · 5–9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562"/>
                </a:solidFill>
                <a:latin typeface="Aptos Display"/>
              </a:rPr>
              <a:t>Promote a positive scientific environment for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6187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A485B"/>
                </a:solidFill>
                <a:latin typeface="Aptos"/>
              </a:rPr>
              <a:t>A few shared principles for how we want to work, discuss and learn together this week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84448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3584448" cy="512064"/>
          </a:xfrm>
          <a:prstGeom prst="roundRect">
            <a:avLst/>
          </a:prstGeom>
          <a:solidFill>
            <a:srgbClr val="499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2139696"/>
            <a:ext cx="3584448" cy="256032"/>
          </a:xfrm>
          <a:prstGeom prst="rect">
            <a:avLst/>
          </a:prstGeom>
          <a:solidFill>
            <a:srgbClr val="499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2" y="1975103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4991A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1965960"/>
            <a:ext cx="280720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RESPECT EVERY 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7"/>
            <a:ext cx="2999232" cy="2130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80">
                <a:solidFill>
                  <a:srgbClr val="3A485B"/>
                </a:solidFill>
                <a:latin typeface="Aptos"/>
              </a:rPr>
              <a:t>• One person at a time: let others finish and avoid side conversations.</a:t>
            </a:r>
          </a:p>
          <a:p>
            <a:pPr>
              <a:spcAft>
                <a:spcPts val="800"/>
              </a:spcAft>
            </a:pPr>
            <a:r>
              <a:rPr sz="1280">
                <a:solidFill>
                  <a:srgbClr val="3A485B"/>
                </a:solidFill>
                <a:latin typeface="Aptos"/>
              </a:rPr>
              <a:t>• Make room for everyone to contribute — including quieter voices.</a:t>
            </a:r>
          </a:p>
          <a:p>
            <a:pPr>
              <a:spcAft>
                <a:spcPts val="800"/>
              </a:spcAft>
            </a:pPr>
            <a:r>
              <a:rPr sz="1280">
                <a:solidFill>
                  <a:srgbClr val="3A485B"/>
                </a:solidFill>
                <a:latin typeface="Aptos"/>
              </a:rPr>
              <a:t>• Value diversity of backgrounds, perspectives, disciplines and levels of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874519"/>
            <a:ext cx="3584448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06824" y="1874519"/>
            <a:ext cx="3584448" cy="512064"/>
          </a:xfrm>
          <a:prstGeom prst="roundRect">
            <a:avLst/>
          </a:prstGeom>
          <a:solidFill>
            <a:srgbClr val="67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06824" y="2139696"/>
            <a:ext cx="3584448" cy="256032"/>
          </a:xfrm>
          <a:prstGeom prst="rect">
            <a:avLst/>
          </a:prstGeom>
          <a:solidFill>
            <a:srgbClr val="67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89704" y="1975103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74E9B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1965960"/>
            <a:ext cx="280720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LISTEN ACTIVELY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532887"/>
            <a:ext cx="2999232" cy="2130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80">
                <a:solidFill>
                  <a:srgbClr val="3A485B"/>
                </a:solidFill>
                <a:latin typeface="Aptos"/>
              </a:rPr>
              <a:t>• Be fully present and listen to understand, not simply to reply.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80">
                <a:solidFill>
                  <a:srgbClr val="3A485B"/>
                </a:solidFill>
                <a:latin typeface="Aptos"/>
              </a:rPr>
              <a:t>• Ask clarifying questions before challenging or correcting.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80">
                <a:solidFill>
                  <a:srgbClr val="3A485B"/>
                </a:solidFill>
                <a:latin typeface="Aptos"/>
              </a:rPr>
              <a:t>• Stay curious when a viewpoint differs from your 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1874519"/>
            <a:ext cx="3584448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91856" y="1874519"/>
            <a:ext cx="3584448" cy="512064"/>
          </a:xfrm>
          <a:prstGeom prst="roundRect">
            <a:avLst/>
          </a:prstGeom>
          <a:solidFill>
            <a:srgbClr val="CF7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91856" y="2139696"/>
            <a:ext cx="3584448" cy="256032"/>
          </a:xfrm>
          <a:prstGeom prst="rect">
            <a:avLst/>
          </a:prstGeom>
          <a:solidFill>
            <a:srgbClr val="CF7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174736" y="1975103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CF7840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1965960"/>
            <a:ext cx="280720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BE KIND &amp; CONSTRUCTIVE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532887"/>
            <a:ext cx="2999232" cy="2130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80">
                <a:solidFill>
                  <a:srgbClr val="3A485B"/>
                </a:solidFill>
                <a:latin typeface="Aptos"/>
              </a:rPr>
              <a:t>• Challenge ideas, never people. Disagreement can be rigorous and respectful.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80">
                <a:solidFill>
                  <a:srgbClr val="3A485B"/>
                </a:solidFill>
                <a:latin typeface="Aptos"/>
              </a:rPr>
              <a:t>• Use evidence, curiosity and generosity in scientific discussion.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80">
                <a:solidFill>
                  <a:srgbClr val="3A485B"/>
                </a:solidFill>
                <a:latin typeface="Aptos"/>
              </a:rPr>
              <a:t>• Questions, uncertainty and mistakes are part of learning.</a:t>
            </a:r>
          </a:p>
        </p:txBody>
      </p:sp>
      <p:pic>
        <p:nvPicPr>
          <p:cNvPr id="25" name="Picture 24" descr="mountain_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1184"/>
            <a:ext cx="12192000" cy="195681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60120" y="5093208"/>
            <a:ext cx="1026871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" y="5276088"/>
            <a:ext cx="9829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42875B"/>
                </a:solidFill>
                <a:latin typeface="Aptos"/>
              </a:rPr>
              <a:t>OUR SHARED RESPONSIBILITY</a:t>
            </a:r>
          </a:p>
          <a:p>
            <a:pPr algn="ctr">
              <a:spcBef>
                <a:spcPts val="200"/>
              </a:spcBef>
            </a:pPr>
            <a:r>
              <a:rPr sz="1700" b="1">
                <a:solidFill>
                  <a:srgbClr val="143562"/>
                </a:solidFill>
                <a:latin typeface="Aptos Display"/>
              </a:rPr>
              <a:t>Create a space where everyone feels able to contribute, question, disagree and learn.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272784"/>
            <a:ext cx="3886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4991AB"/>
                </a:solidFill>
                <a:latin typeface="Aptos"/>
              </a:rPr>
              <a:t>Rigour  •  Curiosity  •  Respect  •  Diversity  •  Generosity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1073" y="5746423"/>
            <a:ext cx="5115952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 dirty="0">
                <a:solidFill>
                  <a:srgbClr val="8A3B46"/>
                </a:solidFill>
                <a:latin typeface="Aptos"/>
              </a:rPr>
              <a:t>Inappropriate behavior will not be tolerated.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A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FAB63D1B-5B39-6355-CE50-21764DB24BB4}"/>
              </a:ext>
            </a:extLst>
          </p:cNvPr>
          <p:cNvGrpSpPr/>
          <p:nvPr/>
        </p:nvGrpSpPr>
        <p:grpSpPr>
          <a:xfrm>
            <a:off x="8430768" y="4023360"/>
            <a:ext cx="3584448" cy="950976"/>
            <a:chOff x="8430768" y="4023360"/>
            <a:chExt cx="3584448" cy="950976"/>
          </a:xfrm>
        </p:grpSpPr>
        <p:sp>
          <p:nvSpPr>
            <p:cNvPr id="42" name="Shape 40"/>
            <p:cNvSpPr/>
            <p:nvPr/>
          </p:nvSpPr>
          <p:spPr>
            <a:xfrm>
              <a:off x="8430768" y="4023360"/>
              <a:ext cx="3584448" cy="950976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5240">
              <a:solidFill>
                <a:srgbClr val="DCE4E7"/>
              </a:solidFill>
              <a:prstDash val="solid"/>
            </a:ln>
            <a:effectLst>
              <a:outerShdw blurRad="12700" dist="50800" dir="2700000" algn="bl" rotWithShape="0">
                <a:srgbClr val="C8D0D4">
                  <a:alpha val="18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Shape 41"/>
            <p:cNvSpPr/>
            <p:nvPr/>
          </p:nvSpPr>
          <p:spPr>
            <a:xfrm>
              <a:off x="8586216" y="4197096"/>
              <a:ext cx="585216" cy="585216"/>
            </a:xfrm>
            <a:prstGeom prst="ellipse">
              <a:avLst/>
            </a:prstGeom>
            <a:solidFill>
              <a:srgbClr val="5AA897"/>
            </a:solidFill>
            <a:ln w="12700">
              <a:solidFill>
                <a:srgbClr val="5AA897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Text 42"/>
            <p:cNvSpPr/>
            <p:nvPr/>
          </p:nvSpPr>
          <p:spPr>
            <a:xfrm>
              <a:off x="8586216" y="4297680"/>
              <a:ext cx="5852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3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</a:t>
              </a:r>
              <a:endParaRPr lang="en-US" sz="113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9326880" y="4224528"/>
              <a:ext cx="252374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Pierre Audoin</a:t>
              </a:r>
              <a:endParaRPr lang="en-US" sz="145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9326880" y="4636008"/>
              <a:ext cx="530352" cy="0"/>
            </a:xfrm>
            <a:prstGeom prst="line">
              <a:avLst/>
            </a:prstGeom>
            <a:noFill/>
            <a:ln w="12700">
              <a:solidFill>
                <a:srgbClr val="B8C5C9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65" name="Image 64" descr="pierre_audoin.png">
              <a:extLst>
                <a:ext uri="{FF2B5EF4-FFF2-40B4-BE49-F238E27FC236}">
                  <a16:creationId xmlns:a16="http://schemas.microsoft.com/office/drawing/2014/main" id="{A060F5A5-D7D0-A9FB-CAA5-299FCEB38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86216" y="4197095"/>
              <a:ext cx="593585" cy="620635"/>
            </a:xfrm>
            <a:prstGeom prst="ellipse">
              <a:avLst/>
            </a:prstGeom>
          </p:spPr>
        </p:pic>
      </p:grp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EABB633C-8DD7-A2ED-2E44-3860CE5E293B}"/>
              </a:ext>
            </a:extLst>
          </p:cNvPr>
          <p:cNvGrpSpPr/>
          <p:nvPr/>
        </p:nvGrpSpPr>
        <p:grpSpPr>
          <a:xfrm>
            <a:off x="713232" y="2834640"/>
            <a:ext cx="3584448" cy="950976"/>
            <a:chOff x="713232" y="2834640"/>
            <a:chExt cx="3584448" cy="950976"/>
          </a:xfrm>
        </p:grpSpPr>
        <p:sp>
          <p:nvSpPr>
            <p:cNvPr id="17" name="Shape 15"/>
            <p:cNvSpPr/>
            <p:nvPr/>
          </p:nvSpPr>
          <p:spPr>
            <a:xfrm>
              <a:off x="713232" y="2834640"/>
              <a:ext cx="3584448" cy="950976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5240">
              <a:solidFill>
                <a:srgbClr val="DCE4E7"/>
              </a:solidFill>
              <a:prstDash val="solid"/>
            </a:ln>
            <a:effectLst>
              <a:outerShdw blurRad="12700" dist="50800" dir="2700000" algn="bl" rotWithShape="0">
                <a:srgbClr val="C8D0D4">
                  <a:alpha val="18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Shape 16"/>
            <p:cNvSpPr/>
            <p:nvPr/>
          </p:nvSpPr>
          <p:spPr>
            <a:xfrm>
              <a:off x="868680" y="3008376"/>
              <a:ext cx="585216" cy="585216"/>
            </a:xfrm>
            <a:prstGeom prst="ellipse">
              <a:avLst/>
            </a:prstGeom>
            <a:solidFill>
              <a:srgbClr val="214E5A"/>
            </a:solidFill>
            <a:ln w="12700">
              <a:solidFill>
                <a:srgbClr val="214E5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 17"/>
            <p:cNvSpPr/>
            <p:nvPr/>
          </p:nvSpPr>
          <p:spPr>
            <a:xfrm>
              <a:off x="868680" y="3108960"/>
              <a:ext cx="5852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3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VCL</a:t>
              </a:r>
              <a:endParaRPr lang="en-US" sz="113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609344" y="3035808"/>
              <a:ext cx="252374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Vincent Charron-Lamoureux</a:t>
              </a:r>
              <a:endParaRPr lang="en-US" sz="14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1609344" y="3447288"/>
              <a:ext cx="530352" cy="0"/>
            </a:xfrm>
            <a:prstGeom prst="line">
              <a:avLst/>
            </a:prstGeom>
            <a:noFill/>
            <a:ln w="12700">
              <a:solidFill>
                <a:srgbClr val="B8C5C9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67" name="Image 66" descr="VincentCharronLamoureux.png">
              <a:extLst>
                <a:ext uri="{FF2B5EF4-FFF2-40B4-BE49-F238E27FC236}">
                  <a16:creationId xmlns:a16="http://schemas.microsoft.com/office/drawing/2014/main" id="{F9AB90A9-906C-B317-FC1B-167D02F05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631" r="14542" b="11650"/>
            <a:stretch>
              <a:fillRect/>
            </a:stretch>
          </p:blipFill>
          <p:spPr>
            <a:xfrm>
              <a:off x="861504" y="3010010"/>
              <a:ext cx="602588" cy="584151"/>
            </a:xfrm>
            <a:prstGeom prst="ellipse">
              <a:avLst/>
            </a:prstGeom>
          </p:spPr>
        </p:pic>
      </p:grp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5D32FCFD-DEC0-B238-7A7D-2C79DDEF8015}"/>
              </a:ext>
            </a:extLst>
          </p:cNvPr>
          <p:cNvGrpSpPr/>
          <p:nvPr/>
        </p:nvGrpSpPr>
        <p:grpSpPr>
          <a:xfrm>
            <a:off x="8430768" y="1645920"/>
            <a:ext cx="3584448" cy="950976"/>
            <a:chOff x="8430768" y="1645920"/>
            <a:chExt cx="3584448" cy="950976"/>
          </a:xfrm>
        </p:grpSpPr>
        <p:sp>
          <p:nvSpPr>
            <p:cNvPr id="12" name="Shape 10"/>
            <p:cNvSpPr/>
            <p:nvPr/>
          </p:nvSpPr>
          <p:spPr>
            <a:xfrm>
              <a:off x="8430768" y="1645920"/>
              <a:ext cx="3584448" cy="950976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5240">
              <a:solidFill>
                <a:srgbClr val="DCE4E7"/>
              </a:solidFill>
              <a:prstDash val="solid"/>
            </a:ln>
            <a:effectLst>
              <a:outerShdw blurRad="12700" dist="50800" dir="2700000" algn="bl" rotWithShape="0">
                <a:srgbClr val="C8D0D4">
                  <a:alpha val="18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Shape 11"/>
            <p:cNvSpPr/>
            <p:nvPr/>
          </p:nvSpPr>
          <p:spPr>
            <a:xfrm>
              <a:off x="8586216" y="1819656"/>
              <a:ext cx="585216" cy="585216"/>
            </a:xfrm>
            <a:prstGeom prst="ellipse">
              <a:avLst/>
            </a:prstGeom>
            <a:solidFill>
              <a:srgbClr val="5AA897"/>
            </a:solidFill>
            <a:ln w="12700">
              <a:solidFill>
                <a:srgbClr val="5AA897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 12"/>
            <p:cNvSpPr/>
            <p:nvPr/>
          </p:nvSpPr>
          <p:spPr>
            <a:xfrm>
              <a:off x="8586216" y="1920240"/>
              <a:ext cx="5852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3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FF</a:t>
              </a:r>
              <a:endParaRPr lang="en-US" sz="113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9326880" y="1847088"/>
              <a:ext cx="252374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Florence Fauvelle</a:t>
              </a:r>
              <a:endParaRPr lang="en-US" sz="14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9326880" y="2258568"/>
              <a:ext cx="530352" cy="0"/>
            </a:xfrm>
            <a:prstGeom prst="line">
              <a:avLst/>
            </a:prstGeom>
            <a:noFill/>
            <a:ln w="12700">
              <a:solidFill>
                <a:srgbClr val="B8C5C9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69" name="Image 68" descr="florence_fauvelle.jpg">
              <a:extLst>
                <a:ext uri="{FF2B5EF4-FFF2-40B4-BE49-F238E27FC236}">
                  <a16:creationId xmlns:a16="http://schemas.microsoft.com/office/drawing/2014/main" id="{A763B03F-C6FB-5389-6901-A073018C0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1645" t="13453" r="11519" b="16947"/>
            <a:stretch>
              <a:fillRect/>
            </a:stretch>
          </p:blipFill>
          <p:spPr>
            <a:xfrm>
              <a:off x="8586216" y="1804262"/>
              <a:ext cx="587865" cy="612181"/>
            </a:xfrm>
            <a:prstGeom prst="ellipse">
              <a:avLst/>
            </a:prstGeom>
          </p:spPr>
        </p:pic>
      </p:grpSp>
      <p:grpSp>
        <p:nvGrpSpPr>
          <p:cNvPr id="82" name="Groupe 81">
            <a:extLst>
              <a:ext uri="{FF2B5EF4-FFF2-40B4-BE49-F238E27FC236}">
                <a16:creationId xmlns:a16="http://schemas.microsoft.com/office/drawing/2014/main" id="{590FD37A-76BA-6A27-F3EC-E60738430C20}"/>
              </a:ext>
            </a:extLst>
          </p:cNvPr>
          <p:cNvGrpSpPr/>
          <p:nvPr/>
        </p:nvGrpSpPr>
        <p:grpSpPr>
          <a:xfrm>
            <a:off x="4572000" y="1645920"/>
            <a:ext cx="3584448" cy="950976"/>
            <a:chOff x="4572000" y="1645920"/>
            <a:chExt cx="3584448" cy="950976"/>
          </a:xfrm>
        </p:grpSpPr>
        <p:sp>
          <p:nvSpPr>
            <p:cNvPr id="7" name="Shape 5"/>
            <p:cNvSpPr/>
            <p:nvPr/>
          </p:nvSpPr>
          <p:spPr>
            <a:xfrm>
              <a:off x="4572000" y="1645920"/>
              <a:ext cx="3584448" cy="950976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5240">
              <a:solidFill>
                <a:srgbClr val="DCE4E7"/>
              </a:solidFill>
              <a:prstDash val="solid"/>
            </a:ln>
            <a:effectLst>
              <a:outerShdw blurRad="12700" dist="50800" dir="2700000" algn="bl" rotWithShape="0">
                <a:srgbClr val="C8D0D4">
                  <a:alpha val="18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6"/>
            <p:cNvSpPr/>
            <p:nvPr/>
          </p:nvSpPr>
          <p:spPr>
            <a:xfrm>
              <a:off x="4727448" y="1819656"/>
              <a:ext cx="585216" cy="585216"/>
            </a:xfrm>
            <a:prstGeom prst="ellipse">
              <a:avLst/>
            </a:prstGeom>
            <a:solidFill>
              <a:srgbClr val="214E5A"/>
            </a:solidFill>
            <a:ln w="12700">
              <a:solidFill>
                <a:srgbClr val="214E5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 7"/>
            <p:cNvSpPr/>
            <p:nvPr/>
          </p:nvSpPr>
          <p:spPr>
            <a:xfrm>
              <a:off x="4727448" y="1920240"/>
              <a:ext cx="5852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3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VGR</a:t>
              </a:r>
              <a:endParaRPr lang="en-US" sz="113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468112" y="1847088"/>
              <a:ext cx="252374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Victor González-Ruiz</a:t>
              </a:r>
              <a:endParaRPr lang="en-US" sz="14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468112" y="2258568"/>
              <a:ext cx="530352" cy="0"/>
            </a:xfrm>
            <a:prstGeom prst="line">
              <a:avLst/>
            </a:prstGeom>
            <a:noFill/>
            <a:ln w="12700">
              <a:solidFill>
                <a:srgbClr val="B8C5C9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70" name="Image 69" descr="VGR_portrait_2.png">
              <a:extLst>
                <a:ext uri="{FF2B5EF4-FFF2-40B4-BE49-F238E27FC236}">
                  <a16:creationId xmlns:a16="http://schemas.microsoft.com/office/drawing/2014/main" id="{7C3AFF6E-5285-97AF-3604-51F9AA418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27448" y="1816315"/>
              <a:ext cx="585216" cy="585216"/>
            </a:xfrm>
            <a:prstGeom prst="ellipse">
              <a:avLst/>
            </a:prstGeom>
          </p:spPr>
        </p:pic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AFDD9AED-87B3-DFEB-22C6-121D7A3EB518}"/>
              </a:ext>
            </a:extLst>
          </p:cNvPr>
          <p:cNvGrpSpPr/>
          <p:nvPr/>
        </p:nvGrpSpPr>
        <p:grpSpPr>
          <a:xfrm>
            <a:off x="4572000" y="2834640"/>
            <a:ext cx="3584448" cy="950976"/>
            <a:chOff x="4572000" y="2834640"/>
            <a:chExt cx="3584448" cy="950976"/>
          </a:xfrm>
        </p:grpSpPr>
        <p:sp>
          <p:nvSpPr>
            <p:cNvPr id="22" name="Shape 20"/>
            <p:cNvSpPr/>
            <p:nvPr/>
          </p:nvSpPr>
          <p:spPr>
            <a:xfrm>
              <a:off x="4572000" y="2834640"/>
              <a:ext cx="3584448" cy="950976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5240">
              <a:solidFill>
                <a:srgbClr val="DCE4E7"/>
              </a:solidFill>
              <a:prstDash val="solid"/>
            </a:ln>
            <a:effectLst>
              <a:outerShdw blurRad="12700" dist="50800" dir="2700000" algn="bl" rotWithShape="0">
                <a:srgbClr val="C8D0D4">
                  <a:alpha val="18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Shape 21"/>
            <p:cNvSpPr/>
            <p:nvPr/>
          </p:nvSpPr>
          <p:spPr>
            <a:xfrm>
              <a:off x="4727448" y="3008376"/>
              <a:ext cx="585216" cy="585216"/>
            </a:xfrm>
            <a:prstGeom prst="ellipse">
              <a:avLst/>
            </a:prstGeom>
            <a:solidFill>
              <a:srgbClr val="5AA897"/>
            </a:solidFill>
            <a:ln w="12700">
              <a:solidFill>
                <a:srgbClr val="5AA897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 22"/>
            <p:cNvSpPr/>
            <p:nvPr/>
          </p:nvSpPr>
          <p:spPr>
            <a:xfrm>
              <a:off x="4727448" y="3108960"/>
              <a:ext cx="5852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3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CG</a:t>
              </a:r>
              <a:endParaRPr lang="en-US" sz="113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468112" y="3035808"/>
              <a:ext cx="252374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Corentine Goossens</a:t>
              </a:r>
              <a:endParaRPr lang="en-US" sz="145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468112" y="3447288"/>
              <a:ext cx="530352" cy="0"/>
            </a:xfrm>
            <a:prstGeom prst="line">
              <a:avLst/>
            </a:prstGeom>
            <a:noFill/>
            <a:ln w="12700">
              <a:solidFill>
                <a:srgbClr val="B8C5C9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71" name="Image 70" descr="Corentine.png">
              <a:extLst>
                <a:ext uri="{FF2B5EF4-FFF2-40B4-BE49-F238E27FC236}">
                  <a16:creationId xmlns:a16="http://schemas.microsoft.com/office/drawing/2014/main" id="{8392A609-B2B2-4C94-631A-7CA9C8496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7548" t="8418" b="8011"/>
            <a:stretch>
              <a:fillRect/>
            </a:stretch>
          </p:blipFill>
          <p:spPr>
            <a:xfrm>
              <a:off x="4722324" y="3008375"/>
              <a:ext cx="600219" cy="608367"/>
            </a:xfrm>
            <a:prstGeom prst="ellipse">
              <a:avLst/>
            </a:prstGeom>
          </p:spPr>
        </p:pic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D94BD9C6-EEE6-D0A1-AD58-BBBF79D50F0B}"/>
              </a:ext>
            </a:extLst>
          </p:cNvPr>
          <p:cNvGrpSpPr/>
          <p:nvPr/>
        </p:nvGrpSpPr>
        <p:grpSpPr>
          <a:xfrm>
            <a:off x="713232" y="5212080"/>
            <a:ext cx="3584448" cy="950976"/>
            <a:chOff x="713232" y="5212080"/>
            <a:chExt cx="3584448" cy="950976"/>
          </a:xfrm>
        </p:grpSpPr>
        <p:sp>
          <p:nvSpPr>
            <p:cNvPr id="47" name="Shape 45"/>
            <p:cNvSpPr/>
            <p:nvPr/>
          </p:nvSpPr>
          <p:spPr>
            <a:xfrm>
              <a:off x="713232" y="5212080"/>
              <a:ext cx="3584448" cy="950976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5240">
              <a:solidFill>
                <a:srgbClr val="DCE4E7"/>
              </a:solidFill>
              <a:prstDash val="solid"/>
            </a:ln>
            <a:effectLst>
              <a:outerShdw blurRad="12700" dist="50800" dir="2700000" algn="bl" rotWithShape="0">
                <a:srgbClr val="C8D0D4">
                  <a:alpha val="18000"/>
                </a:srgb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868680" y="5385816"/>
              <a:ext cx="585216" cy="585216"/>
            </a:xfrm>
            <a:prstGeom prst="ellipse">
              <a:avLst/>
            </a:prstGeom>
            <a:solidFill>
              <a:srgbClr val="214E5A"/>
            </a:solidFill>
            <a:ln w="12700">
              <a:solidFill>
                <a:srgbClr val="214E5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Text 47"/>
            <p:cNvSpPr/>
            <p:nvPr/>
          </p:nvSpPr>
          <p:spPr>
            <a:xfrm>
              <a:off x="868680" y="5486400"/>
              <a:ext cx="5852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3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GG</a:t>
              </a:r>
              <a:endParaRPr lang="en-US" sz="113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1609344" y="5413248"/>
              <a:ext cx="252374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Guillaume Grzych</a:t>
              </a:r>
              <a:endParaRPr lang="en-US" sz="145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1609344" y="5824728"/>
              <a:ext cx="530352" cy="0"/>
            </a:xfrm>
            <a:prstGeom prst="line">
              <a:avLst/>
            </a:prstGeom>
            <a:noFill/>
            <a:ln w="12700">
              <a:solidFill>
                <a:srgbClr val="B8C5C9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72" name="Image 71" descr="Guillaume.png">
              <a:extLst>
                <a:ext uri="{FF2B5EF4-FFF2-40B4-BE49-F238E27FC236}">
                  <a16:creationId xmlns:a16="http://schemas.microsoft.com/office/drawing/2014/main" id="{3C2ADB56-1039-33C2-3614-012829332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7548" t="7132" r="12568" b="26010"/>
            <a:stretch>
              <a:fillRect/>
            </a:stretch>
          </p:blipFill>
          <p:spPr>
            <a:xfrm>
              <a:off x="868679" y="5386456"/>
              <a:ext cx="581042" cy="555873"/>
            </a:xfrm>
            <a:prstGeom prst="ellipse">
              <a:avLst/>
            </a:prstGeom>
          </p:spPr>
        </p:pic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EB436732-A3F4-44AB-27AD-EB1AAE03DB4B}"/>
                </a:ext>
              </a:extLst>
            </p:cNvPr>
            <p:cNvSpPr txBox="1"/>
            <p:nvPr/>
          </p:nvSpPr>
          <p:spPr>
            <a:xfrm>
              <a:off x="1531271" y="5627426"/>
              <a:ext cx="5645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>
                  <a:solidFill>
                    <a:schemeClr val="accent3"/>
                  </a:solidFill>
                </a:rPr>
                <a:t>online</a:t>
              </a:r>
            </a:p>
          </p:txBody>
        </p:sp>
      </p:grpSp>
      <p:grpSp>
        <p:nvGrpSpPr>
          <p:cNvPr id="91" name="Groupe 90">
            <a:extLst>
              <a:ext uri="{FF2B5EF4-FFF2-40B4-BE49-F238E27FC236}">
                <a16:creationId xmlns:a16="http://schemas.microsoft.com/office/drawing/2014/main" id="{46516853-3B96-4EA1-0C12-254B2107C662}"/>
              </a:ext>
            </a:extLst>
          </p:cNvPr>
          <p:cNvGrpSpPr/>
          <p:nvPr/>
        </p:nvGrpSpPr>
        <p:grpSpPr>
          <a:xfrm>
            <a:off x="4572000" y="5212080"/>
            <a:ext cx="3584448" cy="950976"/>
            <a:chOff x="4572000" y="5212080"/>
            <a:chExt cx="3584448" cy="950976"/>
          </a:xfrm>
        </p:grpSpPr>
        <p:sp>
          <p:nvSpPr>
            <p:cNvPr id="52" name="Shape 50"/>
            <p:cNvSpPr/>
            <p:nvPr/>
          </p:nvSpPr>
          <p:spPr>
            <a:xfrm>
              <a:off x="4572000" y="5212080"/>
              <a:ext cx="3584448" cy="950976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5240">
              <a:solidFill>
                <a:srgbClr val="DCE4E7"/>
              </a:solidFill>
              <a:prstDash val="solid"/>
            </a:ln>
            <a:effectLst>
              <a:outerShdw blurRad="12700" dist="50800" dir="2700000" algn="bl" rotWithShape="0">
                <a:srgbClr val="C8D0D4">
                  <a:alpha val="18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Shape 51"/>
            <p:cNvSpPr/>
            <p:nvPr/>
          </p:nvSpPr>
          <p:spPr>
            <a:xfrm>
              <a:off x="4727448" y="5385816"/>
              <a:ext cx="585216" cy="585216"/>
            </a:xfrm>
            <a:prstGeom prst="ellipse">
              <a:avLst/>
            </a:prstGeom>
            <a:solidFill>
              <a:srgbClr val="5AA897"/>
            </a:solidFill>
            <a:ln w="12700">
              <a:solidFill>
                <a:srgbClr val="5AA897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Text 52"/>
            <p:cNvSpPr/>
            <p:nvPr/>
          </p:nvSpPr>
          <p:spPr>
            <a:xfrm>
              <a:off x="4727448" y="5486400"/>
              <a:ext cx="5852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3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ML</a:t>
              </a:r>
              <a:endParaRPr lang="en-US" sz="113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5468112" y="5413248"/>
              <a:ext cx="252374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Marine Letertre</a:t>
              </a:r>
              <a:endParaRPr lang="en-US" sz="145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5468112" y="5824728"/>
              <a:ext cx="530352" cy="0"/>
            </a:xfrm>
            <a:prstGeom prst="line">
              <a:avLst/>
            </a:prstGeom>
            <a:noFill/>
            <a:ln w="12700">
              <a:solidFill>
                <a:srgbClr val="B8C5C9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74" name="Image 73" descr="Marine.jpeg">
              <a:extLst>
                <a:ext uri="{FF2B5EF4-FFF2-40B4-BE49-F238E27FC236}">
                  <a16:creationId xmlns:a16="http://schemas.microsoft.com/office/drawing/2014/main" id="{D9D5EF65-ED90-A403-D669-B32706AC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r="11754" b="15083"/>
            <a:stretch>
              <a:fillRect/>
            </a:stretch>
          </p:blipFill>
          <p:spPr>
            <a:xfrm>
              <a:off x="4733900" y="5387816"/>
              <a:ext cx="581196" cy="583216"/>
            </a:xfrm>
            <a:prstGeom prst="ellipse">
              <a:avLst/>
            </a:prstGeom>
          </p:spPr>
        </p:pic>
      </p:grp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E4F10AF1-E379-CEA2-CD56-8E807E34D81C}"/>
              </a:ext>
            </a:extLst>
          </p:cNvPr>
          <p:cNvGrpSpPr/>
          <p:nvPr/>
        </p:nvGrpSpPr>
        <p:grpSpPr>
          <a:xfrm>
            <a:off x="713232" y="1645920"/>
            <a:ext cx="3584448" cy="950976"/>
            <a:chOff x="713232" y="1645920"/>
            <a:chExt cx="3584448" cy="950976"/>
          </a:xfrm>
        </p:grpSpPr>
        <p:sp>
          <p:nvSpPr>
            <p:cNvPr id="2" name="Shape 0"/>
            <p:cNvSpPr/>
            <p:nvPr/>
          </p:nvSpPr>
          <p:spPr>
            <a:xfrm>
              <a:off x="713232" y="1645920"/>
              <a:ext cx="3584448" cy="950976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5240">
              <a:solidFill>
                <a:srgbClr val="DCE4E7"/>
              </a:solidFill>
              <a:prstDash val="solid"/>
            </a:ln>
            <a:effectLst>
              <a:outerShdw blurRad="12700" dist="50800" dir="2700000" algn="bl" rotWithShape="0">
                <a:srgbClr val="C8D0D4">
                  <a:alpha val="18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Shape 1"/>
            <p:cNvSpPr/>
            <p:nvPr/>
          </p:nvSpPr>
          <p:spPr>
            <a:xfrm>
              <a:off x="868680" y="1819656"/>
              <a:ext cx="585216" cy="585216"/>
            </a:xfrm>
            <a:prstGeom prst="ellipse">
              <a:avLst/>
            </a:prstGeom>
            <a:solidFill>
              <a:srgbClr val="5AA897"/>
            </a:solidFill>
            <a:ln w="12700">
              <a:solidFill>
                <a:srgbClr val="5AA897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 2"/>
            <p:cNvSpPr/>
            <p:nvPr/>
          </p:nvSpPr>
          <p:spPr>
            <a:xfrm>
              <a:off x="868680" y="1920240"/>
              <a:ext cx="5852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3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AL</a:t>
              </a:r>
              <a:endParaRPr lang="en-US" sz="113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609344" y="1847088"/>
              <a:ext cx="252374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Alice Limonciel</a:t>
              </a:r>
              <a:endParaRPr lang="en-US" sz="145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1609344" y="2258568"/>
              <a:ext cx="530352" cy="0"/>
            </a:xfrm>
            <a:prstGeom prst="line">
              <a:avLst/>
            </a:prstGeom>
            <a:noFill/>
            <a:ln w="12700">
              <a:solidFill>
                <a:srgbClr val="B8C5C9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75" name="Image 74" descr="Alice_Limonciel.jpg">
              <a:extLst>
                <a:ext uri="{FF2B5EF4-FFF2-40B4-BE49-F238E27FC236}">
                  <a16:creationId xmlns:a16="http://schemas.microsoft.com/office/drawing/2014/main" id="{9F6FA48A-D3A6-BD99-5AA2-5A5E79529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61505" y="1804263"/>
              <a:ext cx="597268" cy="597268"/>
            </a:xfrm>
            <a:prstGeom prst="ellipse">
              <a:avLst/>
            </a:prstGeom>
          </p:spPr>
        </p:pic>
      </p:grp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A3D20ED1-1C2F-FB43-63FA-2DA850E474C9}"/>
              </a:ext>
            </a:extLst>
          </p:cNvPr>
          <p:cNvGrpSpPr/>
          <p:nvPr/>
        </p:nvGrpSpPr>
        <p:grpSpPr>
          <a:xfrm>
            <a:off x="8430768" y="2834640"/>
            <a:ext cx="3584448" cy="950976"/>
            <a:chOff x="8430768" y="2834640"/>
            <a:chExt cx="3584448" cy="950976"/>
          </a:xfrm>
        </p:grpSpPr>
        <p:sp>
          <p:nvSpPr>
            <p:cNvPr id="27" name="Shape 25"/>
            <p:cNvSpPr/>
            <p:nvPr/>
          </p:nvSpPr>
          <p:spPr>
            <a:xfrm>
              <a:off x="8430768" y="2834640"/>
              <a:ext cx="3584448" cy="950976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5240">
              <a:solidFill>
                <a:srgbClr val="DCE4E7"/>
              </a:solidFill>
              <a:prstDash val="solid"/>
            </a:ln>
            <a:effectLst>
              <a:outerShdw blurRad="12700" dist="50800" dir="2700000" algn="bl" rotWithShape="0">
                <a:srgbClr val="C8D0D4">
                  <a:alpha val="18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Shape 26"/>
            <p:cNvSpPr/>
            <p:nvPr/>
          </p:nvSpPr>
          <p:spPr>
            <a:xfrm>
              <a:off x="8586216" y="3008376"/>
              <a:ext cx="585216" cy="585216"/>
            </a:xfrm>
            <a:prstGeom prst="ellipse">
              <a:avLst/>
            </a:prstGeom>
            <a:solidFill>
              <a:srgbClr val="214E5A"/>
            </a:solidFill>
            <a:ln w="12700">
              <a:solidFill>
                <a:srgbClr val="214E5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 27"/>
            <p:cNvSpPr/>
            <p:nvPr/>
          </p:nvSpPr>
          <p:spPr>
            <a:xfrm>
              <a:off x="8586216" y="3108960"/>
              <a:ext cx="5852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3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AR</a:t>
              </a:r>
              <a:endParaRPr lang="en-US" sz="113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9326880" y="3035808"/>
              <a:ext cx="252374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Adriano Rutz</a:t>
              </a:r>
              <a:endParaRPr lang="en-US" sz="14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9326880" y="3447288"/>
              <a:ext cx="530352" cy="0"/>
            </a:xfrm>
            <a:prstGeom prst="line">
              <a:avLst/>
            </a:prstGeom>
            <a:noFill/>
            <a:ln w="12700">
              <a:solidFill>
                <a:srgbClr val="B8C5C9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76" name="Image 75" descr="Adriano_Rutz_2.jpg">
              <a:extLst>
                <a:ext uri="{FF2B5EF4-FFF2-40B4-BE49-F238E27FC236}">
                  <a16:creationId xmlns:a16="http://schemas.microsoft.com/office/drawing/2014/main" id="{F3AB2AEB-850F-4FDD-B7EB-841B6166C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88647" y="2993984"/>
              <a:ext cx="585216" cy="618361"/>
            </a:xfrm>
            <a:prstGeom prst="ellipse">
              <a:avLst/>
            </a:prstGeom>
          </p:spPr>
        </p:pic>
      </p:grp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4CCAC90E-066F-7F2A-4B3D-75422F637F5E}"/>
              </a:ext>
            </a:extLst>
          </p:cNvPr>
          <p:cNvGrpSpPr/>
          <p:nvPr/>
        </p:nvGrpSpPr>
        <p:grpSpPr>
          <a:xfrm>
            <a:off x="4572000" y="4023360"/>
            <a:ext cx="3584448" cy="950976"/>
            <a:chOff x="4572000" y="4023360"/>
            <a:chExt cx="3584448" cy="950976"/>
          </a:xfrm>
        </p:grpSpPr>
        <p:sp>
          <p:nvSpPr>
            <p:cNvPr id="37" name="Shape 35"/>
            <p:cNvSpPr/>
            <p:nvPr/>
          </p:nvSpPr>
          <p:spPr>
            <a:xfrm>
              <a:off x="4572000" y="4023360"/>
              <a:ext cx="3584448" cy="950976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5240">
              <a:solidFill>
                <a:srgbClr val="DCE4E7"/>
              </a:solidFill>
              <a:prstDash val="solid"/>
            </a:ln>
            <a:effectLst>
              <a:outerShdw blurRad="12700" dist="50800" dir="2700000" algn="bl" rotWithShape="0">
                <a:srgbClr val="C8D0D4">
                  <a:alpha val="18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Shape 36"/>
            <p:cNvSpPr/>
            <p:nvPr/>
          </p:nvSpPr>
          <p:spPr>
            <a:xfrm>
              <a:off x="4727448" y="4197096"/>
              <a:ext cx="585216" cy="585216"/>
            </a:xfrm>
            <a:prstGeom prst="ellipse">
              <a:avLst/>
            </a:prstGeom>
            <a:solidFill>
              <a:srgbClr val="214E5A"/>
            </a:solidFill>
            <a:ln w="12700">
              <a:solidFill>
                <a:srgbClr val="214E5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Text 37"/>
            <p:cNvSpPr/>
            <p:nvPr/>
          </p:nvSpPr>
          <p:spPr>
            <a:xfrm>
              <a:off x="4727448" y="4297680"/>
              <a:ext cx="5852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3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MW</a:t>
              </a:r>
              <a:endParaRPr lang="en-US" sz="113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468112" y="4224528"/>
              <a:ext cx="252374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Magalie Weber</a:t>
              </a:r>
              <a:endParaRPr lang="en-US" sz="14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5468112" y="4636008"/>
              <a:ext cx="530352" cy="0"/>
            </a:xfrm>
            <a:prstGeom prst="line">
              <a:avLst/>
            </a:prstGeom>
            <a:noFill/>
            <a:ln w="12700">
              <a:solidFill>
                <a:srgbClr val="B8C5C9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77" name="Image 76" descr="Magalie_WEBER_medium_1.jpg">
              <a:extLst>
                <a:ext uri="{FF2B5EF4-FFF2-40B4-BE49-F238E27FC236}">
                  <a16:creationId xmlns:a16="http://schemas.microsoft.com/office/drawing/2014/main" id="{FB25E750-4310-7910-6732-B1C0077A4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r="7469" b="16380"/>
            <a:stretch>
              <a:fillRect/>
            </a:stretch>
          </p:blipFill>
          <p:spPr>
            <a:xfrm>
              <a:off x="4727447" y="4201169"/>
              <a:ext cx="593585" cy="585216"/>
            </a:xfrm>
            <a:prstGeom prst="ellipse">
              <a:avLst/>
            </a:prstGeom>
          </p:spPr>
        </p:pic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61A7C55F-D1FA-1ADD-2232-1EEBD568891C}"/>
              </a:ext>
            </a:extLst>
          </p:cNvPr>
          <p:cNvGrpSpPr/>
          <p:nvPr/>
        </p:nvGrpSpPr>
        <p:grpSpPr>
          <a:xfrm>
            <a:off x="713232" y="4023360"/>
            <a:ext cx="3584448" cy="950976"/>
            <a:chOff x="713232" y="4023360"/>
            <a:chExt cx="3584448" cy="950976"/>
          </a:xfrm>
        </p:grpSpPr>
        <p:sp>
          <p:nvSpPr>
            <p:cNvPr id="32" name="Shape 30"/>
            <p:cNvSpPr/>
            <p:nvPr/>
          </p:nvSpPr>
          <p:spPr>
            <a:xfrm>
              <a:off x="713232" y="4023360"/>
              <a:ext cx="3584448" cy="950976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5240">
              <a:solidFill>
                <a:srgbClr val="DCE4E7"/>
              </a:solidFill>
              <a:prstDash val="solid"/>
            </a:ln>
            <a:effectLst>
              <a:outerShdw blurRad="12700" dist="50800" dir="2700000" algn="bl" rotWithShape="0">
                <a:srgbClr val="C8D0D4">
                  <a:alpha val="18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Shape 31"/>
            <p:cNvSpPr/>
            <p:nvPr/>
          </p:nvSpPr>
          <p:spPr>
            <a:xfrm>
              <a:off x="868680" y="4197096"/>
              <a:ext cx="585216" cy="585216"/>
            </a:xfrm>
            <a:prstGeom prst="ellipse">
              <a:avLst/>
            </a:prstGeom>
            <a:solidFill>
              <a:srgbClr val="5AA897"/>
            </a:solidFill>
            <a:ln w="12700">
              <a:solidFill>
                <a:srgbClr val="5AA897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Text 32"/>
            <p:cNvSpPr/>
            <p:nvPr/>
          </p:nvSpPr>
          <p:spPr>
            <a:xfrm>
              <a:off x="868680" y="4297680"/>
              <a:ext cx="5852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3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PDT</a:t>
              </a:r>
              <a:endParaRPr lang="en-US" sz="113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609344" y="4636008"/>
              <a:ext cx="530352" cy="0"/>
            </a:xfrm>
            <a:prstGeom prst="line">
              <a:avLst/>
            </a:prstGeom>
            <a:noFill/>
            <a:ln w="12700">
              <a:solidFill>
                <a:srgbClr val="B8C5C9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Text 33">
              <a:extLst>
                <a:ext uri="{FF2B5EF4-FFF2-40B4-BE49-F238E27FC236}">
                  <a16:creationId xmlns:a16="http://schemas.microsoft.com/office/drawing/2014/main" id="{F5B20047-700B-7096-8DCD-BC431E73A249}"/>
                </a:ext>
              </a:extLst>
            </p:cNvPr>
            <p:cNvSpPr/>
            <p:nvPr/>
          </p:nvSpPr>
          <p:spPr>
            <a:xfrm>
              <a:off x="1609344" y="4224528"/>
              <a:ext cx="252374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 err="1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Elfried</a:t>
              </a:r>
              <a:r>
                <a:rPr lang="en-US" sz="1450" b="1" dirty="0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450" b="1" dirty="0" err="1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Salanon</a:t>
              </a:r>
              <a:endParaRPr lang="en-US" sz="1450" dirty="0"/>
            </a:p>
          </p:txBody>
        </p:sp>
        <p:pic>
          <p:nvPicPr>
            <p:cNvPr id="79" name="Image 78" descr="elfried_salanon.jpg">
              <a:extLst>
                <a:ext uri="{FF2B5EF4-FFF2-40B4-BE49-F238E27FC236}">
                  <a16:creationId xmlns:a16="http://schemas.microsoft.com/office/drawing/2014/main" id="{819D6089-DCA4-0231-35D2-0F2B4E24C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1200" b="17200"/>
            <a:stretch>
              <a:fillRect/>
            </a:stretch>
          </p:blipFill>
          <p:spPr>
            <a:xfrm>
              <a:off x="868679" y="4212322"/>
              <a:ext cx="590094" cy="550222"/>
            </a:xfrm>
            <a:prstGeom prst="ellipse">
              <a:avLst/>
            </a:prstGeom>
          </p:spPr>
        </p:pic>
      </p:grp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1BB0480B-E15B-BF30-509A-8169D3250B09}"/>
              </a:ext>
            </a:extLst>
          </p:cNvPr>
          <p:cNvGrpSpPr/>
          <p:nvPr/>
        </p:nvGrpSpPr>
        <p:grpSpPr>
          <a:xfrm>
            <a:off x="8430768" y="5212080"/>
            <a:ext cx="3584448" cy="950976"/>
            <a:chOff x="8430768" y="5212080"/>
            <a:chExt cx="3584448" cy="950976"/>
          </a:xfrm>
        </p:grpSpPr>
        <p:sp>
          <p:nvSpPr>
            <p:cNvPr id="57" name="Shape 55"/>
            <p:cNvSpPr/>
            <p:nvPr/>
          </p:nvSpPr>
          <p:spPr>
            <a:xfrm>
              <a:off x="8430768" y="5212080"/>
              <a:ext cx="3584448" cy="950976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5240">
              <a:solidFill>
                <a:srgbClr val="DCE4E7"/>
              </a:solidFill>
              <a:prstDash val="solid"/>
            </a:ln>
            <a:effectLst>
              <a:outerShdw blurRad="12700" dist="50800" dir="2700000" algn="bl" rotWithShape="0">
                <a:srgbClr val="C8D0D4">
                  <a:alpha val="18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Shape 56"/>
            <p:cNvSpPr/>
            <p:nvPr/>
          </p:nvSpPr>
          <p:spPr>
            <a:xfrm>
              <a:off x="8586216" y="5385816"/>
              <a:ext cx="585216" cy="585216"/>
            </a:xfrm>
            <a:prstGeom prst="ellipse">
              <a:avLst/>
            </a:prstGeom>
            <a:solidFill>
              <a:srgbClr val="214E5A"/>
            </a:solidFill>
            <a:ln w="12700">
              <a:solidFill>
                <a:srgbClr val="214E5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Text 57"/>
            <p:cNvSpPr/>
            <p:nvPr/>
          </p:nvSpPr>
          <p:spPr>
            <a:xfrm>
              <a:off x="8586216" y="5486400"/>
              <a:ext cx="5852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3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DT</a:t>
              </a:r>
              <a:endParaRPr lang="en-US" sz="113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9326880" y="5413248"/>
              <a:ext cx="252374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22383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David Touboul</a:t>
              </a:r>
              <a:endParaRPr lang="en-US" sz="145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9326880" y="5751576"/>
              <a:ext cx="10515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970" dirty="0"/>
            </a:p>
          </p:txBody>
        </p:sp>
        <p:sp>
          <p:nvSpPr>
            <p:cNvPr id="64" name="Shape 54">
              <a:extLst>
                <a:ext uri="{FF2B5EF4-FFF2-40B4-BE49-F238E27FC236}">
                  <a16:creationId xmlns:a16="http://schemas.microsoft.com/office/drawing/2014/main" id="{4238C60F-58C2-2182-05AE-8F13A8409D3F}"/>
                </a:ext>
              </a:extLst>
            </p:cNvPr>
            <p:cNvSpPr/>
            <p:nvPr/>
          </p:nvSpPr>
          <p:spPr>
            <a:xfrm>
              <a:off x="9326880" y="5824728"/>
              <a:ext cx="530352" cy="0"/>
            </a:xfrm>
            <a:prstGeom prst="line">
              <a:avLst/>
            </a:prstGeom>
            <a:noFill/>
            <a:ln w="12700">
              <a:solidFill>
                <a:srgbClr val="B8C5C9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80" name="Image 79" descr="David_Touboul.png">
              <a:extLst>
                <a:ext uri="{FF2B5EF4-FFF2-40B4-BE49-F238E27FC236}">
                  <a16:creationId xmlns:a16="http://schemas.microsoft.com/office/drawing/2014/main" id="{EBAA81FE-3949-E155-F993-67274A877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586216" y="5386080"/>
              <a:ext cx="579399" cy="579399"/>
            </a:xfrm>
            <a:prstGeom prst="ellipse">
              <a:avLst/>
            </a:prstGeom>
          </p:spPr>
        </p:pic>
      </p:grpSp>
      <p:sp>
        <p:nvSpPr>
          <p:cNvPr id="95" name="Text 73">
            <a:extLst>
              <a:ext uri="{FF2B5EF4-FFF2-40B4-BE49-F238E27FC236}">
                <a16:creationId xmlns:a16="http://schemas.microsoft.com/office/drawing/2014/main" id="{554F467C-25A8-2A47-787E-2A6B362B2AEC}"/>
              </a:ext>
            </a:extLst>
          </p:cNvPr>
          <p:cNvSpPr/>
          <p:nvPr/>
        </p:nvSpPr>
        <p:spPr>
          <a:xfrm>
            <a:off x="731520" y="64008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E8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RFMF • École Thématique #2 • Aussois • 5–9 octobre 2026</a:t>
            </a:r>
            <a:endParaRPr lang="en-US" sz="880" dirty="0"/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75F8D1E8-D2B9-D212-3F7D-D655D27A2FC1}"/>
              </a:ext>
            </a:extLst>
          </p:cNvPr>
          <p:cNvSpPr txBox="1"/>
          <p:nvPr/>
        </p:nvSpPr>
        <p:spPr>
          <a:xfrm>
            <a:off x="9165615" y="562708"/>
            <a:ext cx="89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MERCI </a:t>
            </a:r>
          </a:p>
        </p:txBody>
      </p:sp>
      <p:pic>
        <p:nvPicPr>
          <p:cNvPr id="97" name="Image 96" descr="Le coeur a ses raisons... Histoire d'amour et un défi!">
            <a:extLst>
              <a:ext uri="{FF2B5EF4-FFF2-40B4-BE49-F238E27FC236}">
                <a16:creationId xmlns:a16="http://schemas.microsoft.com/office/drawing/2014/main" id="{87E2D1D1-FFC4-A3A6-871C-7CDC737BB7A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22992" y="340615"/>
            <a:ext cx="1433227" cy="10744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F3BEC83-F285-71D2-0BCB-3E4F971C2D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175"/>
          <a:stretch>
            <a:fillRect/>
          </a:stretch>
        </p:blipFill>
        <p:spPr>
          <a:xfrm>
            <a:off x="-1" y="362946"/>
            <a:ext cx="12192001" cy="1505244"/>
          </a:xfrm>
          <a:prstGeom prst="rect">
            <a:avLst/>
          </a:prstGeom>
        </p:spPr>
      </p:pic>
      <p:sp>
        <p:nvSpPr>
          <p:cNvPr id="3" name="Text 73">
            <a:extLst>
              <a:ext uri="{FF2B5EF4-FFF2-40B4-BE49-F238E27FC236}">
                <a16:creationId xmlns:a16="http://schemas.microsoft.com/office/drawing/2014/main" id="{086DE470-1532-68FD-65DE-98A8819458D8}"/>
              </a:ext>
            </a:extLst>
          </p:cNvPr>
          <p:cNvSpPr/>
          <p:nvPr/>
        </p:nvSpPr>
        <p:spPr>
          <a:xfrm>
            <a:off x="731520" y="64008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E8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RFMF • École Thématique #2 • Aussois • 5–9 octobre 2026</a:t>
            </a:r>
            <a:endParaRPr lang="en-US" sz="880" dirty="0"/>
          </a:p>
        </p:txBody>
      </p:sp>
      <p:sp>
        <p:nvSpPr>
          <p:cNvPr id="4" name="Slide Number Placeholder 0">
            <a:extLst>
              <a:ext uri="{FF2B5EF4-FFF2-40B4-BE49-F238E27FC236}">
                <a16:creationId xmlns:a16="http://schemas.microsoft.com/office/drawing/2014/main" id="{0A7A2622-4AED-B73F-26E3-6AC5763E39A6}"/>
              </a:ext>
            </a:extLst>
          </p:cNvPr>
          <p:cNvSpPr txBox="1">
            <a:spLocks/>
          </p:cNvSpPr>
          <p:nvPr/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ns3:wrappingTextBoxFlag xmlns="" xmlns:ns3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900" kern="1200">
                <a:solidFill>
                  <a:srgbClr val="9AA5A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5</a:t>
            </a:fld>
            <a:endParaRPr lang="en-US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C5B911D6-20A9-DBEB-2E4B-FE553363A8C9}"/>
              </a:ext>
            </a:extLst>
          </p:cNvPr>
          <p:cNvSpPr/>
          <p:nvPr/>
        </p:nvSpPr>
        <p:spPr>
          <a:xfrm>
            <a:off x="713232" y="1645920"/>
            <a:ext cx="3584448" cy="950976"/>
          </a:xfrm>
          <a:prstGeom prst="roundRect">
            <a:avLst>
              <a:gd name="adj" fmla="val 7692"/>
            </a:avLst>
          </a:prstGeom>
          <a:solidFill>
            <a:srgbClr val="F1FAF7"/>
          </a:solidFill>
          <a:ln w="15240">
            <a:solidFill>
              <a:schemeClr val="bg1">
                <a:lumMod val="85000"/>
              </a:schemeClr>
            </a:solidFill>
            <a:prstDash val="solid"/>
          </a:ln>
          <a:effectLst>
            <a:outerShdw blurRad="12700" dist="50800" dir="2700000" algn="bl" rotWithShape="0">
              <a:srgbClr val="C8D0D4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7A0208D8-804E-447B-2224-AC708D9B9453}"/>
              </a:ext>
            </a:extLst>
          </p:cNvPr>
          <p:cNvSpPr/>
          <p:nvPr/>
        </p:nvSpPr>
        <p:spPr>
          <a:xfrm>
            <a:off x="859536" y="1773936"/>
            <a:ext cx="694944" cy="694944"/>
          </a:xfrm>
          <a:prstGeom prst="ellipse">
            <a:avLst/>
          </a:prstGeom>
          <a:solidFill>
            <a:srgbClr val="5AA89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5FEC554-ACF7-E4E9-C2B1-70F2B1976184}"/>
              </a:ext>
            </a:extLst>
          </p:cNvPr>
          <p:cNvSpPr/>
          <p:nvPr/>
        </p:nvSpPr>
        <p:spPr>
          <a:xfrm>
            <a:off x="859536" y="19933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</a:t>
            </a:r>
            <a:endParaRPr lang="en-US" sz="1020" dirty="0"/>
          </a:p>
        </p:txBody>
      </p:sp>
      <p:pic>
        <p:nvPicPr>
          <p:cNvPr id="8" name="Image 0" descr="/mnt/data/ph_01.png">
            <a:extLst>
              <a:ext uri="{FF2B5EF4-FFF2-40B4-BE49-F238E27FC236}">
                <a16:creationId xmlns:a16="http://schemas.microsoft.com/office/drawing/2014/main" id="{93141860-49A9-A9EB-D2F9-D4352C726CB8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859536" y="1773936"/>
            <a:ext cx="694944" cy="694944"/>
          </a:xfrm>
          <a:prstGeom prst="ellipse">
            <a:avLst/>
          </a:prstGeom>
        </p:spPr>
      </p:pic>
      <p:sp>
        <p:nvSpPr>
          <p:cNvPr id="9" name="Shape 3">
            <a:extLst>
              <a:ext uri="{FF2B5EF4-FFF2-40B4-BE49-F238E27FC236}">
                <a16:creationId xmlns:a16="http://schemas.microsoft.com/office/drawing/2014/main" id="{C408E0C4-5F92-29E0-7FA8-D1DAA0D2E86B}"/>
              </a:ext>
            </a:extLst>
          </p:cNvPr>
          <p:cNvSpPr/>
          <p:nvPr/>
        </p:nvSpPr>
        <p:spPr>
          <a:xfrm>
            <a:off x="859536" y="1773936"/>
            <a:ext cx="694944" cy="6949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40DA131-3BB4-6118-9B0C-86BCAD7B55C4}"/>
              </a:ext>
            </a:extLst>
          </p:cNvPr>
          <p:cNvSpPr/>
          <p:nvPr/>
        </p:nvSpPr>
        <p:spPr>
          <a:xfrm>
            <a:off x="1673352" y="18105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22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Audrey Le Gouellec</a:t>
            </a:r>
            <a:endParaRPr lang="en-US" sz="137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5459597-85B3-EBEC-5787-3FB91C7F7F0F}"/>
              </a:ext>
            </a:extLst>
          </p:cNvPr>
          <p:cNvSpPr/>
          <p:nvPr/>
        </p:nvSpPr>
        <p:spPr>
          <a:xfrm>
            <a:off x="1673352" y="217627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8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Grenoble</a:t>
            </a:r>
            <a:endParaRPr lang="en-US" sz="93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85BC000-F731-DD23-4F46-AFEFF39BA332}"/>
              </a:ext>
            </a:extLst>
          </p:cNvPr>
          <p:cNvSpPr/>
          <p:nvPr/>
        </p:nvSpPr>
        <p:spPr>
          <a:xfrm>
            <a:off x="2980944" y="2176272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10" b="1" dirty="0">
                <a:solidFill>
                  <a:srgbClr val="3C8E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Coordinatrice</a:t>
            </a:r>
            <a:endParaRPr lang="en-US" sz="91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FD86D910-6EAE-6635-CA14-2D34F88552A3}"/>
              </a:ext>
            </a:extLst>
          </p:cNvPr>
          <p:cNvSpPr/>
          <p:nvPr/>
        </p:nvSpPr>
        <p:spPr>
          <a:xfrm>
            <a:off x="4572000" y="1645920"/>
            <a:ext cx="358444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CE4E7"/>
            </a:solidFill>
            <a:prstDash val="solid"/>
          </a:ln>
          <a:effectLst>
            <a:outerShdw blurRad="12700" dist="50800" dir="2700000" algn="bl" rotWithShape="0">
              <a:srgbClr val="C8D0D4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5BAA6B59-7D8E-49F2-EA4C-6AA2CB4BB9D7}"/>
              </a:ext>
            </a:extLst>
          </p:cNvPr>
          <p:cNvSpPr/>
          <p:nvPr/>
        </p:nvSpPr>
        <p:spPr>
          <a:xfrm>
            <a:off x="4718304" y="1773936"/>
            <a:ext cx="694944" cy="694944"/>
          </a:xfrm>
          <a:prstGeom prst="ellipse">
            <a:avLst/>
          </a:prstGeom>
          <a:solidFill>
            <a:srgbClr val="214E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ADDA7F3-7A64-9A27-2FDC-90CE288A20B3}"/>
              </a:ext>
            </a:extLst>
          </p:cNvPr>
          <p:cNvSpPr/>
          <p:nvPr/>
        </p:nvSpPr>
        <p:spPr>
          <a:xfrm>
            <a:off x="4718304" y="19933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</a:t>
            </a:r>
            <a:endParaRPr lang="en-US" sz="1020" dirty="0"/>
          </a:p>
        </p:txBody>
      </p:sp>
      <p:pic>
        <p:nvPicPr>
          <p:cNvPr id="16" name="Image 1" descr="/mnt/data/ph_02.png">
            <a:extLst>
              <a:ext uri="{FF2B5EF4-FFF2-40B4-BE49-F238E27FC236}">
                <a16:creationId xmlns:a16="http://schemas.microsoft.com/office/drawing/2014/main" id="{544129E4-F2B2-7FA4-8EF1-4AF34A7C567A}"/>
              </a:ext>
            </a:extLst>
          </p:cNvPr>
          <p:cNvPicPr>
            <a:picLocks noChangeAspect="1"/>
          </p:cNvPicPr>
          <p:nvPr/>
        </p:nvPicPr>
        <p:blipFill>
          <a:blip r:link="rId4"/>
          <a:stretch>
            <a:fillRect/>
          </a:stretch>
        </p:blipFill>
        <p:spPr>
          <a:xfrm>
            <a:off x="4718304" y="1773936"/>
            <a:ext cx="694944" cy="694944"/>
          </a:xfrm>
          <a:prstGeom prst="ellipse">
            <a:avLst/>
          </a:prstGeom>
        </p:spPr>
      </p:pic>
      <p:sp>
        <p:nvSpPr>
          <p:cNvPr id="17" name="Shape 10">
            <a:extLst>
              <a:ext uri="{FF2B5EF4-FFF2-40B4-BE49-F238E27FC236}">
                <a16:creationId xmlns:a16="http://schemas.microsoft.com/office/drawing/2014/main" id="{884DF24C-391F-29EE-8BE2-BB50C2CC988F}"/>
              </a:ext>
            </a:extLst>
          </p:cNvPr>
          <p:cNvSpPr/>
          <p:nvPr/>
        </p:nvSpPr>
        <p:spPr>
          <a:xfrm>
            <a:off x="4718304" y="1773936"/>
            <a:ext cx="694944" cy="6949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C3635D9E-86D3-E462-2DE1-9314209871B7}"/>
              </a:ext>
            </a:extLst>
          </p:cNvPr>
          <p:cNvSpPr/>
          <p:nvPr/>
        </p:nvSpPr>
        <p:spPr>
          <a:xfrm>
            <a:off x="5532120" y="18105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22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Sophie Ayciriex</a:t>
            </a:r>
            <a:endParaRPr lang="en-US" sz="137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9B1AF4DA-7F50-FF41-111D-BDA05D56A37E}"/>
              </a:ext>
            </a:extLst>
          </p:cNvPr>
          <p:cNvSpPr/>
          <p:nvPr/>
        </p:nvSpPr>
        <p:spPr>
          <a:xfrm>
            <a:off x="5532120" y="217627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8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Lyon</a:t>
            </a:r>
            <a:endParaRPr lang="en-US" sz="93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9D349F48-2EF5-4216-8AD9-44368EE68415}"/>
              </a:ext>
            </a:extLst>
          </p:cNvPr>
          <p:cNvSpPr/>
          <p:nvPr/>
        </p:nvSpPr>
        <p:spPr>
          <a:xfrm>
            <a:off x="8430768" y="1645920"/>
            <a:ext cx="3584448" cy="950976"/>
          </a:xfrm>
          <a:prstGeom prst="roundRect">
            <a:avLst>
              <a:gd name="adj" fmla="val 7692"/>
            </a:avLst>
          </a:prstGeom>
          <a:solidFill>
            <a:schemeClr val="accent2">
              <a:lumMod val="20000"/>
              <a:lumOff val="80000"/>
            </a:schemeClr>
          </a:solidFill>
          <a:ln w="15240">
            <a:solidFill>
              <a:schemeClr val="accent2"/>
            </a:solidFill>
            <a:prstDash val="solid"/>
          </a:ln>
          <a:effectLst>
            <a:outerShdw blurRad="12700" dist="50800" dir="2700000" algn="bl" rotWithShape="0">
              <a:srgbClr val="C8D0D4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C1AB9CDA-3CE2-BE56-33ED-667B570D5D09}"/>
              </a:ext>
            </a:extLst>
          </p:cNvPr>
          <p:cNvSpPr/>
          <p:nvPr/>
        </p:nvSpPr>
        <p:spPr>
          <a:xfrm>
            <a:off x="8577072" y="1773936"/>
            <a:ext cx="694944" cy="694944"/>
          </a:xfrm>
          <a:prstGeom prst="ellipse">
            <a:avLst/>
          </a:prstGeom>
          <a:solidFill>
            <a:srgbClr val="5AA89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A0819613-F455-B221-DE05-5A56825D8731}"/>
              </a:ext>
            </a:extLst>
          </p:cNvPr>
          <p:cNvSpPr/>
          <p:nvPr/>
        </p:nvSpPr>
        <p:spPr>
          <a:xfrm>
            <a:off x="8577072" y="19933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</a:t>
            </a:r>
            <a:endParaRPr lang="en-US" sz="1020" dirty="0"/>
          </a:p>
        </p:txBody>
      </p:sp>
      <p:pic>
        <p:nvPicPr>
          <p:cNvPr id="23" name="Image 2" descr="/mnt/data/ph_03.png">
            <a:extLst>
              <a:ext uri="{FF2B5EF4-FFF2-40B4-BE49-F238E27FC236}">
                <a16:creationId xmlns:a16="http://schemas.microsoft.com/office/drawing/2014/main" id="{C8E81B38-A1B0-1728-CB0E-6C63AD2931D3}"/>
              </a:ext>
            </a:extLst>
          </p:cNvPr>
          <p:cNvPicPr>
            <a:picLocks noChangeAspect="1"/>
          </p:cNvPicPr>
          <p:nvPr/>
        </p:nvPicPr>
        <p:blipFill>
          <a:blip r:link="rId5"/>
          <a:stretch>
            <a:fillRect/>
          </a:stretch>
        </p:blipFill>
        <p:spPr>
          <a:xfrm>
            <a:off x="8577072" y="1773936"/>
            <a:ext cx="694944" cy="694944"/>
          </a:xfrm>
          <a:prstGeom prst="ellipse">
            <a:avLst/>
          </a:prstGeom>
        </p:spPr>
      </p:pic>
      <p:sp>
        <p:nvSpPr>
          <p:cNvPr id="24" name="Shape 16">
            <a:extLst>
              <a:ext uri="{FF2B5EF4-FFF2-40B4-BE49-F238E27FC236}">
                <a16:creationId xmlns:a16="http://schemas.microsoft.com/office/drawing/2014/main" id="{88C7E0AE-A0F9-0868-2C7F-D7942340A370}"/>
              </a:ext>
            </a:extLst>
          </p:cNvPr>
          <p:cNvSpPr/>
          <p:nvPr/>
        </p:nvSpPr>
        <p:spPr>
          <a:xfrm>
            <a:off x="8577072" y="1773936"/>
            <a:ext cx="694944" cy="6949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055C7B46-DBD7-BFC5-94A1-114C951F1D71}"/>
              </a:ext>
            </a:extLst>
          </p:cNvPr>
          <p:cNvSpPr/>
          <p:nvPr/>
        </p:nvSpPr>
        <p:spPr>
          <a:xfrm>
            <a:off x="9390888" y="18105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22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Gildas Bertho</a:t>
            </a:r>
            <a:endParaRPr lang="en-US" sz="137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D7F20776-19BA-68E1-8E7F-E08F6C127BE1}"/>
              </a:ext>
            </a:extLst>
          </p:cNvPr>
          <p:cNvSpPr/>
          <p:nvPr/>
        </p:nvSpPr>
        <p:spPr>
          <a:xfrm>
            <a:off x="9390888" y="217627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8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Paris</a:t>
            </a:r>
            <a:endParaRPr lang="en-US" sz="930" dirty="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749EBBAD-9AEE-A517-0C0C-23984877B152}"/>
              </a:ext>
            </a:extLst>
          </p:cNvPr>
          <p:cNvSpPr/>
          <p:nvPr/>
        </p:nvSpPr>
        <p:spPr>
          <a:xfrm>
            <a:off x="713232" y="2834640"/>
            <a:ext cx="3584448" cy="950976"/>
          </a:xfrm>
          <a:prstGeom prst="roundRect">
            <a:avLst>
              <a:gd name="adj" fmla="val 7692"/>
            </a:avLst>
          </a:prstGeom>
          <a:solidFill>
            <a:schemeClr val="accent2">
              <a:lumMod val="20000"/>
              <a:lumOff val="80000"/>
            </a:schemeClr>
          </a:solidFill>
          <a:ln w="15240">
            <a:solidFill>
              <a:schemeClr val="accent2"/>
            </a:solidFill>
            <a:prstDash val="solid"/>
          </a:ln>
          <a:effectLst>
            <a:outerShdw blurRad="12700" dist="50800" dir="2700000" algn="bl" rotWithShape="0">
              <a:srgbClr val="C8D0D4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0AEBBE2E-9DD5-FD99-F827-D28797952AFA}"/>
              </a:ext>
            </a:extLst>
          </p:cNvPr>
          <p:cNvSpPr/>
          <p:nvPr/>
        </p:nvSpPr>
        <p:spPr>
          <a:xfrm>
            <a:off x="859536" y="2962656"/>
            <a:ext cx="694944" cy="694944"/>
          </a:xfrm>
          <a:prstGeom prst="ellipse">
            <a:avLst/>
          </a:prstGeom>
          <a:solidFill>
            <a:srgbClr val="214E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20EF912F-1229-61EF-3430-7F1192EE48CE}"/>
              </a:ext>
            </a:extLst>
          </p:cNvPr>
          <p:cNvSpPr/>
          <p:nvPr/>
        </p:nvSpPr>
        <p:spPr>
          <a:xfrm>
            <a:off x="859536" y="318211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JBM</a:t>
            </a:r>
            <a:endParaRPr lang="en-US" sz="1020" dirty="0"/>
          </a:p>
        </p:txBody>
      </p:sp>
      <p:pic>
        <p:nvPicPr>
          <p:cNvPr id="30" name="Image 3" descr="/mnt/data/ph_04.png">
            <a:extLst>
              <a:ext uri="{FF2B5EF4-FFF2-40B4-BE49-F238E27FC236}">
                <a16:creationId xmlns:a16="http://schemas.microsoft.com/office/drawing/2014/main" id="{EA7C8F23-0AF2-7660-C8D5-FCF3B79665AA}"/>
              </a:ext>
            </a:extLst>
          </p:cNvPr>
          <p:cNvPicPr>
            <a:picLocks noChangeAspect="1"/>
          </p:cNvPicPr>
          <p:nvPr/>
        </p:nvPicPr>
        <p:blipFill>
          <a:blip r:link="rId6"/>
          <a:stretch>
            <a:fillRect/>
          </a:stretch>
        </p:blipFill>
        <p:spPr>
          <a:xfrm>
            <a:off x="859536" y="2962656"/>
            <a:ext cx="694944" cy="694944"/>
          </a:xfrm>
          <a:prstGeom prst="ellipse">
            <a:avLst/>
          </a:prstGeom>
        </p:spPr>
      </p:pic>
      <p:sp>
        <p:nvSpPr>
          <p:cNvPr id="31" name="Shape 22">
            <a:extLst>
              <a:ext uri="{FF2B5EF4-FFF2-40B4-BE49-F238E27FC236}">
                <a16:creationId xmlns:a16="http://schemas.microsoft.com/office/drawing/2014/main" id="{557A6348-4E2D-CC22-18A3-14F5AD2F0F4D}"/>
              </a:ext>
            </a:extLst>
          </p:cNvPr>
          <p:cNvSpPr/>
          <p:nvPr/>
        </p:nvSpPr>
        <p:spPr>
          <a:xfrm>
            <a:off x="859536" y="2962656"/>
            <a:ext cx="694944" cy="6949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28BDB137-F4C6-6179-26E1-3FB4AF5C1B71}"/>
              </a:ext>
            </a:extLst>
          </p:cNvPr>
          <p:cNvSpPr/>
          <p:nvPr/>
        </p:nvSpPr>
        <p:spPr>
          <a:xfrm>
            <a:off x="1673352" y="29992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22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Justine Bertrand-Michel</a:t>
            </a:r>
            <a:endParaRPr lang="en-US" sz="1370" dirty="0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00022A26-27C0-02E7-0550-258F5C775F41}"/>
              </a:ext>
            </a:extLst>
          </p:cNvPr>
          <p:cNvSpPr/>
          <p:nvPr/>
        </p:nvSpPr>
        <p:spPr>
          <a:xfrm>
            <a:off x="1673352" y="336499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8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Toulouse</a:t>
            </a:r>
            <a:endParaRPr lang="en-US" sz="930" dirty="0"/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38256260-10EF-AAF4-C7F2-1DD8F5B123E5}"/>
              </a:ext>
            </a:extLst>
          </p:cNvPr>
          <p:cNvSpPr/>
          <p:nvPr/>
        </p:nvSpPr>
        <p:spPr>
          <a:xfrm>
            <a:off x="4572000" y="2834640"/>
            <a:ext cx="3584448" cy="950976"/>
          </a:xfrm>
          <a:prstGeom prst="roundRect">
            <a:avLst>
              <a:gd name="adj" fmla="val 7692"/>
            </a:avLst>
          </a:prstGeom>
          <a:solidFill>
            <a:schemeClr val="accent2">
              <a:lumMod val="20000"/>
              <a:lumOff val="80000"/>
            </a:schemeClr>
          </a:solidFill>
          <a:ln w="15240">
            <a:solidFill>
              <a:schemeClr val="accent2"/>
            </a:solidFill>
            <a:prstDash val="solid"/>
          </a:ln>
          <a:effectLst>
            <a:outerShdw blurRad="12700" dist="50800" dir="2700000" algn="bl" rotWithShape="0">
              <a:srgbClr val="C8D0D4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5EFC8D99-4EDF-E2AA-1839-691016A28DA9}"/>
              </a:ext>
            </a:extLst>
          </p:cNvPr>
          <p:cNvSpPr/>
          <p:nvPr/>
        </p:nvSpPr>
        <p:spPr>
          <a:xfrm>
            <a:off x="4718304" y="2962656"/>
            <a:ext cx="694944" cy="694944"/>
          </a:xfrm>
          <a:prstGeom prst="ellipse">
            <a:avLst/>
          </a:prstGeom>
          <a:solidFill>
            <a:srgbClr val="5AA89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5DE2427A-EE9B-FAC5-8A45-9DA98FE3A77A}"/>
              </a:ext>
            </a:extLst>
          </p:cNvPr>
          <p:cNvSpPr/>
          <p:nvPr/>
        </p:nvSpPr>
        <p:spPr>
          <a:xfrm>
            <a:off x="4718304" y="318211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PDT</a:t>
            </a:r>
            <a:endParaRPr lang="en-US" sz="1020" dirty="0"/>
          </a:p>
        </p:txBody>
      </p:sp>
      <p:pic>
        <p:nvPicPr>
          <p:cNvPr id="37" name="Image 4" descr="/mnt/data/ph_05.png">
            <a:extLst>
              <a:ext uri="{FF2B5EF4-FFF2-40B4-BE49-F238E27FC236}">
                <a16:creationId xmlns:a16="http://schemas.microsoft.com/office/drawing/2014/main" id="{6C5DB993-606D-081F-E274-4A2C94339FD6}"/>
              </a:ext>
            </a:extLst>
          </p:cNvPr>
          <p:cNvPicPr>
            <a:picLocks noChangeAspect="1"/>
          </p:cNvPicPr>
          <p:nvPr/>
        </p:nvPicPr>
        <p:blipFill>
          <a:blip r:link="rId7"/>
          <a:stretch>
            <a:fillRect/>
          </a:stretch>
        </p:blipFill>
        <p:spPr>
          <a:xfrm>
            <a:off x="4718304" y="2962656"/>
            <a:ext cx="694944" cy="694944"/>
          </a:xfrm>
          <a:prstGeom prst="ellipse">
            <a:avLst/>
          </a:prstGeom>
        </p:spPr>
      </p:pic>
      <p:sp>
        <p:nvSpPr>
          <p:cNvPr id="38" name="Shape 28">
            <a:extLst>
              <a:ext uri="{FF2B5EF4-FFF2-40B4-BE49-F238E27FC236}">
                <a16:creationId xmlns:a16="http://schemas.microsoft.com/office/drawing/2014/main" id="{C834ECE9-9A72-B7B5-7F71-9692AC4B6766}"/>
              </a:ext>
            </a:extLst>
          </p:cNvPr>
          <p:cNvSpPr/>
          <p:nvPr/>
        </p:nvSpPr>
        <p:spPr>
          <a:xfrm>
            <a:off x="4718304" y="2962656"/>
            <a:ext cx="694944" cy="6949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69A9F9DF-EC5E-1F59-4139-AA4B6E6B8C8C}"/>
              </a:ext>
            </a:extLst>
          </p:cNvPr>
          <p:cNvSpPr/>
          <p:nvPr/>
        </p:nvSpPr>
        <p:spPr>
          <a:xfrm>
            <a:off x="5532120" y="29992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22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Pascal de Tullio</a:t>
            </a:r>
            <a:endParaRPr lang="en-US" sz="1370" dirty="0"/>
          </a:p>
        </p:txBody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17A19A24-B479-2942-9358-88392CDF07B0}"/>
              </a:ext>
            </a:extLst>
          </p:cNvPr>
          <p:cNvSpPr/>
          <p:nvPr/>
        </p:nvSpPr>
        <p:spPr>
          <a:xfrm>
            <a:off x="5532120" y="336499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8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Liège</a:t>
            </a:r>
            <a:endParaRPr lang="en-US" sz="930" dirty="0"/>
          </a:p>
        </p:txBody>
      </p:sp>
      <p:sp>
        <p:nvSpPr>
          <p:cNvPr id="41" name="Shape 31">
            <a:extLst>
              <a:ext uri="{FF2B5EF4-FFF2-40B4-BE49-F238E27FC236}">
                <a16:creationId xmlns:a16="http://schemas.microsoft.com/office/drawing/2014/main" id="{7E08E55F-09E0-667B-98B9-571BD8FE2DB9}"/>
              </a:ext>
            </a:extLst>
          </p:cNvPr>
          <p:cNvSpPr/>
          <p:nvPr/>
        </p:nvSpPr>
        <p:spPr>
          <a:xfrm>
            <a:off x="8430768" y="2834640"/>
            <a:ext cx="358444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CE4E7"/>
            </a:solidFill>
            <a:prstDash val="solid"/>
          </a:ln>
          <a:effectLst>
            <a:outerShdw blurRad="12700" dist="50800" dir="2700000" algn="bl" rotWithShape="0">
              <a:srgbClr val="C8D0D4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32">
            <a:extLst>
              <a:ext uri="{FF2B5EF4-FFF2-40B4-BE49-F238E27FC236}">
                <a16:creationId xmlns:a16="http://schemas.microsoft.com/office/drawing/2014/main" id="{949E4588-725E-0C0A-F837-DF94BFC20E84}"/>
              </a:ext>
            </a:extLst>
          </p:cNvPr>
          <p:cNvSpPr/>
          <p:nvPr/>
        </p:nvSpPr>
        <p:spPr>
          <a:xfrm>
            <a:off x="8577072" y="2962656"/>
            <a:ext cx="694944" cy="694944"/>
          </a:xfrm>
          <a:prstGeom prst="ellipse">
            <a:avLst/>
          </a:prstGeom>
          <a:solidFill>
            <a:srgbClr val="214E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33">
            <a:extLst>
              <a:ext uri="{FF2B5EF4-FFF2-40B4-BE49-F238E27FC236}">
                <a16:creationId xmlns:a16="http://schemas.microsoft.com/office/drawing/2014/main" id="{70D1857D-7EAD-D7C5-7689-D1998042C691}"/>
              </a:ext>
            </a:extLst>
          </p:cNvPr>
          <p:cNvSpPr/>
          <p:nvPr/>
        </p:nvSpPr>
        <p:spPr>
          <a:xfrm>
            <a:off x="8577072" y="318211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</a:t>
            </a:r>
            <a:endParaRPr lang="en-US" sz="1020" dirty="0"/>
          </a:p>
        </p:txBody>
      </p:sp>
      <p:pic>
        <p:nvPicPr>
          <p:cNvPr id="44" name="Image 5" descr="/mnt/data/ph_06.png">
            <a:extLst>
              <a:ext uri="{FF2B5EF4-FFF2-40B4-BE49-F238E27FC236}">
                <a16:creationId xmlns:a16="http://schemas.microsoft.com/office/drawing/2014/main" id="{80750EA9-E180-B1C5-8155-52E96E7553E3}"/>
              </a:ext>
            </a:extLst>
          </p:cNvPr>
          <p:cNvPicPr>
            <a:picLocks noChangeAspect="1"/>
          </p:cNvPicPr>
          <p:nvPr/>
        </p:nvPicPr>
        <p:blipFill>
          <a:blip r:link="rId8"/>
          <a:stretch>
            <a:fillRect/>
          </a:stretch>
        </p:blipFill>
        <p:spPr>
          <a:xfrm>
            <a:off x="8577072" y="2962656"/>
            <a:ext cx="694944" cy="694944"/>
          </a:xfrm>
          <a:prstGeom prst="ellipse">
            <a:avLst/>
          </a:prstGeom>
        </p:spPr>
      </p:pic>
      <p:sp>
        <p:nvSpPr>
          <p:cNvPr id="45" name="Shape 34">
            <a:extLst>
              <a:ext uri="{FF2B5EF4-FFF2-40B4-BE49-F238E27FC236}">
                <a16:creationId xmlns:a16="http://schemas.microsoft.com/office/drawing/2014/main" id="{1767448A-75E1-9FCA-DF56-7D49C7E9E863}"/>
              </a:ext>
            </a:extLst>
          </p:cNvPr>
          <p:cNvSpPr/>
          <p:nvPr/>
        </p:nvSpPr>
        <p:spPr>
          <a:xfrm>
            <a:off x="8577072" y="2962656"/>
            <a:ext cx="694944" cy="6949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63F43133-8745-25D6-E489-5114CCEE54D5}"/>
              </a:ext>
            </a:extLst>
          </p:cNvPr>
          <p:cNvSpPr/>
          <p:nvPr/>
        </p:nvSpPr>
        <p:spPr>
          <a:xfrm>
            <a:off x="9390888" y="29992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22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Delphine Debayle</a:t>
            </a:r>
            <a:endParaRPr lang="en-US" sz="1370" dirty="0"/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2893EBDE-74C1-7475-9D8A-19658687F514}"/>
              </a:ext>
            </a:extLst>
          </p:cNvPr>
          <p:cNvSpPr/>
          <p:nvPr/>
        </p:nvSpPr>
        <p:spPr>
          <a:xfrm>
            <a:off x="9390888" y="336499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8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Sophia Antipolis</a:t>
            </a:r>
            <a:endParaRPr lang="en-US" sz="930" dirty="0"/>
          </a:p>
        </p:txBody>
      </p:sp>
      <p:sp>
        <p:nvSpPr>
          <p:cNvPr id="48" name="Shape 37">
            <a:extLst>
              <a:ext uri="{FF2B5EF4-FFF2-40B4-BE49-F238E27FC236}">
                <a16:creationId xmlns:a16="http://schemas.microsoft.com/office/drawing/2014/main" id="{6E4C049A-9A04-F7E4-AF55-8C6DCA2E1924}"/>
              </a:ext>
            </a:extLst>
          </p:cNvPr>
          <p:cNvSpPr/>
          <p:nvPr/>
        </p:nvSpPr>
        <p:spPr>
          <a:xfrm>
            <a:off x="713232" y="4023360"/>
            <a:ext cx="358444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CE4E7"/>
            </a:solidFill>
            <a:prstDash val="solid"/>
          </a:ln>
          <a:effectLst>
            <a:outerShdw blurRad="12700" dist="50800" dir="2700000" algn="bl" rotWithShape="0">
              <a:srgbClr val="C8D0D4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Shape 38">
            <a:extLst>
              <a:ext uri="{FF2B5EF4-FFF2-40B4-BE49-F238E27FC236}">
                <a16:creationId xmlns:a16="http://schemas.microsoft.com/office/drawing/2014/main" id="{8947F096-8A0C-E3AD-BE73-16F73386A948}"/>
              </a:ext>
            </a:extLst>
          </p:cNvPr>
          <p:cNvSpPr/>
          <p:nvPr/>
        </p:nvSpPr>
        <p:spPr>
          <a:xfrm>
            <a:off x="859536" y="4151376"/>
            <a:ext cx="694944" cy="694944"/>
          </a:xfrm>
          <a:prstGeom prst="ellipse">
            <a:avLst/>
          </a:prstGeom>
          <a:solidFill>
            <a:srgbClr val="5AA89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39">
            <a:extLst>
              <a:ext uri="{FF2B5EF4-FFF2-40B4-BE49-F238E27FC236}">
                <a16:creationId xmlns:a16="http://schemas.microsoft.com/office/drawing/2014/main" id="{533D8AA9-AED8-EF7D-F078-ED1CD67E5024}"/>
              </a:ext>
            </a:extLst>
          </p:cNvPr>
          <p:cNvSpPr/>
          <p:nvPr/>
        </p:nvSpPr>
        <p:spPr>
          <a:xfrm>
            <a:off x="859536" y="437083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</a:t>
            </a:r>
            <a:endParaRPr lang="en-US" sz="1020" dirty="0"/>
          </a:p>
        </p:txBody>
      </p:sp>
      <p:pic>
        <p:nvPicPr>
          <p:cNvPr id="51" name="Image 6" descr="/mnt/data/ph_07.png">
            <a:extLst>
              <a:ext uri="{FF2B5EF4-FFF2-40B4-BE49-F238E27FC236}">
                <a16:creationId xmlns:a16="http://schemas.microsoft.com/office/drawing/2014/main" id="{84041903-9E1C-5F2F-86E7-D8B333EDB6CD}"/>
              </a:ext>
            </a:extLst>
          </p:cNvPr>
          <p:cNvPicPr>
            <a:picLocks noChangeAspect="1"/>
          </p:cNvPicPr>
          <p:nvPr/>
        </p:nvPicPr>
        <p:blipFill>
          <a:blip r:link="rId9"/>
          <a:stretch>
            <a:fillRect/>
          </a:stretch>
        </p:blipFill>
        <p:spPr>
          <a:xfrm>
            <a:off x="859536" y="4151376"/>
            <a:ext cx="694944" cy="694944"/>
          </a:xfrm>
          <a:prstGeom prst="ellipse">
            <a:avLst/>
          </a:prstGeom>
        </p:spPr>
      </p:pic>
      <p:sp>
        <p:nvSpPr>
          <p:cNvPr id="52" name="Shape 40">
            <a:extLst>
              <a:ext uri="{FF2B5EF4-FFF2-40B4-BE49-F238E27FC236}">
                <a16:creationId xmlns:a16="http://schemas.microsoft.com/office/drawing/2014/main" id="{D5389821-ECE5-F9EF-D72D-B5C584EE63C1}"/>
              </a:ext>
            </a:extLst>
          </p:cNvPr>
          <p:cNvSpPr/>
          <p:nvPr/>
        </p:nvSpPr>
        <p:spPr>
          <a:xfrm>
            <a:off x="859536" y="4151376"/>
            <a:ext cx="694944" cy="6949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41">
            <a:extLst>
              <a:ext uri="{FF2B5EF4-FFF2-40B4-BE49-F238E27FC236}">
                <a16:creationId xmlns:a16="http://schemas.microsoft.com/office/drawing/2014/main" id="{69A6B755-CC5F-6F74-46DE-70E25ECAB1C9}"/>
              </a:ext>
            </a:extLst>
          </p:cNvPr>
          <p:cNvSpPr/>
          <p:nvPr/>
        </p:nvSpPr>
        <p:spPr>
          <a:xfrm>
            <a:off x="1673352" y="41879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22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Ghina Hajjar</a:t>
            </a:r>
            <a:endParaRPr lang="en-US" sz="1370" dirty="0"/>
          </a:p>
        </p:txBody>
      </p:sp>
      <p:sp>
        <p:nvSpPr>
          <p:cNvPr id="54" name="Text 42">
            <a:extLst>
              <a:ext uri="{FF2B5EF4-FFF2-40B4-BE49-F238E27FC236}">
                <a16:creationId xmlns:a16="http://schemas.microsoft.com/office/drawing/2014/main" id="{B6C5ED93-4090-B23A-5EAD-53821571B444}"/>
              </a:ext>
            </a:extLst>
          </p:cNvPr>
          <p:cNvSpPr/>
          <p:nvPr/>
        </p:nvSpPr>
        <p:spPr>
          <a:xfrm>
            <a:off x="1673352" y="455371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8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Villeurbanne</a:t>
            </a:r>
            <a:endParaRPr lang="en-US" sz="930" dirty="0"/>
          </a:p>
        </p:txBody>
      </p:sp>
      <p:sp>
        <p:nvSpPr>
          <p:cNvPr id="55" name="Shape 43">
            <a:extLst>
              <a:ext uri="{FF2B5EF4-FFF2-40B4-BE49-F238E27FC236}">
                <a16:creationId xmlns:a16="http://schemas.microsoft.com/office/drawing/2014/main" id="{890F4D1E-9C4B-2FBA-F018-6FA56AFBBF11}"/>
              </a:ext>
            </a:extLst>
          </p:cNvPr>
          <p:cNvSpPr/>
          <p:nvPr/>
        </p:nvSpPr>
        <p:spPr>
          <a:xfrm>
            <a:off x="4572000" y="4023360"/>
            <a:ext cx="358444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CE4E7"/>
            </a:solidFill>
            <a:prstDash val="solid"/>
          </a:ln>
          <a:effectLst>
            <a:outerShdw blurRad="12700" dist="50800" dir="2700000" algn="bl" rotWithShape="0">
              <a:srgbClr val="C8D0D4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6" name="Shape 44">
            <a:extLst>
              <a:ext uri="{FF2B5EF4-FFF2-40B4-BE49-F238E27FC236}">
                <a16:creationId xmlns:a16="http://schemas.microsoft.com/office/drawing/2014/main" id="{A587A246-E393-3E36-3C65-08FDD4EBE4B8}"/>
              </a:ext>
            </a:extLst>
          </p:cNvPr>
          <p:cNvSpPr/>
          <p:nvPr/>
        </p:nvSpPr>
        <p:spPr>
          <a:xfrm>
            <a:off x="4718304" y="4151376"/>
            <a:ext cx="694944" cy="694944"/>
          </a:xfrm>
          <a:prstGeom prst="ellipse">
            <a:avLst/>
          </a:prstGeom>
          <a:solidFill>
            <a:srgbClr val="214E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45">
            <a:extLst>
              <a:ext uri="{FF2B5EF4-FFF2-40B4-BE49-F238E27FC236}">
                <a16:creationId xmlns:a16="http://schemas.microsoft.com/office/drawing/2014/main" id="{D0D7D750-BB92-018C-E05C-1AE4180FEBFA}"/>
              </a:ext>
            </a:extLst>
          </p:cNvPr>
          <p:cNvSpPr/>
          <p:nvPr/>
        </p:nvSpPr>
        <p:spPr>
          <a:xfrm>
            <a:off x="4718304" y="437083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1020" dirty="0"/>
          </a:p>
        </p:txBody>
      </p:sp>
      <p:pic>
        <p:nvPicPr>
          <p:cNvPr id="58" name="Image 7" descr="/mnt/data/ph_08.png">
            <a:extLst>
              <a:ext uri="{FF2B5EF4-FFF2-40B4-BE49-F238E27FC236}">
                <a16:creationId xmlns:a16="http://schemas.microsoft.com/office/drawing/2014/main" id="{745C5B39-F8F3-F4B1-5445-874DCA3F5407}"/>
              </a:ext>
            </a:extLst>
          </p:cNvPr>
          <p:cNvPicPr>
            <a:picLocks noChangeAspect="1"/>
          </p:cNvPicPr>
          <p:nvPr/>
        </p:nvPicPr>
        <p:blipFill>
          <a:blip r:link="rId10"/>
          <a:stretch>
            <a:fillRect/>
          </a:stretch>
        </p:blipFill>
        <p:spPr>
          <a:xfrm>
            <a:off x="4718304" y="4151376"/>
            <a:ext cx="694944" cy="694944"/>
          </a:xfrm>
          <a:prstGeom prst="ellipse">
            <a:avLst/>
          </a:prstGeom>
        </p:spPr>
      </p:pic>
      <p:sp>
        <p:nvSpPr>
          <p:cNvPr id="59" name="Shape 46">
            <a:extLst>
              <a:ext uri="{FF2B5EF4-FFF2-40B4-BE49-F238E27FC236}">
                <a16:creationId xmlns:a16="http://schemas.microsoft.com/office/drawing/2014/main" id="{63663B43-07F8-1F94-D904-772532B365CB}"/>
              </a:ext>
            </a:extLst>
          </p:cNvPr>
          <p:cNvSpPr/>
          <p:nvPr/>
        </p:nvSpPr>
        <p:spPr>
          <a:xfrm>
            <a:off x="4718304" y="4151376"/>
            <a:ext cx="694944" cy="6949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47">
            <a:extLst>
              <a:ext uri="{FF2B5EF4-FFF2-40B4-BE49-F238E27FC236}">
                <a16:creationId xmlns:a16="http://schemas.microsoft.com/office/drawing/2014/main" id="{4F217F2E-B28D-7B20-8A78-8BBD4BE54942}"/>
              </a:ext>
            </a:extLst>
          </p:cNvPr>
          <p:cNvSpPr/>
          <p:nvPr/>
        </p:nvSpPr>
        <p:spPr>
          <a:xfrm>
            <a:off x="5532120" y="41879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22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Marie Lenski</a:t>
            </a:r>
            <a:endParaRPr lang="en-US" sz="1370" dirty="0"/>
          </a:p>
        </p:txBody>
      </p:sp>
      <p:sp>
        <p:nvSpPr>
          <p:cNvPr id="61" name="Text 48">
            <a:extLst>
              <a:ext uri="{FF2B5EF4-FFF2-40B4-BE49-F238E27FC236}">
                <a16:creationId xmlns:a16="http://schemas.microsoft.com/office/drawing/2014/main" id="{9121A879-025E-A061-6E4C-C9A553A0B244}"/>
              </a:ext>
            </a:extLst>
          </p:cNvPr>
          <p:cNvSpPr/>
          <p:nvPr/>
        </p:nvSpPr>
        <p:spPr>
          <a:xfrm>
            <a:off x="5532120" y="455371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8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Lille</a:t>
            </a:r>
            <a:endParaRPr lang="en-US" sz="930" dirty="0"/>
          </a:p>
        </p:txBody>
      </p:sp>
      <p:sp>
        <p:nvSpPr>
          <p:cNvPr id="62" name="Shape 49">
            <a:extLst>
              <a:ext uri="{FF2B5EF4-FFF2-40B4-BE49-F238E27FC236}">
                <a16:creationId xmlns:a16="http://schemas.microsoft.com/office/drawing/2014/main" id="{1B820CDB-2C32-4ACB-5F59-9A2B4ABB18AC}"/>
              </a:ext>
            </a:extLst>
          </p:cNvPr>
          <p:cNvSpPr/>
          <p:nvPr/>
        </p:nvSpPr>
        <p:spPr>
          <a:xfrm>
            <a:off x="8430768" y="4023360"/>
            <a:ext cx="3584448" cy="950976"/>
          </a:xfrm>
          <a:prstGeom prst="roundRect">
            <a:avLst>
              <a:gd name="adj" fmla="val 7692"/>
            </a:avLst>
          </a:prstGeom>
          <a:solidFill>
            <a:schemeClr val="accent2">
              <a:lumMod val="20000"/>
              <a:lumOff val="80000"/>
            </a:schemeClr>
          </a:solidFill>
          <a:ln w="15240">
            <a:solidFill>
              <a:schemeClr val="accent2"/>
            </a:solidFill>
            <a:prstDash val="solid"/>
          </a:ln>
          <a:effectLst>
            <a:outerShdw blurRad="12700" dist="50800" dir="2700000" algn="bl" rotWithShape="0">
              <a:srgbClr val="C8D0D4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3" name="Shape 50">
            <a:extLst>
              <a:ext uri="{FF2B5EF4-FFF2-40B4-BE49-F238E27FC236}">
                <a16:creationId xmlns:a16="http://schemas.microsoft.com/office/drawing/2014/main" id="{5C4C6E89-DD36-7D22-8CB8-F741EDC094B8}"/>
              </a:ext>
            </a:extLst>
          </p:cNvPr>
          <p:cNvSpPr/>
          <p:nvPr/>
        </p:nvSpPr>
        <p:spPr>
          <a:xfrm>
            <a:off x="8577072" y="4151376"/>
            <a:ext cx="694944" cy="694944"/>
          </a:xfrm>
          <a:prstGeom prst="ellipse">
            <a:avLst/>
          </a:prstGeom>
          <a:solidFill>
            <a:srgbClr val="5AA89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51">
            <a:extLst>
              <a:ext uri="{FF2B5EF4-FFF2-40B4-BE49-F238E27FC236}">
                <a16:creationId xmlns:a16="http://schemas.microsoft.com/office/drawing/2014/main" id="{52D5604A-E878-7E63-7756-B7D4904E9F10}"/>
              </a:ext>
            </a:extLst>
          </p:cNvPr>
          <p:cNvSpPr/>
          <p:nvPr/>
        </p:nvSpPr>
        <p:spPr>
          <a:xfrm>
            <a:off x="8577072" y="437083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JCM</a:t>
            </a:r>
            <a:endParaRPr lang="en-US" sz="1020" dirty="0"/>
          </a:p>
        </p:txBody>
      </p:sp>
      <p:pic>
        <p:nvPicPr>
          <p:cNvPr id="65" name="Image 8" descr="/mnt/data/ph_09.png">
            <a:extLst>
              <a:ext uri="{FF2B5EF4-FFF2-40B4-BE49-F238E27FC236}">
                <a16:creationId xmlns:a16="http://schemas.microsoft.com/office/drawing/2014/main" id="{1171CAD0-6DE6-11D7-2CF4-068FE015C7B5}"/>
              </a:ext>
            </a:extLst>
          </p:cNvPr>
          <p:cNvPicPr>
            <a:picLocks noChangeAspect="1"/>
          </p:cNvPicPr>
          <p:nvPr/>
        </p:nvPicPr>
        <p:blipFill>
          <a:blip r:link="rId11"/>
          <a:stretch>
            <a:fillRect/>
          </a:stretch>
        </p:blipFill>
        <p:spPr>
          <a:xfrm>
            <a:off x="8577072" y="4151376"/>
            <a:ext cx="694944" cy="694944"/>
          </a:xfrm>
          <a:prstGeom prst="ellipse">
            <a:avLst/>
          </a:prstGeom>
        </p:spPr>
      </p:pic>
      <p:sp>
        <p:nvSpPr>
          <p:cNvPr id="66" name="Shape 52">
            <a:extLst>
              <a:ext uri="{FF2B5EF4-FFF2-40B4-BE49-F238E27FC236}">
                <a16:creationId xmlns:a16="http://schemas.microsoft.com/office/drawing/2014/main" id="{07CCE116-185A-3F73-108E-62F67004BEF2}"/>
              </a:ext>
            </a:extLst>
          </p:cNvPr>
          <p:cNvSpPr/>
          <p:nvPr/>
        </p:nvSpPr>
        <p:spPr>
          <a:xfrm>
            <a:off x="8577072" y="4151376"/>
            <a:ext cx="694944" cy="6949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53">
            <a:extLst>
              <a:ext uri="{FF2B5EF4-FFF2-40B4-BE49-F238E27FC236}">
                <a16:creationId xmlns:a16="http://schemas.microsoft.com/office/drawing/2014/main" id="{67E6CB57-0D36-C74D-43AB-CAD63B594B45}"/>
              </a:ext>
            </a:extLst>
          </p:cNvPr>
          <p:cNvSpPr/>
          <p:nvPr/>
        </p:nvSpPr>
        <p:spPr>
          <a:xfrm>
            <a:off x="9390888" y="41879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22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Jean-Charles Martin</a:t>
            </a:r>
            <a:endParaRPr lang="en-US" sz="1370" dirty="0"/>
          </a:p>
        </p:txBody>
      </p:sp>
      <p:sp>
        <p:nvSpPr>
          <p:cNvPr id="68" name="Text 54">
            <a:extLst>
              <a:ext uri="{FF2B5EF4-FFF2-40B4-BE49-F238E27FC236}">
                <a16:creationId xmlns:a16="http://schemas.microsoft.com/office/drawing/2014/main" id="{E4A1C41A-2D87-0BD8-EB83-E4F8D5F3B112}"/>
              </a:ext>
            </a:extLst>
          </p:cNvPr>
          <p:cNvSpPr/>
          <p:nvPr/>
        </p:nvSpPr>
        <p:spPr>
          <a:xfrm>
            <a:off x="9390888" y="455371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8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Marseille</a:t>
            </a:r>
            <a:endParaRPr lang="en-US" sz="930" dirty="0"/>
          </a:p>
        </p:txBody>
      </p:sp>
      <p:sp>
        <p:nvSpPr>
          <p:cNvPr id="69" name="Shape 55">
            <a:extLst>
              <a:ext uri="{FF2B5EF4-FFF2-40B4-BE49-F238E27FC236}">
                <a16:creationId xmlns:a16="http://schemas.microsoft.com/office/drawing/2014/main" id="{6500CD52-031F-6DE6-7461-4CB9396DDCA9}"/>
              </a:ext>
            </a:extLst>
          </p:cNvPr>
          <p:cNvSpPr/>
          <p:nvPr/>
        </p:nvSpPr>
        <p:spPr>
          <a:xfrm>
            <a:off x="713232" y="5212080"/>
            <a:ext cx="3584448" cy="950976"/>
          </a:xfrm>
          <a:prstGeom prst="roundRect">
            <a:avLst>
              <a:gd name="adj" fmla="val 7692"/>
            </a:avLst>
          </a:prstGeom>
          <a:solidFill>
            <a:schemeClr val="accent2">
              <a:lumMod val="20000"/>
              <a:lumOff val="80000"/>
            </a:schemeClr>
          </a:solidFill>
          <a:ln w="15240">
            <a:solidFill>
              <a:schemeClr val="accent2"/>
            </a:solidFill>
            <a:prstDash val="solid"/>
          </a:ln>
          <a:effectLst>
            <a:outerShdw blurRad="12700" dist="50800" dir="2700000" algn="bl" rotWithShape="0">
              <a:srgbClr val="C8D0D4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0" name="Shape 56">
            <a:extLst>
              <a:ext uri="{FF2B5EF4-FFF2-40B4-BE49-F238E27FC236}">
                <a16:creationId xmlns:a16="http://schemas.microsoft.com/office/drawing/2014/main" id="{B188689D-74D9-F8BB-4863-41E9EB89F5EC}"/>
              </a:ext>
            </a:extLst>
          </p:cNvPr>
          <p:cNvSpPr/>
          <p:nvPr/>
        </p:nvSpPr>
        <p:spPr>
          <a:xfrm>
            <a:off x="859536" y="5340096"/>
            <a:ext cx="694944" cy="694944"/>
          </a:xfrm>
          <a:prstGeom prst="ellipse">
            <a:avLst/>
          </a:prstGeom>
          <a:solidFill>
            <a:srgbClr val="214E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57">
            <a:extLst>
              <a:ext uri="{FF2B5EF4-FFF2-40B4-BE49-F238E27FC236}">
                <a16:creationId xmlns:a16="http://schemas.microsoft.com/office/drawing/2014/main" id="{568B3456-D1E0-39F7-C396-E4CFBD359534}"/>
              </a:ext>
            </a:extLst>
          </p:cNvPr>
          <p:cNvSpPr/>
          <p:nvPr/>
        </p:nvSpPr>
        <p:spPr>
          <a:xfrm>
            <a:off x="859536" y="55595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FM</a:t>
            </a:r>
            <a:endParaRPr lang="en-US" sz="1020" dirty="0"/>
          </a:p>
        </p:txBody>
      </p:sp>
      <p:pic>
        <p:nvPicPr>
          <p:cNvPr id="72" name="Image 9" descr="/mnt/data/ph_10.png">
            <a:extLst>
              <a:ext uri="{FF2B5EF4-FFF2-40B4-BE49-F238E27FC236}">
                <a16:creationId xmlns:a16="http://schemas.microsoft.com/office/drawing/2014/main" id="{BDF9ECC5-B569-BFC4-81BF-04E31940058A}"/>
              </a:ext>
            </a:extLst>
          </p:cNvPr>
          <p:cNvPicPr>
            <a:picLocks noChangeAspect="1"/>
          </p:cNvPicPr>
          <p:nvPr/>
        </p:nvPicPr>
        <p:blipFill>
          <a:blip r:link="rId12"/>
          <a:stretch>
            <a:fillRect/>
          </a:stretch>
        </p:blipFill>
        <p:spPr>
          <a:xfrm>
            <a:off x="859536" y="5340096"/>
            <a:ext cx="694944" cy="694944"/>
          </a:xfrm>
          <a:prstGeom prst="ellipse">
            <a:avLst/>
          </a:prstGeom>
        </p:spPr>
      </p:pic>
      <p:sp>
        <p:nvSpPr>
          <p:cNvPr id="73" name="Shape 58">
            <a:extLst>
              <a:ext uri="{FF2B5EF4-FFF2-40B4-BE49-F238E27FC236}">
                <a16:creationId xmlns:a16="http://schemas.microsoft.com/office/drawing/2014/main" id="{F9BB4937-E4BE-A2A0-2D75-C63A23EB371C}"/>
              </a:ext>
            </a:extLst>
          </p:cNvPr>
          <p:cNvSpPr/>
          <p:nvPr/>
        </p:nvSpPr>
        <p:spPr>
          <a:xfrm>
            <a:off x="859536" y="5340096"/>
            <a:ext cx="694944" cy="6949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59">
            <a:extLst>
              <a:ext uri="{FF2B5EF4-FFF2-40B4-BE49-F238E27FC236}">
                <a16:creationId xmlns:a16="http://schemas.microsoft.com/office/drawing/2014/main" id="{6D5AC6AD-1E3C-0523-A820-ED151109DB23}"/>
              </a:ext>
            </a:extLst>
          </p:cNvPr>
          <p:cNvSpPr/>
          <p:nvPr/>
        </p:nvSpPr>
        <p:spPr>
          <a:xfrm>
            <a:off x="1673352" y="53766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22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Florence Mehl</a:t>
            </a:r>
            <a:endParaRPr lang="en-US" sz="1370" dirty="0"/>
          </a:p>
        </p:txBody>
      </p:sp>
      <p:sp>
        <p:nvSpPr>
          <p:cNvPr id="75" name="Text 60">
            <a:extLst>
              <a:ext uri="{FF2B5EF4-FFF2-40B4-BE49-F238E27FC236}">
                <a16:creationId xmlns:a16="http://schemas.microsoft.com/office/drawing/2014/main" id="{584B8838-50CC-75C6-26E6-49E3D70ECB0F}"/>
              </a:ext>
            </a:extLst>
          </p:cNvPr>
          <p:cNvSpPr/>
          <p:nvPr/>
        </p:nvSpPr>
        <p:spPr>
          <a:xfrm>
            <a:off x="1673352" y="574243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8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Lausanne</a:t>
            </a:r>
            <a:endParaRPr lang="en-US" sz="930" dirty="0"/>
          </a:p>
        </p:txBody>
      </p:sp>
      <p:sp>
        <p:nvSpPr>
          <p:cNvPr id="76" name="Shape 61">
            <a:extLst>
              <a:ext uri="{FF2B5EF4-FFF2-40B4-BE49-F238E27FC236}">
                <a16:creationId xmlns:a16="http://schemas.microsoft.com/office/drawing/2014/main" id="{000BBBD1-622A-CFA4-4596-611FB553FBA8}"/>
              </a:ext>
            </a:extLst>
          </p:cNvPr>
          <p:cNvSpPr/>
          <p:nvPr/>
        </p:nvSpPr>
        <p:spPr>
          <a:xfrm>
            <a:off x="4572000" y="5212080"/>
            <a:ext cx="358444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CE4E7"/>
            </a:solidFill>
            <a:prstDash val="solid"/>
          </a:ln>
          <a:effectLst>
            <a:outerShdw blurRad="12700" dist="50800" dir="2700000" algn="bl" rotWithShape="0">
              <a:srgbClr val="C8D0D4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77" name="Shape 62">
            <a:extLst>
              <a:ext uri="{FF2B5EF4-FFF2-40B4-BE49-F238E27FC236}">
                <a16:creationId xmlns:a16="http://schemas.microsoft.com/office/drawing/2014/main" id="{16F06729-5726-BEF2-BCCA-696C02C2A6A9}"/>
              </a:ext>
            </a:extLst>
          </p:cNvPr>
          <p:cNvSpPr/>
          <p:nvPr/>
        </p:nvSpPr>
        <p:spPr>
          <a:xfrm>
            <a:off x="4718304" y="5340096"/>
            <a:ext cx="694944" cy="694944"/>
          </a:xfrm>
          <a:prstGeom prst="ellipse">
            <a:avLst/>
          </a:prstGeom>
          <a:solidFill>
            <a:srgbClr val="5AA89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63">
            <a:extLst>
              <a:ext uri="{FF2B5EF4-FFF2-40B4-BE49-F238E27FC236}">
                <a16:creationId xmlns:a16="http://schemas.microsoft.com/office/drawing/2014/main" id="{333C639F-D331-CE03-F524-459F8C2567FA}"/>
              </a:ext>
            </a:extLst>
          </p:cNvPr>
          <p:cNvSpPr/>
          <p:nvPr/>
        </p:nvSpPr>
        <p:spPr>
          <a:xfrm>
            <a:off x="4718304" y="55595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JM</a:t>
            </a:r>
            <a:endParaRPr lang="en-US" sz="1020" dirty="0"/>
          </a:p>
        </p:txBody>
      </p:sp>
      <p:pic>
        <p:nvPicPr>
          <p:cNvPr id="79" name="Image 10" descr="/mnt/data/ph_11.png">
            <a:extLst>
              <a:ext uri="{FF2B5EF4-FFF2-40B4-BE49-F238E27FC236}">
                <a16:creationId xmlns:a16="http://schemas.microsoft.com/office/drawing/2014/main" id="{0CDB7485-E3C7-2176-C6F7-8018DAA83A51}"/>
              </a:ext>
            </a:extLst>
          </p:cNvPr>
          <p:cNvPicPr>
            <a:picLocks noChangeAspect="1"/>
          </p:cNvPicPr>
          <p:nvPr/>
        </p:nvPicPr>
        <p:blipFill>
          <a:blip r:link="rId13"/>
          <a:stretch>
            <a:fillRect/>
          </a:stretch>
        </p:blipFill>
        <p:spPr>
          <a:xfrm>
            <a:off x="4718304" y="5340096"/>
            <a:ext cx="694944" cy="694944"/>
          </a:xfrm>
          <a:prstGeom prst="ellipse">
            <a:avLst/>
          </a:prstGeom>
        </p:spPr>
      </p:pic>
      <p:sp>
        <p:nvSpPr>
          <p:cNvPr id="80" name="Shape 64">
            <a:extLst>
              <a:ext uri="{FF2B5EF4-FFF2-40B4-BE49-F238E27FC236}">
                <a16:creationId xmlns:a16="http://schemas.microsoft.com/office/drawing/2014/main" id="{E20B7BC6-2439-14F7-ADAE-1C59FEB651CF}"/>
              </a:ext>
            </a:extLst>
          </p:cNvPr>
          <p:cNvSpPr/>
          <p:nvPr/>
        </p:nvSpPr>
        <p:spPr>
          <a:xfrm>
            <a:off x="4718304" y="5340096"/>
            <a:ext cx="694944" cy="6949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 65">
            <a:extLst>
              <a:ext uri="{FF2B5EF4-FFF2-40B4-BE49-F238E27FC236}">
                <a16:creationId xmlns:a16="http://schemas.microsoft.com/office/drawing/2014/main" id="{B9C2BDE1-3B6D-7CE7-983A-6CCE06900FCC}"/>
              </a:ext>
            </a:extLst>
          </p:cNvPr>
          <p:cNvSpPr/>
          <p:nvPr/>
        </p:nvSpPr>
        <p:spPr>
          <a:xfrm>
            <a:off x="5532120" y="53766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22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Jérémy Monteiro</a:t>
            </a:r>
            <a:endParaRPr lang="en-US" sz="1370" dirty="0"/>
          </a:p>
        </p:txBody>
      </p:sp>
      <p:sp>
        <p:nvSpPr>
          <p:cNvPr id="82" name="Text 66">
            <a:extLst>
              <a:ext uri="{FF2B5EF4-FFF2-40B4-BE49-F238E27FC236}">
                <a16:creationId xmlns:a16="http://schemas.microsoft.com/office/drawing/2014/main" id="{5627406E-0D09-475A-3F0C-3FC3FBC6227C}"/>
              </a:ext>
            </a:extLst>
          </p:cNvPr>
          <p:cNvSpPr/>
          <p:nvPr/>
        </p:nvSpPr>
        <p:spPr>
          <a:xfrm>
            <a:off x="5532120" y="574243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8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Tours</a:t>
            </a:r>
            <a:endParaRPr lang="en-US" sz="930" dirty="0"/>
          </a:p>
        </p:txBody>
      </p:sp>
      <p:sp>
        <p:nvSpPr>
          <p:cNvPr id="83" name="Shape 67">
            <a:extLst>
              <a:ext uri="{FF2B5EF4-FFF2-40B4-BE49-F238E27FC236}">
                <a16:creationId xmlns:a16="http://schemas.microsoft.com/office/drawing/2014/main" id="{EA2B3247-884E-0160-E6AE-31934DD5DC57}"/>
              </a:ext>
            </a:extLst>
          </p:cNvPr>
          <p:cNvSpPr/>
          <p:nvPr/>
        </p:nvSpPr>
        <p:spPr>
          <a:xfrm>
            <a:off x="8430768" y="5212080"/>
            <a:ext cx="3584448" cy="950976"/>
          </a:xfrm>
          <a:prstGeom prst="roundRect">
            <a:avLst>
              <a:gd name="adj" fmla="val 7692"/>
            </a:avLst>
          </a:prstGeom>
          <a:solidFill>
            <a:schemeClr val="accent2">
              <a:lumMod val="20000"/>
              <a:lumOff val="80000"/>
            </a:schemeClr>
          </a:solidFill>
          <a:ln w="15240">
            <a:solidFill>
              <a:schemeClr val="accent2"/>
            </a:solidFill>
            <a:prstDash val="solid"/>
          </a:ln>
          <a:effectLst>
            <a:outerShdw blurRad="12700" dist="50800" dir="2700000" algn="bl" rotWithShape="0">
              <a:srgbClr val="C8D0D4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4" name="Shape 68">
            <a:extLst>
              <a:ext uri="{FF2B5EF4-FFF2-40B4-BE49-F238E27FC236}">
                <a16:creationId xmlns:a16="http://schemas.microsoft.com/office/drawing/2014/main" id="{C359707C-FEBD-7309-7946-FB60FF63AFFF}"/>
              </a:ext>
            </a:extLst>
          </p:cNvPr>
          <p:cNvSpPr/>
          <p:nvPr/>
        </p:nvSpPr>
        <p:spPr>
          <a:xfrm>
            <a:off x="8577072" y="5340096"/>
            <a:ext cx="694944" cy="694944"/>
          </a:xfrm>
          <a:prstGeom prst="ellipse">
            <a:avLst/>
          </a:prstGeom>
          <a:solidFill>
            <a:srgbClr val="214E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Text 69">
            <a:extLst>
              <a:ext uri="{FF2B5EF4-FFF2-40B4-BE49-F238E27FC236}">
                <a16:creationId xmlns:a16="http://schemas.microsoft.com/office/drawing/2014/main" id="{4921B5F2-77E7-5B21-22A2-6D289D6DDB0F}"/>
              </a:ext>
            </a:extLst>
          </p:cNvPr>
          <p:cNvSpPr/>
          <p:nvPr/>
        </p:nvSpPr>
        <p:spPr>
          <a:xfrm>
            <a:off x="8577072" y="55595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</a:t>
            </a:r>
            <a:endParaRPr lang="en-US" sz="1020" dirty="0"/>
          </a:p>
        </p:txBody>
      </p:sp>
      <p:pic>
        <p:nvPicPr>
          <p:cNvPr id="86" name="Image 11" descr="/mnt/data/ph_12.png">
            <a:extLst>
              <a:ext uri="{FF2B5EF4-FFF2-40B4-BE49-F238E27FC236}">
                <a16:creationId xmlns:a16="http://schemas.microsoft.com/office/drawing/2014/main" id="{69291B43-AC91-7D7B-5711-DE8348C294EE}"/>
              </a:ext>
            </a:extLst>
          </p:cNvPr>
          <p:cNvPicPr>
            <a:picLocks noChangeAspect="1"/>
          </p:cNvPicPr>
          <p:nvPr/>
        </p:nvPicPr>
        <p:blipFill>
          <a:blip r:link="rId14"/>
          <a:stretch>
            <a:fillRect/>
          </a:stretch>
        </p:blipFill>
        <p:spPr>
          <a:xfrm>
            <a:off x="8577072" y="5340096"/>
            <a:ext cx="694944" cy="694944"/>
          </a:xfrm>
          <a:prstGeom prst="ellipse">
            <a:avLst/>
          </a:prstGeom>
        </p:spPr>
      </p:pic>
      <p:sp>
        <p:nvSpPr>
          <p:cNvPr id="87" name="Shape 70">
            <a:extLst>
              <a:ext uri="{FF2B5EF4-FFF2-40B4-BE49-F238E27FC236}">
                <a16:creationId xmlns:a16="http://schemas.microsoft.com/office/drawing/2014/main" id="{9201631F-0F4B-D4F2-61A6-7DEA86703A04}"/>
              </a:ext>
            </a:extLst>
          </p:cNvPr>
          <p:cNvSpPr/>
          <p:nvPr/>
        </p:nvSpPr>
        <p:spPr>
          <a:xfrm>
            <a:off x="8577072" y="5340096"/>
            <a:ext cx="694944" cy="6949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71">
            <a:extLst>
              <a:ext uri="{FF2B5EF4-FFF2-40B4-BE49-F238E27FC236}">
                <a16:creationId xmlns:a16="http://schemas.microsoft.com/office/drawing/2014/main" id="{99E33C93-C446-18C0-EABE-414714CDBF2D}"/>
              </a:ext>
            </a:extLst>
          </p:cNvPr>
          <p:cNvSpPr/>
          <p:nvPr/>
        </p:nvSpPr>
        <p:spPr>
          <a:xfrm>
            <a:off x="9390888" y="53766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22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Raphael Thuillier</a:t>
            </a:r>
            <a:endParaRPr lang="en-US" sz="1370" dirty="0"/>
          </a:p>
        </p:txBody>
      </p:sp>
      <p:sp>
        <p:nvSpPr>
          <p:cNvPr id="89" name="Text 72">
            <a:extLst>
              <a:ext uri="{FF2B5EF4-FFF2-40B4-BE49-F238E27FC236}">
                <a16:creationId xmlns:a16="http://schemas.microsoft.com/office/drawing/2014/main" id="{5CC932B1-EC83-7414-0030-8090D3E5D4A7}"/>
              </a:ext>
            </a:extLst>
          </p:cNvPr>
          <p:cNvSpPr/>
          <p:nvPr/>
        </p:nvSpPr>
        <p:spPr>
          <a:xfrm>
            <a:off x="9390888" y="574243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8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Poitiers</a:t>
            </a:r>
            <a:endParaRPr lang="en-US" sz="930" dirty="0"/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CA70B0CC-7BE3-CFBB-706E-B9F08E9D1E2E}"/>
              </a:ext>
            </a:extLst>
          </p:cNvPr>
          <p:cNvSpPr txBox="1"/>
          <p:nvPr/>
        </p:nvSpPr>
        <p:spPr>
          <a:xfrm>
            <a:off x="7543780" y="5901446"/>
            <a:ext cx="6126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solidFill>
                  <a:schemeClr val="accent3"/>
                </a:solidFill>
              </a:rPr>
              <a:t>Absent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F865923E-9A75-1510-A4DA-1DA7AA51A772}"/>
              </a:ext>
            </a:extLst>
          </p:cNvPr>
          <p:cNvSpPr txBox="1"/>
          <p:nvPr/>
        </p:nvSpPr>
        <p:spPr>
          <a:xfrm>
            <a:off x="7543780" y="4736592"/>
            <a:ext cx="6126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solidFill>
                  <a:schemeClr val="accent3"/>
                </a:solidFill>
              </a:rPr>
              <a:t>Absent</a:t>
            </a:r>
          </a:p>
        </p:txBody>
      </p:sp>
      <p:pic>
        <p:nvPicPr>
          <p:cNvPr id="92" name="Image 91" descr="Ligne Noire Icône Pour L'inscription, La Nomination Et L ...">
            <a:extLst>
              <a:ext uri="{FF2B5EF4-FFF2-40B4-BE49-F238E27FC236}">
                <a16:creationId xmlns:a16="http://schemas.microsoft.com/office/drawing/2014/main" id="{3E03CB8F-55B5-60C5-90D7-6EB2767B84D4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11144425" y="2877018"/>
            <a:ext cx="793067" cy="793067"/>
          </a:xfrm>
          <a:prstGeom prst="rect">
            <a:avLst/>
          </a:prstGeom>
        </p:spPr>
      </p:pic>
      <p:pic>
        <p:nvPicPr>
          <p:cNvPr id="93" name="Image 92" descr="Ligne Noire Icône Pour L'inscription, La Nomination Et L ...">
            <a:extLst>
              <a:ext uri="{FF2B5EF4-FFF2-40B4-BE49-F238E27FC236}">
                <a16:creationId xmlns:a16="http://schemas.microsoft.com/office/drawing/2014/main" id="{9CEBBDD4-E232-D676-E07F-29EC31024ACF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3364992" y="5291034"/>
            <a:ext cx="793067" cy="793067"/>
          </a:xfrm>
          <a:prstGeom prst="rect">
            <a:avLst/>
          </a:prstGeom>
        </p:spPr>
      </p:pic>
      <p:pic>
        <p:nvPicPr>
          <p:cNvPr id="94" name="Image 93" descr="56 mille Images et Photos de Bus logo Libres de Droits ...">
            <a:extLst>
              <a:ext uri="{FF2B5EF4-FFF2-40B4-BE49-F238E27FC236}">
                <a16:creationId xmlns:a16="http://schemas.microsoft.com/office/drawing/2014/main" id="{1C485431-392F-530D-905D-F0B6D2EAB23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81750" t="21539" b="25520"/>
          <a:stretch>
            <a:fillRect/>
          </a:stretch>
        </p:blipFill>
        <p:spPr>
          <a:xfrm>
            <a:off x="11245244" y="5372716"/>
            <a:ext cx="769972" cy="714739"/>
          </a:xfrm>
          <a:prstGeom prst="rect">
            <a:avLst/>
          </a:prstGeom>
        </p:spPr>
      </p:pic>
      <p:pic>
        <p:nvPicPr>
          <p:cNvPr id="95" name="Image 94" descr="Accueil - CC Webnet">
            <a:extLst>
              <a:ext uri="{FF2B5EF4-FFF2-40B4-BE49-F238E27FC236}">
                <a16:creationId xmlns:a16="http://schemas.microsoft.com/office/drawing/2014/main" id="{1BF1B953-CB59-995D-DBB8-88211EA9171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2989401" y="4090886"/>
            <a:ext cx="1152831" cy="757711"/>
          </a:xfrm>
          <a:prstGeom prst="rect">
            <a:avLst/>
          </a:prstGeom>
        </p:spPr>
      </p:pic>
      <p:pic>
        <p:nvPicPr>
          <p:cNvPr id="96" name="Image 95" descr="Accueil - CC Webnet">
            <a:extLst>
              <a:ext uri="{FF2B5EF4-FFF2-40B4-BE49-F238E27FC236}">
                <a16:creationId xmlns:a16="http://schemas.microsoft.com/office/drawing/2014/main" id="{F6885A82-F2F8-4ED5-471D-51EDBBFAEC8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6848169" y="5272136"/>
            <a:ext cx="1152831" cy="757711"/>
          </a:xfrm>
          <a:prstGeom prst="rect">
            <a:avLst/>
          </a:prstGeom>
        </p:spPr>
      </p:pic>
      <p:sp>
        <p:nvSpPr>
          <p:cNvPr id="97" name="ZoneTexte 96">
            <a:extLst>
              <a:ext uri="{FF2B5EF4-FFF2-40B4-BE49-F238E27FC236}">
                <a16:creationId xmlns:a16="http://schemas.microsoft.com/office/drawing/2014/main" id="{A8660339-D529-CF6E-393F-31D3561491DB}"/>
              </a:ext>
            </a:extLst>
          </p:cNvPr>
          <p:cNvSpPr txBox="1"/>
          <p:nvPr/>
        </p:nvSpPr>
        <p:spPr>
          <a:xfrm>
            <a:off x="4112222" y="6552333"/>
            <a:ext cx="2848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/>
              <a:t>Conférencier également en orange</a:t>
            </a:r>
          </a:p>
        </p:txBody>
      </p:sp>
      <p:pic>
        <p:nvPicPr>
          <p:cNvPr id="98" name="Image 97" descr="L'importance du travail en équipe : clé du succès pour l'entreprise ?">
            <a:extLst>
              <a:ext uri="{FF2B5EF4-FFF2-40B4-BE49-F238E27FC236}">
                <a16:creationId xmlns:a16="http://schemas.microsoft.com/office/drawing/2014/main" id="{C456DC6B-3760-F8D2-72E7-59D88ABECEF8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b="15395"/>
          <a:stretch>
            <a:fillRect/>
          </a:stretch>
        </p:blipFill>
        <p:spPr>
          <a:xfrm>
            <a:off x="9874590" y="199409"/>
            <a:ext cx="2138290" cy="1356830"/>
          </a:xfrm>
          <a:prstGeom prst="rect">
            <a:avLst/>
          </a:prstGeom>
        </p:spPr>
      </p:pic>
      <p:sp>
        <p:nvSpPr>
          <p:cNvPr id="99" name="ZoneTexte 98">
            <a:extLst>
              <a:ext uri="{FF2B5EF4-FFF2-40B4-BE49-F238E27FC236}">
                <a16:creationId xmlns:a16="http://schemas.microsoft.com/office/drawing/2014/main" id="{44DE1182-D452-146E-82D8-FC2CBE49C20A}"/>
              </a:ext>
            </a:extLst>
          </p:cNvPr>
          <p:cNvSpPr txBox="1"/>
          <p:nvPr/>
        </p:nvSpPr>
        <p:spPr>
          <a:xfrm>
            <a:off x="8822822" y="567956"/>
            <a:ext cx="89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MERCI </a:t>
            </a:r>
          </a:p>
        </p:txBody>
      </p:sp>
    </p:spTree>
    <p:extLst>
      <p:ext uri="{BB962C8B-B14F-4D97-AF65-F5344CB8AC3E}">
        <p14:creationId xmlns:p14="http://schemas.microsoft.com/office/powerpoint/2010/main" val="3246919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3">
            <a:extLst>
              <a:ext uri="{FF2B5EF4-FFF2-40B4-BE49-F238E27FC236}">
                <a16:creationId xmlns:a16="http://schemas.microsoft.com/office/drawing/2014/main" id="{FF0CF197-F52A-48C8-9AB3-EB7FC0FF848C}"/>
              </a:ext>
            </a:extLst>
          </p:cNvPr>
          <p:cNvSpPr/>
          <p:nvPr/>
        </p:nvSpPr>
        <p:spPr>
          <a:xfrm>
            <a:off x="9787475" y="475488"/>
            <a:ext cx="2340000" cy="6291072"/>
          </a:xfrm>
          <a:prstGeom prst="roundRect">
            <a:avLst>
              <a:gd name="adj" fmla="val 126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519E9B85-10E5-41BD-A744-5959118EEDAB}"/>
              </a:ext>
            </a:extLst>
          </p:cNvPr>
          <p:cNvSpPr/>
          <p:nvPr/>
        </p:nvSpPr>
        <p:spPr>
          <a:xfrm>
            <a:off x="7382879" y="475488"/>
            <a:ext cx="2340000" cy="6291072"/>
          </a:xfrm>
          <a:prstGeom prst="roundRect">
            <a:avLst>
              <a:gd name="adj" fmla="val 126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F53B2DC1-6333-4F34-94DD-36044499FB4B}"/>
              </a:ext>
            </a:extLst>
          </p:cNvPr>
          <p:cNvSpPr/>
          <p:nvPr/>
        </p:nvSpPr>
        <p:spPr>
          <a:xfrm>
            <a:off x="4870283" y="475488"/>
            <a:ext cx="2448000" cy="6291072"/>
          </a:xfrm>
          <a:prstGeom prst="roundRect">
            <a:avLst>
              <a:gd name="adj" fmla="val 126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5F70EBD4-DDB8-4232-8AF8-F31E5CEEE830}"/>
              </a:ext>
            </a:extLst>
          </p:cNvPr>
          <p:cNvSpPr/>
          <p:nvPr/>
        </p:nvSpPr>
        <p:spPr>
          <a:xfrm>
            <a:off x="2465687" y="475488"/>
            <a:ext cx="2340000" cy="6291072"/>
          </a:xfrm>
          <a:prstGeom prst="roundRect">
            <a:avLst>
              <a:gd name="adj" fmla="val 126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Shape 0"/>
          <p:cNvSpPr/>
          <p:nvPr/>
        </p:nvSpPr>
        <p:spPr>
          <a:xfrm>
            <a:off x="45720" y="73152"/>
            <a:ext cx="120975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10896" y="114300"/>
            <a:ext cx="3657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PROGRAM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863840" y="155448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Thematic school 2 Metabolomics &amp; Human Health - #ET2RFMF · </a:t>
            </a:r>
            <a:r>
              <a:rPr lang="en-US" sz="800" dirty="0" err="1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Aussois</a:t>
            </a: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5-9 October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1091" y="475488"/>
            <a:ext cx="2340000" cy="6291072"/>
          </a:xfrm>
          <a:prstGeom prst="roundRect">
            <a:avLst>
              <a:gd name="adj" fmla="val 126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3854" y="473729"/>
            <a:ext cx="2340000" cy="292608"/>
          </a:xfrm>
          <a:prstGeom prst="roundRect">
            <a:avLst/>
          </a:prstGeom>
          <a:solidFill>
            <a:srgbClr val="2D8AA6"/>
          </a:solidFill>
          <a:ln w="12700">
            <a:solidFill>
              <a:srgbClr val="2D8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Text 5"/>
          <p:cNvSpPr/>
          <p:nvPr/>
        </p:nvSpPr>
        <p:spPr>
          <a:xfrm>
            <a:off x="63854" y="530791"/>
            <a:ext cx="2340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05/10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7746" y="473729"/>
            <a:ext cx="2340000" cy="292608"/>
          </a:xfrm>
          <a:prstGeom prst="roundRect">
            <a:avLst/>
          </a:prstGeom>
          <a:solidFill>
            <a:srgbClr val="35A79C"/>
          </a:solidFill>
          <a:ln w="12700">
            <a:solidFill>
              <a:srgbClr val="35A7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467746" y="530791"/>
            <a:ext cx="2340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06/10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71638" y="473729"/>
            <a:ext cx="2448000" cy="292608"/>
          </a:xfrm>
          <a:prstGeom prst="roundRect">
            <a:avLst/>
          </a:prstGeom>
          <a:solidFill>
            <a:srgbClr val="7258A6"/>
          </a:solidFill>
          <a:ln w="12700">
            <a:solidFill>
              <a:srgbClr val="725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71638" y="530791"/>
            <a:ext cx="2448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07/10 </a:t>
            </a:r>
            <a:r>
              <a:rPr lang="en-US" sz="1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(parallel sessions)</a:t>
            </a:r>
            <a:endParaRPr lang="en-US" sz="1000" i="1" dirty="0"/>
          </a:p>
        </p:txBody>
      </p:sp>
      <p:sp>
        <p:nvSpPr>
          <p:cNvPr id="27" name="Shape 25"/>
          <p:cNvSpPr/>
          <p:nvPr/>
        </p:nvSpPr>
        <p:spPr>
          <a:xfrm>
            <a:off x="7383530" y="473729"/>
            <a:ext cx="2340000" cy="292608"/>
          </a:xfrm>
          <a:prstGeom prst="roundRect">
            <a:avLst/>
          </a:prstGeom>
          <a:solidFill>
            <a:srgbClr val="D8743F"/>
          </a:solidFill>
          <a:ln w="12700">
            <a:solidFill>
              <a:srgbClr val="D874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383530" y="530791"/>
            <a:ext cx="2340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08/10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87422" y="473729"/>
            <a:ext cx="2340000" cy="292608"/>
          </a:xfrm>
          <a:prstGeom prst="roundRect">
            <a:avLst/>
          </a:prstGeom>
          <a:solidFill>
            <a:srgbClr val="2F8A61"/>
          </a:solidFill>
          <a:ln w="12700">
            <a:solidFill>
              <a:srgbClr val="2F8A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9787422" y="530791"/>
            <a:ext cx="2340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09/10</a:t>
            </a:r>
            <a:endParaRPr lang="en-US" sz="1000" dirty="0"/>
          </a:p>
        </p:txBody>
      </p:sp>
      <p:graphicFrame>
        <p:nvGraphicFramePr>
          <p:cNvPr id="47" name="Tableau 10">
            <a:extLst>
              <a:ext uri="{FF2B5EF4-FFF2-40B4-BE49-F238E27FC236}">
                <a16:creationId xmlns:a16="http://schemas.microsoft.com/office/drawing/2014/main" id="{DC430CB0-EE10-461C-AF7B-75F7BE8D57F0}"/>
              </a:ext>
            </a:extLst>
          </p:cNvPr>
          <p:cNvGraphicFramePr>
            <a:graphicFrameLocks noGrp="1"/>
          </p:cNvGraphicFramePr>
          <p:nvPr/>
        </p:nvGraphicFramePr>
        <p:xfrm>
          <a:off x="9836000" y="767392"/>
          <a:ext cx="2196000" cy="57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712379929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06626673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F8A61"/>
                          </a:solidFill>
                          <a:ea typeface="Arial" pitchFamily="34" charset="-122"/>
                          <a:cs typeface="Arial" pitchFamily="34" charset="-120"/>
                        </a:rPr>
                        <a:t>Ontologies and FAIR data integration</a:t>
                      </a:r>
                    </a:p>
                    <a:p>
                      <a:pPr marL="0" indent="0" algn="ctr">
                        <a:buNone/>
                      </a:pPr>
                      <a:endParaRPr lang="fr-FR" sz="1000" b="1" dirty="0">
                        <a:solidFill>
                          <a:srgbClr val="2F8A6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019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09:00-10:15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Biological contextualization of analytical data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J.-C. Martin</a:t>
                      </a: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7109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10:15-10:30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Coffee Break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67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10:30-11:45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Ontologies and controlled vocabulary for FAIR and AI-ready data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M. Weber</a:t>
                      </a: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0141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11:45-12:00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Week debrief and participant survey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A. Le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Gouellec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95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9141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b="1" i="1" dirty="0">
                          <a:solidFill>
                            <a:srgbClr val="8A6D2F"/>
                          </a:solidFill>
                        </a:rPr>
                        <a:t>12:00-14:00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i="1" noProof="0" dirty="0">
                          <a:solidFill>
                            <a:srgbClr val="8A6D2F"/>
                          </a:solidFill>
                        </a:rPr>
                        <a:t>Lunch-box takeaway &amp; departure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69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9815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3802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575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7676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1461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1258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0469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8037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9703874"/>
                  </a:ext>
                </a:extLst>
              </a:tr>
            </a:tbl>
          </a:graphicData>
        </a:graphic>
      </p:graphicFrame>
      <p:graphicFrame>
        <p:nvGraphicFramePr>
          <p:cNvPr id="25" name="Tableau 10">
            <a:extLst>
              <a:ext uri="{FF2B5EF4-FFF2-40B4-BE49-F238E27FC236}">
                <a16:creationId xmlns:a16="http://schemas.microsoft.com/office/drawing/2014/main" id="{85A3A776-B2FE-41A9-BED4-4A120A473530}"/>
              </a:ext>
            </a:extLst>
          </p:cNvPr>
          <p:cNvGraphicFramePr>
            <a:graphicFrameLocks noGrp="1"/>
          </p:cNvGraphicFramePr>
          <p:nvPr/>
        </p:nvGraphicFramePr>
        <p:xfrm>
          <a:off x="7480000" y="768096"/>
          <a:ext cx="2196000" cy="585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712379929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06626673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spc="-30" dirty="0">
                          <a:solidFill>
                            <a:srgbClr val="D8743F"/>
                          </a:solidFill>
                          <a:ea typeface="Arial" pitchFamily="34" charset="-122"/>
                          <a:cs typeface="Arial" pitchFamily="34" charset="-120"/>
                        </a:rPr>
                        <a:t>Data mining, multivariate analysis and AI for metabolomics discovery</a:t>
                      </a:r>
                    </a:p>
                    <a:p>
                      <a:pPr marL="0" indent="0" algn="ctr">
                        <a:buNone/>
                      </a:pPr>
                      <a:endParaRPr lang="en-US" sz="1000" b="1" spc="-30" dirty="0">
                        <a:solidFill>
                          <a:srgbClr val="D8743F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019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09:00-11:00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Repository-based metabolomics discovery: PAN-REDU, FASST, </a:t>
                      </a:r>
                      <a:r>
                        <a:rPr lang="en-US" sz="800" i="0" dirty="0" err="1">
                          <a:solidFill>
                            <a:schemeClr val="tx2"/>
                          </a:solidFill>
                        </a:rPr>
                        <a:t>MicrobeMASST</a:t>
                      </a:r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 and related tools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V. Charron Lamoureux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7109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6780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11:00-11:15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Coffee Break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67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11:15-12:30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en-US" sz="800" i="0" dirty="0" err="1">
                          <a:solidFill>
                            <a:schemeClr val="tx2"/>
                          </a:solidFill>
                        </a:rPr>
                        <a:t>Multiomics</a:t>
                      </a:r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 / Multiblock data integration: hands-on session (part 1)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F.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Mehl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0141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95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12:30-14:00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Lunch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815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3802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14:00-15:00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 err="1">
                          <a:solidFill>
                            <a:schemeClr val="tx2"/>
                          </a:solidFill>
                        </a:rPr>
                        <a:t>Multiomics</a:t>
                      </a:r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 / Multiblock data integration: hands-on session (part 2)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F.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Mehl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575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15:00-15:30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Coffee Break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461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15:30-16:30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LLM workshop: applications of large language models in metabolomics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All participants</a:t>
                      </a:r>
                    </a:p>
                    <a:p>
                      <a:r>
                        <a:rPr lang="en-US" sz="800" b="1" i="1" dirty="0">
                          <a:solidFill>
                            <a:schemeClr val="tx2"/>
                          </a:solidFill>
                        </a:rPr>
                        <a:t>Outdoor workshop led by R. </a:t>
                      </a:r>
                      <a:r>
                        <a:rPr lang="en-US" sz="800" b="1" i="1" dirty="0" err="1">
                          <a:solidFill>
                            <a:schemeClr val="tx2"/>
                          </a:solidFill>
                        </a:rPr>
                        <a:t>Thuillier</a:t>
                      </a:r>
                      <a:endParaRPr lang="fr-FR" sz="800" b="1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0469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16:30-18:00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Informal discussion and networking session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All participants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124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8037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800" b="1" i="1" kern="1200" dirty="0">
                          <a:solidFill>
                            <a:srgbClr val="8A6D2F"/>
                          </a:solidFill>
                          <a:latin typeface="+mn-lt"/>
                          <a:ea typeface="Arial" pitchFamily="34" charset="-122"/>
                          <a:cs typeface="Arial" pitchFamily="34" charset="-120"/>
                        </a:rPr>
                        <a:t>19:00 </a:t>
                      </a:r>
                      <a:endParaRPr lang="fr-FR" sz="800" b="1" i="1" kern="1200" dirty="0">
                        <a:solidFill>
                          <a:srgbClr val="8A6D2F"/>
                        </a:solidFill>
                        <a:latin typeface="+mn-lt"/>
                        <a:cs typeface="Arial" pitchFamily="34" charset="-12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i="1" kern="1200" noProof="0" dirty="0">
                          <a:solidFill>
                            <a:srgbClr val="8A6D2F"/>
                          </a:solidFill>
                          <a:latin typeface="+mn-lt"/>
                          <a:ea typeface="Arial" pitchFamily="34" charset="-122"/>
                          <a:cs typeface="Arial" pitchFamily="34" charset="-120"/>
                        </a:rPr>
                        <a:t>Diner</a:t>
                      </a:r>
                      <a:endParaRPr lang="fr-FR" sz="800" b="1" i="1" kern="1200" noProof="0" dirty="0">
                        <a:solidFill>
                          <a:srgbClr val="8A6D2F"/>
                        </a:solidFill>
                        <a:latin typeface="+mn-lt"/>
                        <a:cs typeface="Arial" pitchFamily="34" charset="-12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703874"/>
                  </a:ext>
                </a:extLst>
              </a:tr>
            </a:tbl>
          </a:graphicData>
        </a:graphic>
      </p:graphicFrame>
      <p:graphicFrame>
        <p:nvGraphicFramePr>
          <p:cNvPr id="26" name="Tableau 10">
            <a:extLst>
              <a:ext uri="{FF2B5EF4-FFF2-40B4-BE49-F238E27FC236}">
                <a16:creationId xmlns:a16="http://schemas.microsoft.com/office/drawing/2014/main" id="{D63F2507-CB3B-46E5-9319-010A45DABBDD}"/>
              </a:ext>
            </a:extLst>
          </p:cNvPr>
          <p:cNvGraphicFramePr>
            <a:graphicFrameLocks noGrp="1"/>
          </p:cNvGraphicFramePr>
          <p:nvPr/>
        </p:nvGraphicFramePr>
        <p:xfrm>
          <a:off x="4872000" y="770557"/>
          <a:ext cx="2448000" cy="597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3712379929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06626673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spc="-20" dirty="0">
                          <a:solidFill>
                            <a:srgbClr val="7258A6"/>
                          </a:solidFill>
                          <a:ea typeface="Arial" pitchFamily="34" charset="-122"/>
                          <a:cs typeface="Arial" pitchFamily="34" charset="-120"/>
                        </a:rPr>
                        <a:t>Computational strategies for metabolite annotation and molecular networking</a:t>
                      </a:r>
                    </a:p>
                    <a:p>
                      <a:pPr marL="0" indent="0" algn="ctr">
                        <a:buNone/>
                      </a:pPr>
                      <a:endParaRPr lang="fr-FR" sz="1000" b="1" spc="-20" dirty="0">
                        <a:solidFill>
                          <a:srgbClr val="7258A6"/>
                        </a:solidFill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01900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 MS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58A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Session MS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37109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09:15-10:30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MZmine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: Lecture</a:t>
                      </a: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A.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Rutz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067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10:30-10:45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Coffee Break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141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10:45-12:00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MZmine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: Workshop</a:t>
                      </a: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A.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Rutz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95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12:00-13:30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Lunch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69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13:30-15:00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MetGEM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: </a:t>
                      </a:r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molecular networking and network annotation (Lecture)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D.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Touboul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9815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15:00-15:15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Coffee Break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802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15:15-16:30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MetGEM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: Workshop</a:t>
                      </a: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D.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Touboul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575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16:30-17:15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Context-based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annotation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A.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Rutz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767634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 NMR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58A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lang="fr-FR" sz="800" i="0" dirty="0"/>
                        <a:t>Session RMN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721461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09:15-10:30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Best practices for sampling and sample preparation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G. Bertho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1258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10:30-10:45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Coffee Break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39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10:45-12:00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NMR data (pre/post)processing: from spectra to metabolites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C. Goossens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3146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12:00-13:30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Lunch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404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13:30-15:00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Two-dimensional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NMR in 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clinical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metabolomics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M.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Letertre</a:t>
                      </a:r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 et P. De Tullio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5630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15:00-15:15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Coffee Break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95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15:15-16:30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NMR-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based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quantification in 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clinical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metabolomics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C. Goossens et G. Bertho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8389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16:30-17:15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5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NMR and MS: complementary approaches for </a:t>
                      </a:r>
                      <a:r>
                        <a:rPr lang="en-US" sz="800" i="0" dirty="0" err="1">
                          <a:solidFill>
                            <a:schemeClr val="tx2"/>
                          </a:solidFill>
                        </a:rPr>
                        <a:t>multiomics</a:t>
                      </a:r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 integration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M.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Letertre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5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0889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17:15-18:00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kern="1200" spc="-20" baseline="0" dirty="0">
                          <a:solidFill>
                            <a:srgbClr val="35A79C"/>
                          </a:solidFill>
                          <a:latin typeface="+mn-lt"/>
                          <a:ea typeface="+mn-ea"/>
                          <a:cs typeface="Arial" pitchFamily="34" charset="-120"/>
                        </a:rPr>
                        <a:t>(</a:t>
                      </a:r>
                      <a:r>
                        <a:rPr lang="fr-FR" sz="900" b="1" kern="1200" spc="-20" baseline="0" dirty="0" err="1">
                          <a:solidFill>
                            <a:srgbClr val="35A79C"/>
                          </a:solidFill>
                          <a:latin typeface="+mn-lt"/>
                          <a:cs typeface="Arial" pitchFamily="34" charset="-120"/>
                        </a:rPr>
                        <a:t>Cntd</a:t>
                      </a:r>
                      <a:r>
                        <a:rPr lang="fr-FR" sz="900" b="1" kern="1200" spc="-20" baseline="0" dirty="0">
                          <a:solidFill>
                            <a:srgbClr val="35A79C"/>
                          </a:solidFill>
                          <a:latin typeface="+mn-lt"/>
                          <a:cs typeface="Arial" pitchFamily="34" charset="-120"/>
                        </a:rPr>
                        <a:t> </a:t>
                      </a:r>
                      <a:r>
                        <a:rPr lang="fr-FR" sz="900" b="1" kern="1200" spc="-20" baseline="0" dirty="0" err="1">
                          <a:solidFill>
                            <a:srgbClr val="35A79C"/>
                          </a:solidFill>
                          <a:latin typeface="+mn-lt"/>
                          <a:cs typeface="Arial" pitchFamily="34" charset="-120"/>
                        </a:rPr>
                        <a:t>from</a:t>
                      </a:r>
                      <a:r>
                        <a:rPr lang="fr-FR" sz="900" b="1" kern="1200" spc="-20" baseline="0" dirty="0">
                          <a:solidFill>
                            <a:srgbClr val="35A79C"/>
                          </a:solidFill>
                          <a:latin typeface="+mn-lt"/>
                          <a:cs typeface="Arial" pitchFamily="34" charset="-120"/>
                        </a:rPr>
                        <a:t> Day 2</a:t>
                      </a:r>
                      <a:r>
                        <a:rPr lang="fr-FR" sz="900" b="1" kern="1200" dirty="0">
                          <a:solidFill>
                            <a:srgbClr val="35A79C"/>
                          </a:solidFill>
                          <a:latin typeface="+mn-lt"/>
                          <a:cs typeface="Arial" pitchFamily="34" charset="-120"/>
                        </a:rPr>
                        <a:t>)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5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Case study: a metabolomics study in human health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F.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Fauvelle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6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5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5302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b="1" i="1" kern="1200" dirty="0">
                          <a:solidFill>
                            <a:srgbClr val="8A6D2F"/>
                          </a:solidFill>
                          <a:latin typeface="+mn-lt"/>
                          <a:ea typeface="Arial" pitchFamily="34" charset="-122"/>
                          <a:cs typeface="Arial" pitchFamily="34" charset="-120"/>
                        </a:rPr>
                        <a:t>19:00 </a:t>
                      </a:r>
                      <a:endParaRPr lang="fr-FR" sz="800" b="1" i="1" kern="1200" dirty="0">
                        <a:solidFill>
                          <a:srgbClr val="8A6D2F"/>
                        </a:solidFill>
                        <a:latin typeface="+mn-lt"/>
                        <a:cs typeface="Arial" pitchFamily="34" charset="-120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i="1" kern="1200" noProof="0" dirty="0">
                          <a:solidFill>
                            <a:srgbClr val="8A6D2F"/>
                          </a:solidFill>
                          <a:latin typeface="+mn-lt"/>
                          <a:ea typeface="Arial" pitchFamily="34" charset="-122"/>
                          <a:cs typeface="Arial" pitchFamily="34" charset="-120"/>
                        </a:rPr>
                        <a:t>Diner</a:t>
                      </a:r>
                      <a:endParaRPr lang="fr-FR" sz="800" b="1" i="1" kern="1200" noProof="0" dirty="0">
                        <a:solidFill>
                          <a:srgbClr val="8A6D2F"/>
                        </a:solidFill>
                        <a:latin typeface="+mn-lt"/>
                        <a:cs typeface="Arial" pitchFamily="34" charset="-120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703874"/>
                  </a:ext>
                </a:extLst>
              </a:tr>
            </a:tbl>
          </a:graphicData>
        </a:graphic>
      </p:graphicFrame>
      <p:graphicFrame>
        <p:nvGraphicFramePr>
          <p:cNvPr id="29" name="Tableau 10">
            <a:extLst>
              <a:ext uri="{FF2B5EF4-FFF2-40B4-BE49-F238E27FC236}">
                <a16:creationId xmlns:a16="http://schemas.microsoft.com/office/drawing/2014/main" id="{BBF46AB0-8B81-40D5-A872-7B630113C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776952"/>
              </p:ext>
            </p:extLst>
          </p:nvPr>
        </p:nvGraphicFramePr>
        <p:xfrm>
          <a:off x="160000" y="768096"/>
          <a:ext cx="2196000" cy="5954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712379929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06626673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2D8AA6"/>
                          </a:solidFill>
                          <a:ea typeface="Arial" pitchFamily="34" charset="-122"/>
                          <a:cs typeface="Arial" pitchFamily="34" charset="-120"/>
                        </a:rPr>
                        <a:t>Introduction to clinical metabolomics and its applications in human health</a:t>
                      </a:r>
                      <a:endParaRPr lang="fr-FR" sz="1000" b="1" dirty="0">
                        <a:solidFill>
                          <a:srgbClr val="2D8AA6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019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7109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067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0141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4375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0752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b="1" i="1" dirty="0">
                          <a:solidFill>
                            <a:srgbClr val="8A6D2F"/>
                          </a:solidFill>
                          <a:cs typeface="Arial" pitchFamily="34" charset="-120"/>
                        </a:rPr>
                        <a:t>12:15-17:00</a:t>
                      </a:r>
                      <a:endParaRPr lang="fr-FR" sz="800" b="1" i="1" dirty="0">
                        <a:solidFill>
                          <a:srgbClr val="8A6D2F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1" i="1" dirty="0">
                          <a:solidFill>
                            <a:srgbClr val="8A6D2F"/>
                          </a:solidFill>
                          <a:cs typeface="Arial" pitchFamily="34" charset="-120"/>
                        </a:rPr>
                        <a:t>Welcome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802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  <a:cs typeface="Arial" pitchFamily="34" charset="-120"/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17:00-17:15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i="0" dirty="0">
                        <a:solidFill>
                          <a:schemeClr val="tx2"/>
                        </a:solidFill>
                        <a:cs typeface="Arial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i="0" dirty="0" err="1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Opening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 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remarks</a:t>
                      </a:r>
                      <a:endParaRPr lang="fr-FR" sz="800" i="0" dirty="0">
                        <a:solidFill>
                          <a:schemeClr val="tx2"/>
                        </a:solidFill>
                        <a:cs typeface="Arial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i="1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A. Le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Gouellec</a:t>
                      </a:r>
                      <a:endParaRPr lang="fr-FR" sz="800" i="1" dirty="0">
                        <a:solidFill>
                          <a:schemeClr val="tx2"/>
                        </a:solidFill>
                        <a:cs typeface="Arial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i="1" dirty="0">
                        <a:solidFill>
                          <a:schemeClr val="tx2"/>
                        </a:solidFill>
                        <a:cs typeface="Arial" pitchFamily="34" charset="-12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1461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17:15-18:00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Clinical metabolomics in healthcare: the perspective of a clinical biologist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G.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Grzych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336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18:00-18:45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Clinical metabolomics in healthcare: the industry perspective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A.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Limonciel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0940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18:45-19:30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Building a clinical research project: regulatory and data management aspects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P. Audoin</a:t>
                      </a: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2300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 i="1">
                          <a:solidFill>
                            <a:srgbClr val="8A6D2F"/>
                          </a:solidFill>
                          <a:ea typeface="Arial" pitchFamily="34" charset="-122"/>
                          <a:cs typeface="Arial" pitchFamily="34" charset="-120"/>
                        </a:rPr>
                        <a:t>19:45 </a:t>
                      </a:r>
                      <a:endParaRPr lang="fr-FR" sz="800" b="1" i="1" dirty="0">
                        <a:solidFill>
                          <a:srgbClr val="8A6D2F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1" i="1" noProof="0" dirty="0">
                          <a:solidFill>
                            <a:srgbClr val="8A6D2F"/>
                          </a:solidFill>
                          <a:ea typeface="Arial" pitchFamily="34" charset="-122"/>
                          <a:cs typeface="Arial" pitchFamily="34" charset="-120"/>
                        </a:rPr>
                        <a:t>Diner</a:t>
                      </a:r>
                      <a:endParaRPr lang="fr-FR" sz="800" b="1" i="1" noProof="0" dirty="0">
                        <a:solidFill>
                          <a:srgbClr val="8A6D2F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703874"/>
                  </a:ext>
                </a:extLst>
              </a:tr>
            </a:tbl>
          </a:graphicData>
        </a:graphic>
      </p:graphicFrame>
      <p:graphicFrame>
        <p:nvGraphicFramePr>
          <p:cNvPr id="30" name="Tableau 10">
            <a:extLst>
              <a:ext uri="{FF2B5EF4-FFF2-40B4-BE49-F238E27FC236}">
                <a16:creationId xmlns:a16="http://schemas.microsoft.com/office/drawing/2014/main" id="{7F9E084C-818A-4343-9093-EA12C0B4561A}"/>
              </a:ext>
            </a:extLst>
          </p:cNvPr>
          <p:cNvGraphicFramePr>
            <a:graphicFrameLocks noGrp="1"/>
          </p:cNvGraphicFramePr>
          <p:nvPr/>
        </p:nvGraphicFramePr>
        <p:xfrm>
          <a:off x="2516000" y="768096"/>
          <a:ext cx="2196000" cy="585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712379929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06626673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5A79C"/>
                          </a:solidFill>
                          <a:ea typeface="Arial" pitchFamily="34" charset="-122"/>
                          <a:cs typeface="Arial" pitchFamily="34" charset="-120"/>
                        </a:rPr>
                        <a:t>Methodological challenges and quality assurance in clinical metabolomics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019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08:30-09:15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Clinical samples and metabolome coverage: choices and compromises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J. Bertrand-Michel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7109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09:15-10:00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Is there still a place for NMR in clinical metabolomics?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P. De Tullio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67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10:00-10:15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Coffee Break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141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10:15-11:15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From sample preparation to clinical confidence: quality and harmonization strategies for reliable metabolomics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V. Gonzalez Ruiz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9815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11:15-12:30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Round tables: multicentre 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studies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Moderatorrs</a:t>
                      </a:r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 : J.-C. Martin, J. Bertrand-Michel, R. Thuillier &amp; A.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Limonciel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461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12:30-14:00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Lunch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258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14:00-16:00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Flash 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presentations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All</a:t>
                      </a:r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 participants</a:t>
                      </a: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0469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124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16:00-17:15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Coffee Break 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+ Activity (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hiking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037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8521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17:15-18:00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</a:rPr>
                        <a:t>Longitudinal studies and sample stability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E.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Salanon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777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47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800" b="1" i="1" kern="1200" dirty="0">
                          <a:solidFill>
                            <a:srgbClr val="8A6D2F"/>
                          </a:solidFill>
                          <a:latin typeface="+mn-lt"/>
                          <a:ea typeface="Arial" pitchFamily="34" charset="-122"/>
                          <a:cs typeface="Arial" pitchFamily="34" charset="-120"/>
                        </a:rPr>
                        <a:t>19:00 </a:t>
                      </a:r>
                      <a:endParaRPr lang="fr-FR" sz="800" b="1" i="1" kern="1200" dirty="0">
                        <a:solidFill>
                          <a:srgbClr val="8A6D2F"/>
                        </a:solidFill>
                        <a:latin typeface="+mn-lt"/>
                        <a:cs typeface="Arial" pitchFamily="34" charset="-12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i="1" kern="1200" noProof="0" dirty="0">
                          <a:solidFill>
                            <a:srgbClr val="8A6D2F"/>
                          </a:solidFill>
                          <a:latin typeface="+mn-lt"/>
                          <a:ea typeface="Arial" pitchFamily="34" charset="-122"/>
                          <a:cs typeface="Arial" pitchFamily="34" charset="-120"/>
                        </a:rPr>
                        <a:t>Diner</a:t>
                      </a:r>
                      <a:endParaRPr lang="fr-FR" sz="800" b="1" i="1" kern="1200" noProof="0" dirty="0">
                        <a:solidFill>
                          <a:srgbClr val="8A6D2F"/>
                        </a:solidFill>
                        <a:latin typeface="+mn-lt"/>
                        <a:cs typeface="Arial" pitchFamily="34" charset="-12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7038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3">
            <a:extLst>
              <a:ext uri="{FF2B5EF4-FFF2-40B4-BE49-F238E27FC236}">
                <a16:creationId xmlns:a16="http://schemas.microsoft.com/office/drawing/2014/main" id="{FF0CF197-F52A-48C8-9AB3-EB7FC0FF848C}"/>
              </a:ext>
            </a:extLst>
          </p:cNvPr>
          <p:cNvSpPr/>
          <p:nvPr/>
        </p:nvSpPr>
        <p:spPr>
          <a:xfrm>
            <a:off x="9787475" y="475488"/>
            <a:ext cx="2340000" cy="6291072"/>
          </a:xfrm>
          <a:prstGeom prst="roundRect">
            <a:avLst>
              <a:gd name="adj" fmla="val 126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519E9B85-10E5-41BD-A744-5959118EEDAB}"/>
              </a:ext>
            </a:extLst>
          </p:cNvPr>
          <p:cNvSpPr/>
          <p:nvPr/>
        </p:nvSpPr>
        <p:spPr>
          <a:xfrm>
            <a:off x="7382879" y="475488"/>
            <a:ext cx="2340000" cy="6291072"/>
          </a:xfrm>
          <a:prstGeom prst="roundRect">
            <a:avLst>
              <a:gd name="adj" fmla="val 126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F53B2DC1-6333-4F34-94DD-36044499FB4B}"/>
              </a:ext>
            </a:extLst>
          </p:cNvPr>
          <p:cNvSpPr/>
          <p:nvPr/>
        </p:nvSpPr>
        <p:spPr>
          <a:xfrm>
            <a:off x="4870283" y="475488"/>
            <a:ext cx="2448000" cy="6291072"/>
          </a:xfrm>
          <a:prstGeom prst="roundRect">
            <a:avLst>
              <a:gd name="adj" fmla="val 126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5F70EBD4-DDB8-4232-8AF8-F31E5CEEE830}"/>
              </a:ext>
            </a:extLst>
          </p:cNvPr>
          <p:cNvSpPr/>
          <p:nvPr/>
        </p:nvSpPr>
        <p:spPr>
          <a:xfrm>
            <a:off x="2465687" y="475488"/>
            <a:ext cx="2340000" cy="6291072"/>
          </a:xfrm>
          <a:prstGeom prst="roundRect">
            <a:avLst>
              <a:gd name="adj" fmla="val 126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Shape 0"/>
          <p:cNvSpPr/>
          <p:nvPr/>
        </p:nvSpPr>
        <p:spPr>
          <a:xfrm>
            <a:off x="45720" y="73152"/>
            <a:ext cx="120975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10896" y="114300"/>
            <a:ext cx="3657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DÉTAILLÉ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863840" y="155448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École thématique 2 </a:t>
            </a:r>
            <a:r>
              <a:rPr lang="en-US" sz="800" dirty="0" err="1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Métabolomique</a:t>
            </a: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</a:t>
            </a:r>
            <a:r>
              <a:rPr lang="en-US" sz="800" dirty="0" err="1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Santé</a:t>
            </a: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00" dirty="0" err="1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Humaine</a:t>
            </a: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#ET2RFMF · Aussois · 5-9 octobre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1091" y="475488"/>
            <a:ext cx="2340000" cy="6291072"/>
          </a:xfrm>
          <a:prstGeom prst="roundRect">
            <a:avLst>
              <a:gd name="adj" fmla="val 126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3854" y="473729"/>
            <a:ext cx="2340000" cy="292608"/>
          </a:xfrm>
          <a:prstGeom prst="roundRect">
            <a:avLst/>
          </a:prstGeom>
          <a:solidFill>
            <a:srgbClr val="2D8AA6"/>
          </a:solidFill>
          <a:ln w="12700">
            <a:solidFill>
              <a:srgbClr val="2D8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Text 5"/>
          <p:cNvSpPr/>
          <p:nvPr/>
        </p:nvSpPr>
        <p:spPr>
          <a:xfrm>
            <a:off x="63854" y="530791"/>
            <a:ext cx="2340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05/10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7746" y="473729"/>
            <a:ext cx="2340000" cy="292608"/>
          </a:xfrm>
          <a:prstGeom prst="roundRect">
            <a:avLst/>
          </a:prstGeom>
          <a:solidFill>
            <a:srgbClr val="35A79C"/>
          </a:solidFill>
          <a:ln w="12700">
            <a:solidFill>
              <a:srgbClr val="35A7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467746" y="530791"/>
            <a:ext cx="2340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06/10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71638" y="473729"/>
            <a:ext cx="2448000" cy="292608"/>
          </a:xfrm>
          <a:prstGeom prst="roundRect">
            <a:avLst/>
          </a:prstGeom>
          <a:solidFill>
            <a:srgbClr val="7258A6"/>
          </a:solidFill>
          <a:ln w="12700">
            <a:solidFill>
              <a:srgbClr val="725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71638" y="530791"/>
            <a:ext cx="2448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3 · 07/10 </a:t>
            </a:r>
            <a:r>
              <a:rPr lang="en-US" sz="1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(sessions </a:t>
            </a:r>
            <a:r>
              <a:rPr lang="en-US" sz="1000" b="1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parallèles</a:t>
            </a:r>
            <a:r>
              <a:rPr lang="en-US" sz="1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00" i="1" dirty="0"/>
          </a:p>
        </p:txBody>
      </p:sp>
      <p:sp>
        <p:nvSpPr>
          <p:cNvPr id="27" name="Shape 25"/>
          <p:cNvSpPr/>
          <p:nvPr/>
        </p:nvSpPr>
        <p:spPr>
          <a:xfrm>
            <a:off x="7383530" y="473729"/>
            <a:ext cx="2340000" cy="292608"/>
          </a:xfrm>
          <a:prstGeom prst="roundRect">
            <a:avLst/>
          </a:prstGeom>
          <a:solidFill>
            <a:srgbClr val="D8743F"/>
          </a:solidFill>
          <a:ln w="12700">
            <a:solidFill>
              <a:srgbClr val="D874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383530" y="530791"/>
            <a:ext cx="2340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4 · 08/10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87422" y="473729"/>
            <a:ext cx="2340000" cy="292608"/>
          </a:xfrm>
          <a:prstGeom prst="roundRect">
            <a:avLst/>
          </a:prstGeom>
          <a:solidFill>
            <a:srgbClr val="2F8A61"/>
          </a:solidFill>
          <a:ln w="12700">
            <a:solidFill>
              <a:srgbClr val="2F8A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9787422" y="530791"/>
            <a:ext cx="2340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5 · 09/10</a:t>
            </a:r>
            <a:endParaRPr lang="en-US" sz="1000" dirty="0"/>
          </a:p>
        </p:txBody>
      </p:sp>
      <p:graphicFrame>
        <p:nvGraphicFramePr>
          <p:cNvPr id="47" name="Tableau 10">
            <a:extLst>
              <a:ext uri="{FF2B5EF4-FFF2-40B4-BE49-F238E27FC236}">
                <a16:creationId xmlns:a16="http://schemas.microsoft.com/office/drawing/2014/main" id="{DC430CB0-EE10-461C-AF7B-75F7BE8D57F0}"/>
              </a:ext>
            </a:extLst>
          </p:cNvPr>
          <p:cNvGraphicFramePr>
            <a:graphicFrameLocks noGrp="1"/>
          </p:cNvGraphicFramePr>
          <p:nvPr/>
        </p:nvGraphicFramePr>
        <p:xfrm>
          <a:off x="9836000" y="767392"/>
          <a:ext cx="2196000" cy="58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712379929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06626673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000" b="1" dirty="0">
                          <a:solidFill>
                            <a:srgbClr val="2F8A61"/>
                          </a:solidFill>
                          <a:ea typeface="Arial" pitchFamily="34" charset="-122"/>
                          <a:cs typeface="Arial" pitchFamily="34" charset="-120"/>
                        </a:rPr>
                        <a:t>Ontologies et intégration des données selon les principes FAIR</a:t>
                      </a:r>
                    </a:p>
                    <a:p>
                      <a:pPr marL="0" indent="0" algn="ctr">
                        <a:buNone/>
                      </a:pPr>
                      <a:endParaRPr lang="fr-FR" sz="1000" b="1" dirty="0">
                        <a:solidFill>
                          <a:srgbClr val="2F8A6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019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09:00-10:15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Contextualisation biologique des données analytiques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J.-C. Martin</a:t>
                      </a: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7109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10:15-10:30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Pause café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67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10:30-11:45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Ontologies et vocabulaire contrôlé pour des données FAIR et adaptées à l'IA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M. Weber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0141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11:45-12:00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Bilan de la semaine et questionnaire des participants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A. Le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Gouellec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95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9141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b="1" i="1" dirty="0">
                          <a:solidFill>
                            <a:srgbClr val="8A6D2F"/>
                          </a:solidFill>
                        </a:rPr>
                        <a:t>12:00-14:00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1" i="1" dirty="0">
                          <a:solidFill>
                            <a:srgbClr val="8A6D2F"/>
                          </a:solidFill>
                        </a:rPr>
                        <a:t>Panier-repas à emporter et départ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69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9815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3802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575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7676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1461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1258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0469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8037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9703874"/>
                  </a:ext>
                </a:extLst>
              </a:tr>
            </a:tbl>
          </a:graphicData>
        </a:graphic>
      </p:graphicFrame>
      <p:graphicFrame>
        <p:nvGraphicFramePr>
          <p:cNvPr id="25" name="Tableau 10">
            <a:extLst>
              <a:ext uri="{FF2B5EF4-FFF2-40B4-BE49-F238E27FC236}">
                <a16:creationId xmlns:a16="http://schemas.microsoft.com/office/drawing/2014/main" id="{85A3A776-B2FE-41A9-BED4-4A120A473530}"/>
              </a:ext>
            </a:extLst>
          </p:cNvPr>
          <p:cNvGraphicFramePr>
            <a:graphicFrameLocks noGrp="1"/>
          </p:cNvGraphicFramePr>
          <p:nvPr/>
        </p:nvGraphicFramePr>
        <p:xfrm>
          <a:off x="7480000" y="768096"/>
          <a:ext cx="2196000" cy="597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712379929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06626673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spc="-30" dirty="0">
                          <a:solidFill>
                            <a:srgbClr val="D8743F"/>
                          </a:solidFill>
                          <a:ea typeface="Arial" pitchFamily="34" charset="-122"/>
                          <a:cs typeface="Arial" pitchFamily="34" charset="-120"/>
                        </a:rPr>
                        <a:t>Exploration des </a:t>
                      </a:r>
                      <a:r>
                        <a:rPr lang="en-US" sz="1000" b="1" spc="-30" dirty="0" err="1">
                          <a:solidFill>
                            <a:srgbClr val="D8743F"/>
                          </a:solidFill>
                          <a:ea typeface="Arial" pitchFamily="34" charset="-122"/>
                          <a:cs typeface="Arial" pitchFamily="34" charset="-120"/>
                        </a:rPr>
                        <a:t>données</a:t>
                      </a:r>
                      <a:r>
                        <a:rPr lang="en-US" sz="1000" b="1" spc="-30" dirty="0">
                          <a:solidFill>
                            <a:srgbClr val="D8743F"/>
                          </a:solidFill>
                          <a:ea typeface="Arial" pitchFamily="34" charset="-122"/>
                          <a:cs typeface="Arial" pitchFamily="34" charset="-120"/>
                        </a:rPr>
                        <a:t>, analyses </a:t>
                      </a:r>
                      <a:r>
                        <a:rPr lang="en-US" sz="1000" b="1" spc="-30" dirty="0" err="1">
                          <a:solidFill>
                            <a:srgbClr val="D8743F"/>
                          </a:solidFill>
                          <a:ea typeface="Arial" pitchFamily="34" charset="-122"/>
                          <a:cs typeface="Arial" pitchFamily="34" charset="-120"/>
                        </a:rPr>
                        <a:t>multivariées</a:t>
                      </a:r>
                      <a:r>
                        <a:rPr lang="en-US" sz="1000" b="1" spc="-30" dirty="0">
                          <a:solidFill>
                            <a:srgbClr val="D8743F"/>
                          </a:solidFill>
                          <a:ea typeface="Arial" pitchFamily="34" charset="-122"/>
                          <a:cs typeface="Arial" pitchFamily="34" charset="-120"/>
                        </a:rPr>
                        <a:t> et IA pour la </a:t>
                      </a:r>
                      <a:r>
                        <a:rPr lang="en-US" sz="1000" b="1" spc="-30" dirty="0" err="1">
                          <a:solidFill>
                            <a:srgbClr val="D8743F"/>
                          </a:solidFill>
                          <a:ea typeface="Arial" pitchFamily="34" charset="-122"/>
                          <a:cs typeface="Arial" pitchFamily="34" charset="-120"/>
                        </a:rPr>
                        <a:t>découverte</a:t>
                      </a:r>
                      <a:r>
                        <a:rPr lang="en-US" sz="1000" b="1" spc="-30" dirty="0">
                          <a:solidFill>
                            <a:srgbClr val="D8743F"/>
                          </a:solidFill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b="1" spc="-30" dirty="0" err="1">
                          <a:solidFill>
                            <a:srgbClr val="D8743F"/>
                          </a:solidFill>
                          <a:ea typeface="Arial" pitchFamily="34" charset="-122"/>
                          <a:cs typeface="Arial" pitchFamily="34" charset="-120"/>
                        </a:rPr>
                        <a:t>en</a:t>
                      </a:r>
                      <a:r>
                        <a:rPr lang="en-US" sz="1000" b="1" spc="-30" dirty="0">
                          <a:solidFill>
                            <a:srgbClr val="D8743F"/>
                          </a:solidFill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b="1" spc="-30" dirty="0" err="1">
                          <a:solidFill>
                            <a:srgbClr val="D8743F"/>
                          </a:solidFill>
                          <a:ea typeface="Arial" pitchFamily="34" charset="-122"/>
                          <a:cs typeface="Arial" pitchFamily="34" charset="-120"/>
                        </a:rPr>
                        <a:t>métabolomique</a:t>
                      </a:r>
                      <a:endParaRPr lang="en-US" sz="1000" b="1" spc="-30" dirty="0">
                        <a:solidFill>
                          <a:srgbClr val="D8743F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019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09:00-11:00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Découverte à partir des dépôts de données : PAN-REDU, FASST, 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MicrobeMASST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et outils associés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V. Charron Lamoureux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7109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6780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11:00-11:15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Pause café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67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11:15-12:30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Intégration de données 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multiomiques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/ 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multiblocs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: atelier pratique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F.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Mehl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0141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95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12:30-14:00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Déjeuner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815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3802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14:00-15:00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Intégration 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multiomique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/ 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multiblocs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: suite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F.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Mehl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575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15:00-15:30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Pause café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461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15:30-16:30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Atelier LLM : grands modèles de langage en métabolomique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Tous les participants</a:t>
                      </a:r>
                    </a:p>
                    <a:p>
                      <a:r>
                        <a:rPr lang="fr-FR" sz="800" b="1" i="1" dirty="0">
                          <a:solidFill>
                            <a:schemeClr val="tx2"/>
                          </a:solidFill>
                        </a:rPr>
                        <a:t>Atelier animé en extérieur par R. Thuillier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0469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16:30-18:00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Discussion informelle et mise en réseau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Tous les participants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124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8037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800" b="1" i="1" kern="1200" dirty="0">
                          <a:solidFill>
                            <a:srgbClr val="8A6D2F"/>
                          </a:solidFill>
                          <a:latin typeface="+mn-lt"/>
                          <a:ea typeface="Arial" pitchFamily="34" charset="-122"/>
                          <a:cs typeface="Arial" pitchFamily="34" charset="-120"/>
                        </a:rPr>
                        <a:t>19:00 </a:t>
                      </a:r>
                      <a:endParaRPr lang="fr-FR" sz="800" b="1" i="1" kern="1200" dirty="0">
                        <a:solidFill>
                          <a:srgbClr val="8A6D2F"/>
                        </a:solidFill>
                        <a:latin typeface="+mn-lt"/>
                        <a:cs typeface="Arial" pitchFamily="34" charset="-12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i="1" kern="1200" noProof="0" dirty="0">
                          <a:solidFill>
                            <a:srgbClr val="8A6D2F"/>
                          </a:solidFill>
                          <a:latin typeface="+mn-lt"/>
                          <a:ea typeface="Arial" pitchFamily="34" charset="-122"/>
                          <a:cs typeface="Arial" pitchFamily="34" charset="-120"/>
                        </a:rPr>
                        <a:t>Dîner</a:t>
                      </a:r>
                      <a:endParaRPr lang="fr-FR" sz="800" b="1" i="1" kern="1200" noProof="0" dirty="0">
                        <a:solidFill>
                          <a:srgbClr val="8A6D2F"/>
                        </a:solidFill>
                        <a:latin typeface="+mn-lt"/>
                        <a:cs typeface="Arial" pitchFamily="34" charset="-12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703874"/>
                  </a:ext>
                </a:extLst>
              </a:tr>
            </a:tbl>
          </a:graphicData>
        </a:graphic>
      </p:graphicFrame>
      <p:graphicFrame>
        <p:nvGraphicFramePr>
          <p:cNvPr id="26" name="Tableau 10">
            <a:extLst>
              <a:ext uri="{FF2B5EF4-FFF2-40B4-BE49-F238E27FC236}">
                <a16:creationId xmlns:a16="http://schemas.microsoft.com/office/drawing/2014/main" id="{D63F2507-CB3B-46E5-9319-010A45DABBDD}"/>
              </a:ext>
            </a:extLst>
          </p:cNvPr>
          <p:cNvGraphicFramePr>
            <a:graphicFrameLocks noGrp="1"/>
          </p:cNvGraphicFramePr>
          <p:nvPr/>
        </p:nvGraphicFramePr>
        <p:xfrm>
          <a:off x="4872000" y="770557"/>
          <a:ext cx="2448000" cy="597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3712379929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06626673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000" b="1" spc="-20" dirty="0">
                          <a:solidFill>
                            <a:srgbClr val="7258A6"/>
                          </a:solidFill>
                          <a:ea typeface="Arial" pitchFamily="34" charset="-122"/>
                          <a:cs typeface="Arial" pitchFamily="34" charset="-120"/>
                        </a:rPr>
                        <a:t>Stratégies computationnelles pour l’annotation des métabolites et les réseaux moléculaires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01900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 MS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58A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Session MS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37109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09:15-10:30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MZmine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: cours théorique</a:t>
                      </a: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A.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Rutz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067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10:30-10:45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Pause café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141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10:45-12:00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MZmine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: atelier pratique</a:t>
                      </a: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A.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Rutz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95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12:00-13:30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Déjeuner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69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13:30-15:00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MetGEM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: réseaux moléculaires et propagation de l’annotation</a:t>
                      </a: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D.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Touboul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9815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15:00-15:15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Pause café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802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15:15-16:30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MetGEM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: atelier pratique</a:t>
                      </a: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D.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Touboul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575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16:30-17:15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Annotation: l’importance du contexte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A.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Rutz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767634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 RMN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58A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lang="fr-FR" sz="800" i="0" dirty="0"/>
                        <a:t>Session RMN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721461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09:15-10:30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Bonnes pratiques d’échantillonnage et de préparation des échantillons</a:t>
                      </a: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G. Bertho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1258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10:30-10:45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Pause café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39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10:45-12:00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Traitement des données RMN : des spectres aux métabolites</a:t>
                      </a: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C. Goossens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3146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12:00-13:30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Déjeuner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404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13:30-15:00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RMN bidimensionnelle en métabolomique clinique</a:t>
                      </a: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M.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Letertre</a:t>
                      </a:r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 et P. De Tullio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5630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15:00-15:15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Pause café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95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15:15-16:30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Quantification par RMN en métabolomique Clinique</a:t>
                      </a: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C. Goossens et G. Bertho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8389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2"/>
                          </a:solidFill>
                        </a:rPr>
                        <a:t>16:30-17:15</a:t>
                      </a: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5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RMN et MS : approches complémentaires en </a:t>
                      </a:r>
                      <a:r>
                        <a:rPr lang="fr-FR" sz="800" i="0" dirty="0" err="1">
                          <a:solidFill>
                            <a:schemeClr val="tx2"/>
                          </a:solidFill>
                        </a:rPr>
                        <a:t>multiomique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pPr algn="l"/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M.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Letertre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5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0889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17:15-18:00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kern="1200" dirty="0">
                          <a:solidFill>
                            <a:srgbClr val="35A79C"/>
                          </a:solidFill>
                          <a:latin typeface="+mn-lt"/>
                          <a:ea typeface="+mn-ea"/>
                          <a:cs typeface="Arial" pitchFamily="34" charset="-120"/>
                        </a:rPr>
                        <a:t>(</a:t>
                      </a:r>
                      <a:r>
                        <a:rPr lang="fr-FR" sz="900" b="1" kern="1200" dirty="0">
                          <a:solidFill>
                            <a:srgbClr val="35A79C"/>
                          </a:solidFill>
                          <a:latin typeface="+mn-lt"/>
                          <a:cs typeface="Arial" pitchFamily="34" charset="-120"/>
                        </a:rPr>
                        <a:t>Suite Jour 2)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5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Étude de cas en métabolomique et santé humaine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F.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Fauvelle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6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5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5302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b="1" i="1" kern="1200" dirty="0">
                          <a:solidFill>
                            <a:srgbClr val="8A6D2F"/>
                          </a:solidFill>
                          <a:latin typeface="+mn-lt"/>
                          <a:ea typeface="Arial" pitchFamily="34" charset="-122"/>
                          <a:cs typeface="Arial" pitchFamily="34" charset="-120"/>
                        </a:rPr>
                        <a:t>19:00 </a:t>
                      </a:r>
                      <a:endParaRPr lang="fr-FR" sz="800" b="1" i="1" kern="1200" dirty="0">
                        <a:solidFill>
                          <a:srgbClr val="8A6D2F"/>
                        </a:solidFill>
                        <a:latin typeface="+mn-lt"/>
                        <a:cs typeface="Arial" pitchFamily="34" charset="-120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i="1" kern="1200" noProof="0" dirty="0">
                          <a:solidFill>
                            <a:srgbClr val="8A6D2F"/>
                          </a:solidFill>
                          <a:latin typeface="+mn-lt"/>
                          <a:ea typeface="Arial" pitchFamily="34" charset="-122"/>
                          <a:cs typeface="Arial" pitchFamily="34" charset="-120"/>
                        </a:rPr>
                        <a:t>Dîner</a:t>
                      </a:r>
                      <a:endParaRPr lang="fr-FR" sz="800" b="1" i="1" kern="1200" noProof="0" dirty="0">
                        <a:solidFill>
                          <a:srgbClr val="8A6D2F"/>
                        </a:solidFill>
                        <a:latin typeface="+mn-lt"/>
                        <a:cs typeface="Arial" pitchFamily="34" charset="-120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703874"/>
                  </a:ext>
                </a:extLst>
              </a:tr>
            </a:tbl>
          </a:graphicData>
        </a:graphic>
      </p:graphicFrame>
      <p:graphicFrame>
        <p:nvGraphicFramePr>
          <p:cNvPr id="29" name="Tableau 10">
            <a:extLst>
              <a:ext uri="{FF2B5EF4-FFF2-40B4-BE49-F238E27FC236}">
                <a16:creationId xmlns:a16="http://schemas.microsoft.com/office/drawing/2014/main" id="{BBF46AB0-8B81-40D5-A872-7B630113CC7A}"/>
              </a:ext>
            </a:extLst>
          </p:cNvPr>
          <p:cNvGraphicFramePr>
            <a:graphicFrameLocks noGrp="1"/>
          </p:cNvGraphicFramePr>
          <p:nvPr/>
        </p:nvGraphicFramePr>
        <p:xfrm>
          <a:off x="160000" y="768096"/>
          <a:ext cx="2196000" cy="5954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712379929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06626673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dirty="0">
                          <a:solidFill>
                            <a:srgbClr val="2D8AA6"/>
                          </a:solidFill>
                          <a:ea typeface="Arial" pitchFamily="34" charset="-122"/>
                          <a:cs typeface="Arial" pitchFamily="34" charset="-120"/>
                        </a:rPr>
                        <a:t>Introduction à la métabolomique clinique et à ses applications en santé humaine</a:t>
                      </a:r>
                      <a:endParaRPr lang="fr-FR" sz="1000" b="1" dirty="0">
                        <a:solidFill>
                          <a:srgbClr val="2D8AA6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019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7109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067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0141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4375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0752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b="1" i="1" dirty="0">
                          <a:solidFill>
                            <a:srgbClr val="8A6D2F"/>
                          </a:solidFill>
                          <a:cs typeface="Arial" pitchFamily="34" charset="-120"/>
                        </a:rPr>
                        <a:t>12:15-17:00</a:t>
                      </a:r>
                      <a:endParaRPr lang="fr-FR" sz="800" b="1" i="1" dirty="0">
                        <a:solidFill>
                          <a:srgbClr val="8A6D2F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1" i="1" dirty="0">
                          <a:solidFill>
                            <a:srgbClr val="8A6D2F"/>
                          </a:solidFill>
                          <a:cs typeface="Arial" pitchFamily="34" charset="-120"/>
                        </a:rPr>
                        <a:t>Accueil et déjeuner</a:t>
                      </a:r>
                      <a:endParaRPr lang="fr-FR" sz="800" b="1" i="1" dirty="0">
                        <a:solidFill>
                          <a:srgbClr val="8A6D2F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802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  <a:cs typeface="Arial" pitchFamily="34" charset="-120"/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17:00-17:15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i="0" dirty="0">
                        <a:solidFill>
                          <a:schemeClr val="tx2"/>
                        </a:solidFill>
                        <a:cs typeface="Arial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Mot d’ouverture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i="1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A. Le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Gouellec</a:t>
                      </a:r>
                      <a:endParaRPr lang="fr-FR" sz="800" i="1" dirty="0">
                        <a:solidFill>
                          <a:schemeClr val="tx2"/>
                        </a:solidFill>
                        <a:cs typeface="Arial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i="1" dirty="0">
                        <a:solidFill>
                          <a:schemeClr val="tx2"/>
                        </a:solidFill>
                        <a:cs typeface="Arial" pitchFamily="34" charset="-12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1461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17:15-18:00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La </a:t>
                      </a:r>
                      <a:r>
                        <a:rPr lang="fr-FR" sz="800" i="0" spc="-10" baseline="0" dirty="0">
                          <a:solidFill>
                            <a:schemeClr val="tx2"/>
                          </a:solidFill>
                        </a:rPr>
                        <a:t>métabolomique</a:t>
                      </a: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 clinique à l’hôpital : point de vue d’un biologiste médical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G.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Grzych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336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18:00-18:45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La métabolomique clinique : point de vue de l’industrie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A.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Limonciel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0940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18:45-19:30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Construire un projet de recherche clinique : réglementation et gestion des données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P. Audoin</a:t>
                      </a: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2300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 i="1">
                          <a:solidFill>
                            <a:srgbClr val="8A6D2F"/>
                          </a:solidFill>
                          <a:ea typeface="Arial" pitchFamily="34" charset="-122"/>
                          <a:cs typeface="Arial" pitchFamily="34" charset="-120"/>
                        </a:rPr>
                        <a:t>19:45 </a:t>
                      </a:r>
                      <a:endParaRPr lang="fr-FR" sz="800" b="1" i="1" dirty="0">
                        <a:solidFill>
                          <a:srgbClr val="8A6D2F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1" i="1" noProof="0" dirty="0">
                          <a:solidFill>
                            <a:srgbClr val="8A6D2F"/>
                          </a:solidFill>
                          <a:ea typeface="Arial" pitchFamily="34" charset="-122"/>
                          <a:cs typeface="Arial" pitchFamily="34" charset="-120"/>
                        </a:rPr>
                        <a:t>Dîner</a:t>
                      </a:r>
                      <a:endParaRPr lang="fr-FR" sz="800" b="1" i="1" noProof="0" dirty="0">
                        <a:solidFill>
                          <a:srgbClr val="8A6D2F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703874"/>
                  </a:ext>
                </a:extLst>
              </a:tr>
            </a:tbl>
          </a:graphicData>
        </a:graphic>
      </p:graphicFrame>
      <p:graphicFrame>
        <p:nvGraphicFramePr>
          <p:cNvPr id="30" name="Tableau 10">
            <a:extLst>
              <a:ext uri="{FF2B5EF4-FFF2-40B4-BE49-F238E27FC236}">
                <a16:creationId xmlns:a16="http://schemas.microsoft.com/office/drawing/2014/main" id="{7F9E084C-818A-4343-9093-EA12C0B4561A}"/>
              </a:ext>
            </a:extLst>
          </p:cNvPr>
          <p:cNvGraphicFramePr>
            <a:graphicFrameLocks noGrp="1"/>
          </p:cNvGraphicFramePr>
          <p:nvPr/>
        </p:nvGraphicFramePr>
        <p:xfrm>
          <a:off x="2516000" y="768096"/>
          <a:ext cx="2196000" cy="570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712379929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06626673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rgbClr val="35A79C"/>
                          </a:solidFill>
                          <a:ea typeface="Arial" pitchFamily="34" charset="-122"/>
                          <a:cs typeface="Arial" pitchFamily="34" charset="-120"/>
                        </a:rPr>
                        <a:t>Défis</a:t>
                      </a:r>
                      <a:r>
                        <a:rPr lang="en-US" sz="1000" b="1" dirty="0">
                          <a:solidFill>
                            <a:srgbClr val="35A79C"/>
                          </a:solidFill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35A79C"/>
                          </a:solidFill>
                          <a:ea typeface="Arial" pitchFamily="34" charset="-122"/>
                          <a:cs typeface="Arial" pitchFamily="34" charset="-120"/>
                        </a:rPr>
                        <a:t>méthodologiques</a:t>
                      </a:r>
                      <a:r>
                        <a:rPr lang="en-US" sz="1000" b="1" dirty="0">
                          <a:solidFill>
                            <a:srgbClr val="35A79C"/>
                          </a:solidFill>
                          <a:ea typeface="Arial" pitchFamily="34" charset="-122"/>
                          <a:cs typeface="Arial" pitchFamily="34" charset="-120"/>
                        </a:rPr>
                        <a:t> et assurance </a:t>
                      </a:r>
                      <a:r>
                        <a:rPr lang="en-US" sz="1000" b="1" dirty="0" err="1">
                          <a:solidFill>
                            <a:srgbClr val="35A79C"/>
                          </a:solidFill>
                          <a:ea typeface="Arial" pitchFamily="34" charset="-122"/>
                          <a:cs typeface="Arial" pitchFamily="34" charset="-120"/>
                        </a:rPr>
                        <a:t>qualité</a:t>
                      </a:r>
                      <a:r>
                        <a:rPr lang="en-US" sz="1000" b="1" dirty="0">
                          <a:solidFill>
                            <a:srgbClr val="35A79C"/>
                          </a:solidFill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35A79C"/>
                          </a:solidFill>
                          <a:ea typeface="Arial" pitchFamily="34" charset="-122"/>
                          <a:cs typeface="Arial" pitchFamily="34" charset="-120"/>
                        </a:rPr>
                        <a:t>en</a:t>
                      </a:r>
                      <a:r>
                        <a:rPr lang="en-US" sz="1000" b="1" dirty="0">
                          <a:solidFill>
                            <a:srgbClr val="35A79C"/>
                          </a:solidFill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35A79C"/>
                          </a:solidFill>
                          <a:ea typeface="Arial" pitchFamily="34" charset="-122"/>
                          <a:cs typeface="Arial" pitchFamily="34" charset="-120"/>
                        </a:rPr>
                        <a:t>métabolomique</a:t>
                      </a:r>
                      <a:r>
                        <a:rPr lang="en-US" sz="1000" b="1" dirty="0">
                          <a:solidFill>
                            <a:srgbClr val="35A79C"/>
                          </a:solidFill>
                          <a:ea typeface="Arial" pitchFamily="34" charset="-122"/>
                          <a:cs typeface="Arial" pitchFamily="34" charset="-120"/>
                        </a:rPr>
                        <a:t> Clinique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019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08:30-09:15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Échantillons cliniques et couverture du métabolome : choix et compromis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J. Bertrand-Michel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7109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09:15-10:00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La RMN a-t-elle encore une place en métabolomique clinique ?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P. De Tullio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67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10:00-10:15</a:t>
                      </a:r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0" dirty="0">
                          <a:solidFill>
                            <a:schemeClr val="tx2"/>
                          </a:solidFill>
                          <a:cs typeface="Arial" pitchFamily="34" charset="-120"/>
                        </a:rPr>
                        <a:t>Pause café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141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10:15-11:15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De la préparation des échantillons à la confiance clinique : stratégies de qualité et d’harmonisation pour une métabolomique fiable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V. Gonzalez Ruiz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9815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11:15-12:30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Table ronde : études multicentriques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Modérateurs : J.-C. Martin, J. Bertrand-Michel, R. Thuillier et A.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Limonciel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461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12:30-14:00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Déjeuner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258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14:00-16:00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Présentations flash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Tous les participants</a:t>
                      </a:r>
                    </a:p>
                    <a:p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0469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124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16:00-17:15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Pause café + Activité (balade)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037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8521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17:15-18:00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800" i="0" dirty="0">
                          <a:solidFill>
                            <a:schemeClr val="tx2"/>
                          </a:solidFill>
                        </a:rPr>
                        <a:t>Études longitudinales et stabilité des échantillons</a:t>
                      </a:r>
                    </a:p>
                    <a:p>
                      <a:r>
                        <a:rPr lang="fr-FR" sz="800" i="1" dirty="0">
                          <a:solidFill>
                            <a:schemeClr val="tx2"/>
                          </a:solidFill>
                        </a:rPr>
                        <a:t>E. </a:t>
                      </a:r>
                      <a:r>
                        <a:rPr lang="fr-FR" sz="800" i="1" dirty="0" err="1">
                          <a:solidFill>
                            <a:schemeClr val="tx2"/>
                          </a:solidFill>
                        </a:rPr>
                        <a:t>Salanon</a:t>
                      </a:r>
                      <a:endParaRPr lang="fr-FR" sz="800" i="1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777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  <a:p>
                      <a:endParaRPr lang="fr-FR" sz="800" i="0" dirty="0">
                        <a:solidFill>
                          <a:schemeClr val="tx2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47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800" b="1" i="1" kern="1200" dirty="0">
                          <a:solidFill>
                            <a:srgbClr val="8A6D2F"/>
                          </a:solidFill>
                          <a:latin typeface="+mn-lt"/>
                          <a:ea typeface="Arial" pitchFamily="34" charset="-122"/>
                          <a:cs typeface="Arial" pitchFamily="34" charset="-120"/>
                        </a:rPr>
                        <a:t>19:00 </a:t>
                      </a:r>
                      <a:endParaRPr lang="fr-FR" sz="800" b="1" i="1" kern="1200" dirty="0">
                        <a:solidFill>
                          <a:srgbClr val="8A6D2F"/>
                        </a:solidFill>
                        <a:latin typeface="+mn-lt"/>
                        <a:cs typeface="Arial" pitchFamily="34" charset="-12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i="1" kern="1200" noProof="0" dirty="0">
                          <a:solidFill>
                            <a:srgbClr val="8A6D2F"/>
                          </a:solidFill>
                          <a:latin typeface="+mn-lt"/>
                          <a:ea typeface="Arial" pitchFamily="34" charset="-122"/>
                          <a:cs typeface="Arial" pitchFamily="34" charset="-120"/>
                        </a:rPr>
                        <a:t>Dîner</a:t>
                      </a:r>
                      <a:endParaRPr lang="fr-FR" sz="800" b="1" i="1" kern="1200" noProof="0" dirty="0">
                        <a:solidFill>
                          <a:srgbClr val="8A6D2F"/>
                        </a:solidFill>
                        <a:latin typeface="+mn-lt"/>
                        <a:cs typeface="Arial" pitchFamily="34" charset="-12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7038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048C09-71AC-D0A4-01B3-EE4DBBC2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Information diverses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DFD483-10B3-618F-622D-DF39D394C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Repas et Diner dans le </a:t>
            </a:r>
            <a:r>
              <a:rPr lang="fr-FR" dirty="0" err="1"/>
              <a:t>batiment</a:t>
            </a:r>
            <a:r>
              <a:rPr lang="fr-FR" dirty="0"/>
              <a:t> au premier étage</a:t>
            </a:r>
          </a:p>
          <a:p>
            <a:r>
              <a:rPr lang="fr-FR" dirty="0"/>
              <a:t>N’oubliez pas d’</a:t>
            </a:r>
            <a:r>
              <a:rPr lang="fr-FR" dirty="0" err="1"/>
              <a:t>instaler</a:t>
            </a:r>
            <a:r>
              <a:rPr lang="fr-FR" dirty="0"/>
              <a:t> </a:t>
            </a:r>
            <a:r>
              <a:rPr lang="fr-FR" dirty="0" err="1"/>
              <a:t>MetGem</a:t>
            </a:r>
            <a:r>
              <a:rPr lang="fr-FR" dirty="0"/>
              <a:t> :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/>
              <a:t>MetGem</a:t>
            </a:r>
            <a:r>
              <a:rPr lang="fr-FR" dirty="0"/>
              <a:t> (</a:t>
            </a:r>
            <a:r>
              <a:rPr lang="fr-FR" u="sng" dirty="0">
                <a:hlinkClick r:id="rId3"/>
              </a:rPr>
              <a:t>https://metgem.github.io/</a:t>
            </a:r>
            <a:r>
              <a:rPr lang="fr-FR" dirty="0"/>
              <a:t> ) 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/>
              <a:t>Datasets</a:t>
            </a:r>
            <a:r>
              <a:rPr lang="fr-FR" dirty="0"/>
              <a:t>:  </a:t>
            </a:r>
            <a:r>
              <a:rPr lang="fr-FR" u="sng" dirty="0">
                <a:hlinkClick r:id="rId4"/>
              </a:rPr>
              <a:t>https://filesender.renater.fr/?s=download&amp;token=9ac15feb-a033-4558-8a82-9163fafc1011</a:t>
            </a:r>
            <a:endParaRPr lang="fr-FR" u="sng" dirty="0"/>
          </a:p>
          <a:p>
            <a:r>
              <a:rPr lang="fr-FR" dirty="0"/>
              <a:t>Question /devinette de l’école ?</a:t>
            </a:r>
          </a:p>
          <a:p>
            <a:pPr marL="0" indent="0">
              <a:buNone/>
            </a:pPr>
            <a:endParaRPr lang="fr-FR" u="sng" dirty="0"/>
          </a:p>
          <a:p>
            <a:pPr marL="0" indent="0">
              <a:buNone/>
            </a:pPr>
            <a:br>
              <a:rPr lang="fr-FR" dirty="0"/>
            </a:b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26EFB1B-4A21-2E64-F5D3-8CAAC45E38F4}"/>
              </a:ext>
            </a:extLst>
          </p:cNvPr>
          <p:cNvSpPr txBox="1"/>
          <p:nvPr/>
        </p:nvSpPr>
        <p:spPr>
          <a:xfrm>
            <a:off x="1387333" y="5029200"/>
            <a:ext cx="60982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Composition exacte : secrète. </a:t>
            </a:r>
          </a:p>
          <a:p>
            <a:r>
              <a:rPr lang="fr-FR" sz="2800" dirty="0"/>
              <a:t>Annotation niveau 1 : impossible. </a:t>
            </a:r>
          </a:p>
          <a:p>
            <a:r>
              <a:rPr lang="fr-FR" sz="2800" dirty="0"/>
              <a:t>Convivialité : confirmée</a:t>
            </a:r>
          </a:p>
        </p:txBody>
      </p:sp>
    </p:spTree>
    <p:extLst>
      <p:ext uri="{BB962C8B-B14F-4D97-AF65-F5344CB8AC3E}">
        <p14:creationId xmlns:p14="http://schemas.microsoft.com/office/powerpoint/2010/main" val="4048301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AE75EE3-A381-C164-3C1C-338EEE60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06" y="0"/>
            <a:ext cx="10305827" cy="687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6955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7144</TotalTime>
  <Words>1795</Words>
  <Application>Microsoft Macintosh PowerPoint</Application>
  <PresentationFormat>Grand écran</PresentationFormat>
  <Paragraphs>470</Paragraphs>
  <Slides>9</Slides>
  <Notes>5</Notes>
  <HiddenSlides>2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Information diverses :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audrey le gouellec</dc:creator>
  <cp:lastModifiedBy>audrey le gouellec</cp:lastModifiedBy>
  <cp:revision>5</cp:revision>
  <dcterms:created xsi:type="dcterms:W3CDTF">2026-09-17T10:05:57Z</dcterms:created>
  <dcterms:modified xsi:type="dcterms:W3CDTF">2026-10-05T13:19:52Z</dcterms:modified>
</cp:coreProperties>
</file>