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9" r:id="rId3"/>
    <p:sldId id="260" r:id="rId4"/>
    <p:sldId id="258" r:id="rId5"/>
    <p:sldId id="262" r:id="rId6"/>
    <p:sldId id="261" r:id="rId7"/>
    <p:sldId id="266" r:id="rId8"/>
    <p:sldId id="267" r:id="rId9"/>
    <p:sldId id="268" r:id="rId10"/>
    <p:sldId id="265" r:id="rId11"/>
    <p:sldId id="263" r:id="rId12"/>
    <p:sldId id="271" r:id="rId13"/>
    <p:sldId id="281" r:id="rId14"/>
    <p:sldId id="272" r:id="rId15"/>
    <p:sldId id="274" r:id="rId16"/>
    <p:sldId id="277" r:id="rId17"/>
    <p:sldId id="275" r:id="rId18"/>
    <p:sldId id="280" r:id="rId19"/>
    <p:sldId id="276" r:id="rId20"/>
    <p:sldId id="278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F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94660"/>
  </p:normalViewPr>
  <p:slideViewPr>
    <p:cSldViewPr>
      <p:cViewPr varScale="1">
        <p:scale>
          <a:sx n="78" d="100"/>
          <a:sy n="78" d="100"/>
        </p:scale>
        <p:origin x="15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c%20martin\Documents\texte\CONGRES\RFMF%20Nantes%202012\test%20circulaire\R&#233;sum&#233;%20des%20datasets%20Urines%20Spikes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200"/>
            </a:pPr>
            <a:r>
              <a:rPr lang="en-US" dirty="0"/>
              <a:t>Number of features </a:t>
            </a:r>
            <a:r>
              <a:rPr lang="en-US" sz="1400" dirty="0"/>
              <a:t>(after processing)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nombre de variables</c:v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'Urines Spikées'!$F$25:$F$44</c:f>
              <c:strCache>
                <c:ptCount val="20"/>
                <c:pt idx="0">
                  <c:v>RMN1</c:v>
                </c:pt>
                <c:pt idx="1">
                  <c:v>RMN2</c:v>
                </c:pt>
                <c:pt idx="2">
                  <c:v>RMN3</c:v>
                </c:pt>
                <c:pt idx="3">
                  <c:v>RMN4</c:v>
                </c:pt>
                <c:pt idx="4">
                  <c:v>ORBI1</c:v>
                </c:pt>
                <c:pt idx="5">
                  <c:v>ORBI2</c:v>
                </c:pt>
                <c:pt idx="6">
                  <c:v>ORBI3</c:v>
                </c:pt>
                <c:pt idx="7">
                  <c:v>ORBI3 </c:v>
                </c:pt>
                <c:pt idx="8">
                  <c:v>ORBI5</c:v>
                </c:pt>
                <c:pt idx="9">
                  <c:v>QTOF1</c:v>
                </c:pt>
                <c:pt idx="10">
                  <c:v>QTOF1 </c:v>
                </c:pt>
                <c:pt idx="11">
                  <c:v>QTOF1 </c:v>
                </c:pt>
                <c:pt idx="12">
                  <c:v>QTOF2 </c:v>
                </c:pt>
                <c:pt idx="13">
                  <c:v>QTOF3 </c:v>
                </c:pt>
                <c:pt idx="14">
                  <c:v>QTOF4 </c:v>
                </c:pt>
                <c:pt idx="15">
                  <c:v>QTOF4 </c:v>
                </c:pt>
                <c:pt idx="16">
                  <c:v>QTOF5 </c:v>
                </c:pt>
                <c:pt idx="17">
                  <c:v>QTOF5 </c:v>
                </c:pt>
                <c:pt idx="18">
                  <c:v>TOF </c:v>
                </c:pt>
                <c:pt idx="19">
                  <c:v>TOF </c:v>
                </c:pt>
              </c:strCache>
            </c:strRef>
          </c:cat>
          <c:val>
            <c:numRef>
              <c:f>'Urines Spikées'!$G$25:$G$44</c:f>
              <c:numCache>
                <c:formatCode>General</c:formatCode>
                <c:ptCount val="20"/>
                <c:pt idx="0">
                  <c:v>751</c:v>
                </c:pt>
                <c:pt idx="1">
                  <c:v>252</c:v>
                </c:pt>
                <c:pt idx="2">
                  <c:v>88</c:v>
                </c:pt>
                <c:pt idx="3">
                  <c:v>233</c:v>
                </c:pt>
                <c:pt idx="4">
                  <c:v>5035</c:v>
                </c:pt>
                <c:pt idx="5">
                  <c:v>1570</c:v>
                </c:pt>
                <c:pt idx="6">
                  <c:v>1827</c:v>
                </c:pt>
                <c:pt idx="7">
                  <c:v>1715</c:v>
                </c:pt>
                <c:pt idx="8">
                  <c:v>2668</c:v>
                </c:pt>
                <c:pt idx="9">
                  <c:v>1814</c:v>
                </c:pt>
                <c:pt idx="10">
                  <c:v>1181</c:v>
                </c:pt>
                <c:pt idx="11">
                  <c:v>1288</c:v>
                </c:pt>
                <c:pt idx="12">
                  <c:v>1688</c:v>
                </c:pt>
                <c:pt idx="13">
                  <c:v>908</c:v>
                </c:pt>
                <c:pt idx="14">
                  <c:v>909</c:v>
                </c:pt>
                <c:pt idx="15">
                  <c:v>438</c:v>
                </c:pt>
                <c:pt idx="16">
                  <c:v>6992</c:v>
                </c:pt>
                <c:pt idx="17">
                  <c:v>5167</c:v>
                </c:pt>
                <c:pt idx="18">
                  <c:v>580</c:v>
                </c:pt>
                <c:pt idx="19">
                  <c:v>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D0-41AB-B739-659390010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7605248"/>
        <c:axId val="87606784"/>
      </c:barChart>
      <c:catAx>
        <c:axId val="876052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7606784"/>
        <c:crosses val="autoZero"/>
        <c:auto val="1"/>
        <c:lblAlgn val="ctr"/>
        <c:lblOffset val="100"/>
        <c:noMultiLvlLbl val="0"/>
      </c:catAx>
      <c:valAx>
        <c:axId val="876067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76052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00FF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rgbClr val="66FF33"/>
              </a:solidFill>
            </c:spPr>
            <c:extLst>
              <c:ext xmlns:c16="http://schemas.microsoft.com/office/drawing/2014/chart" uri="{C3380CC4-5D6E-409C-BE32-E72D297353CC}">
                <c16:uniqueId val="{00000000-76DC-40D8-A936-6A2708A1A5B4}"/>
              </c:ext>
            </c:extLst>
          </c:dPt>
          <c:dPt>
            <c:idx val="7"/>
            <c:invertIfNegative val="0"/>
            <c:bubble3D val="0"/>
            <c:spPr>
              <a:solidFill>
                <a:srgbClr val="66FF33"/>
              </a:solidFill>
            </c:spPr>
            <c:extLst>
              <c:ext xmlns:c16="http://schemas.microsoft.com/office/drawing/2014/chart" uri="{C3380CC4-5D6E-409C-BE32-E72D297353CC}">
                <c16:uniqueId val="{00000001-76DC-40D8-A936-6A2708A1A5B4}"/>
              </c:ext>
            </c:extLst>
          </c:dPt>
          <c:dPt>
            <c:idx val="8"/>
            <c:invertIfNegative val="0"/>
            <c:bubble3D val="0"/>
            <c:spPr>
              <a:solidFill>
                <a:srgbClr val="66FF33"/>
              </a:solidFill>
            </c:spPr>
            <c:extLst>
              <c:ext xmlns:c16="http://schemas.microsoft.com/office/drawing/2014/chart" uri="{C3380CC4-5D6E-409C-BE32-E72D297353CC}">
                <c16:uniqueId val="{00000002-76DC-40D8-A936-6A2708A1A5B4}"/>
              </c:ext>
            </c:extLst>
          </c:dPt>
          <c:dPt>
            <c:idx val="9"/>
            <c:invertIfNegative val="0"/>
            <c:bubble3D val="0"/>
            <c:spPr>
              <a:solidFill>
                <a:srgbClr val="66FF33"/>
              </a:solidFill>
            </c:spPr>
            <c:extLst>
              <c:ext xmlns:c16="http://schemas.microsoft.com/office/drawing/2014/chart" uri="{C3380CC4-5D6E-409C-BE32-E72D297353CC}">
                <c16:uniqueId val="{00000003-76DC-40D8-A936-6A2708A1A5B4}"/>
              </c:ext>
            </c:extLst>
          </c:dPt>
          <c:dLbls>
            <c:dLbl>
              <c:idx val="0"/>
              <c:layout>
                <c:manualLayout>
                  <c:x val="2.8906753414240402E-3"/>
                  <c:y val="-0.112238320558209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1070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6DC-40D8-A936-6A2708A1A5B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Feuil1!$A$2:$A$11</c:f>
              <c:strCache>
                <c:ptCount val="10"/>
                <c:pt idx="0">
                  <c:v>MS_CEA</c:v>
                </c:pt>
                <c:pt idx="1">
                  <c:v>MS_CLT  </c:v>
                </c:pt>
                <c:pt idx="2">
                  <c:v>MS_ISPRA</c:v>
                </c:pt>
                <c:pt idx="3">
                  <c:v>MS_LABERCA </c:v>
                </c:pt>
                <c:pt idx="4">
                  <c:v>MS_LCH</c:v>
                </c:pt>
                <c:pt idx="5">
                  <c:v>MS_MRS</c:v>
                </c:pt>
                <c:pt idx="6">
                  <c:v>RMN_TOU</c:v>
                </c:pt>
                <c:pt idx="7">
                  <c:v>RMN_PARIS</c:v>
                </c:pt>
                <c:pt idx="8">
                  <c:v>RMN_MRS</c:v>
                </c:pt>
                <c:pt idx="9">
                  <c:v>RMN_NOR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170</c:v>
                </c:pt>
                <c:pt idx="1">
                  <c:v>2631</c:v>
                </c:pt>
                <c:pt idx="2">
                  <c:v>1295</c:v>
                </c:pt>
                <c:pt idx="3">
                  <c:v>1979</c:v>
                </c:pt>
                <c:pt idx="4">
                  <c:v>4554</c:v>
                </c:pt>
                <c:pt idx="5">
                  <c:v>504</c:v>
                </c:pt>
                <c:pt idx="6">
                  <c:v>881</c:v>
                </c:pt>
                <c:pt idx="7">
                  <c:v>9550</c:v>
                </c:pt>
                <c:pt idx="8">
                  <c:v>3384</c:v>
                </c:pt>
                <c:pt idx="9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6DC-40D8-A936-6A2708A1A5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785472"/>
        <c:axId val="133787008"/>
      </c:barChart>
      <c:catAx>
        <c:axId val="13378547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one"/>
        <c:crossAx val="133787008"/>
        <c:crosses val="autoZero"/>
        <c:auto val="1"/>
        <c:lblAlgn val="ctr"/>
        <c:lblOffset val="100"/>
        <c:noMultiLvlLbl val="0"/>
      </c:catAx>
      <c:valAx>
        <c:axId val="133787008"/>
        <c:scaling>
          <c:orientation val="minMax"/>
          <c:max val="10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3785472"/>
        <c:crosses val="autoZero"/>
        <c:crossBetween val="between"/>
        <c:majorUnit val="200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0.18056</cdr:x>
      <cdr:y>0.86894</cdr:y>
    </cdr:from>
    <cdr:to>
      <cdr:x>0.21334</cdr:x>
      <cdr:y>0.93664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1008112" y="2592288"/>
          <a:ext cx="183020" cy="201969"/>
        </a:xfrm>
        <a:prstGeom xmlns:a="http://schemas.openxmlformats.org/drawingml/2006/main" prst="rect">
          <a:avLst/>
        </a:prstGeom>
        <a:solidFill xmlns:a="http://schemas.openxmlformats.org/drawingml/2006/main">
          <a:srgbClr val="0C26E6"/>
        </a:solidFill>
        <a:ln xmlns:a="http://schemas.openxmlformats.org/drawingml/2006/main">
          <a:solidFill>
            <a:srgbClr val="0C26E6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8609A-5704-4F89-996C-1FE3913252AF}" type="datetimeFigureOut">
              <a:rPr lang="fr-FR" smtClean="0"/>
              <a:pPr/>
              <a:t>03/10/2026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1E904-975B-4021-861D-6F770D6748B1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3.png"/><Relationship Id="rId3" Type="http://schemas.openxmlformats.org/officeDocument/2006/relationships/image" Target="../media/image7.jpeg"/><Relationship Id="rId7" Type="http://schemas.openxmlformats.org/officeDocument/2006/relationships/image" Target="../media/image11.gif"/><Relationship Id="rId12" Type="http://schemas.openxmlformats.org/officeDocument/2006/relationships/image" Target="../media/image16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wmf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jpeg"/><Relationship Id="rId18" Type="http://schemas.openxmlformats.org/officeDocument/2006/relationships/image" Target="../media/image36.jpe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30.jpeg"/><Relationship Id="rId17" Type="http://schemas.openxmlformats.org/officeDocument/2006/relationships/image" Target="../media/image35.png"/><Relationship Id="rId2" Type="http://schemas.openxmlformats.org/officeDocument/2006/relationships/image" Target="../media/image1.emf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9.jpe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jpeg"/><Relationship Id="rId4" Type="http://schemas.openxmlformats.org/officeDocument/2006/relationships/image" Target="../media/image23.wmf"/><Relationship Id="rId9" Type="http://schemas.openxmlformats.org/officeDocument/2006/relationships/hyperlink" Target="http://cbi.labri.fr/" TargetMode="External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4644008" y="1196752"/>
            <a:ext cx="648072" cy="495974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3059832" y="260648"/>
            <a:ext cx="5760640" cy="6352858"/>
            <a:chOff x="2627784" y="260648"/>
            <a:chExt cx="5760640" cy="6352858"/>
          </a:xfrm>
        </p:grpSpPr>
        <p:pic>
          <p:nvPicPr>
            <p:cNvPr id="6" name="Picture 4" descr="https://encrypted-tbn0.gstatic.com/images?q=tbn:ANd9GcQfRJNPv3xl76Li30kRKjDGJodrOChvCSYBoLG9Zr5PG4ILdZS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27784" y="260648"/>
              <a:ext cx="5760640" cy="6352858"/>
            </a:xfrm>
            <a:prstGeom prst="rect">
              <a:avLst/>
            </a:prstGeom>
            <a:noFill/>
          </p:spPr>
        </p:pic>
        <p:pic>
          <p:nvPicPr>
            <p:cNvPr id="7" name="Image 6" descr="LOGOS.emf"/>
            <p:cNvPicPr>
              <a:picLocks noChangeAspect="1"/>
            </p:cNvPicPr>
            <p:nvPr/>
          </p:nvPicPr>
          <p:blipFill>
            <a:blip r:embed="rId2" cstate="print"/>
            <a:srcRect l="11413" t="11058" r="11413" b="10006"/>
            <a:stretch>
              <a:fillRect/>
            </a:stretch>
          </p:blipFill>
          <p:spPr>
            <a:xfrm>
              <a:off x="4644008" y="1196752"/>
              <a:ext cx="648072" cy="495974"/>
            </a:xfrm>
            <a:prstGeom prst="rect">
              <a:avLst/>
            </a:prstGeom>
          </p:spPr>
        </p:pic>
      </p:grpSp>
      <p:pic>
        <p:nvPicPr>
          <p:cNvPr id="11" name="Image 10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13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A1DE1D2-ABE4-A73B-A648-379B58E00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2924944"/>
            <a:ext cx="3769726" cy="28696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Rational</a:t>
            </a: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ttp://media.meltyxtrem.fr/media_aggregate-1106874-ajust_453/slackli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052736"/>
            <a:ext cx="3666753" cy="5496083"/>
          </a:xfrm>
          <a:prstGeom prst="rect">
            <a:avLst/>
          </a:prstGeom>
          <a:noFill/>
        </p:spPr>
      </p:pic>
      <p:sp>
        <p:nvSpPr>
          <p:cNvPr id="2052" name="AutoShape 4" descr="data:image/jpeg;base64,/9j/4AAQSkZJRgABAQAAAQABAAD/2wCEAAkGBhQQEBUUExQUFRQWFBYUFxQVFBQUFxYZGBQVFBUdFxUXHCYeFxwjHRQUHy8gIycpLSwsFR4xNTAqNSYrLCkBCQoKDgwOFA8PFykcHBwpKSkpKSkpKSkpKSkpKSkpKSkpKSkpKSkpKSkpKSkpLCkpKSksKSwsLCwpKSksKSwpKf/AABEIAOgA2QMBIgACEQEDEQH/xAAcAAABBQEBAQAAAAAAAAAAAAAAAQQFBgcDAgj/xABAEAACAQMBBQUGBAUDAwQDAAABAgMABBEhBQYSMUETUWFxgQcUIjKRoSNCUrFicsHR8BUzkkOC4VOys8IkoqP/xAAYAQEBAQEBAAAAAAAAAAAAAAAAAQIDBP/EAB8RAQEAAgMBAAMBAAAAAAAAAAABAhEhMUEDElFhE//aAAwDAQACEQMRAD8AzaiiulvbvK6xxrxO54VXvPj3Acya9NumXPNee1HePrV3b2fW9vA0t3LIxVcsIyFXPRVBBJJOAOWe6pHc3cGOMCaZMufiWN8MIgflB0wz4xkkad1cr9F4Uay2DdTgGKByp5Mw4F+rEfWn7ez6/wAZ4U5ZwJEzWw8Sr/maavt6BSQZYwRzBkjBHmC1c7lam2E3cMtu/BMjK3cwwfQ8iKebK2PPeNiBCQObt8Kr5sf21NaRvdbx3rW8C8J7R2kMilSUjjHx8JH6iVXu+lTtpaJBGEjUKijAA5Dz/vV/Kqza49l9wq5E0THGSCXTHf8AERj1OKrVlbySOY0RpHBxhBxeHMaY058qt+09qS7XufdoCVt1J43GfiAOCzd46KvXmfC/7G2BFbRhI1Cjr+pj3sepqTKwv9ZWNzLzhz2B8uOPi/48Wair21eBuGVHjPTjUjPkeR+tbz2ArjdbNSReF1DKfysAw+hrX+lTbBWkA5mvVsrynhijeQ9yqT+2au28u4cdu4uI4y8KHimgDH5OpjPPTnw5+1XnZcEfZL2IURlQV4QACCMg6eFL9KvDHn3fu1GWtpgBrnh4vsNaYBvqOYOhHmDyre/dz4VA7y7oR3aniHDKB8MwGoPTix8w8D6VZ9KjI6K9XttJBK0UiHjTnw65HPiHeMa5rmkgPKusylNPVFFFaQUtJRQFFFFAUUUUBRRS0CE/5/YVbd191L1X7ZezgJUqO1XtHAJ1IT8pOBz/AKmuns32KsrvcOM9m3Zxg9Gxlm8wCAPOtNjhxz51588t8L0qlxbPJPawSv2nZhrmVuEKGZSFiHCOQ4mzj+GrLczhFOTgKCWPcAMmmnuY7dpc6lFjx3AMzfu32que0y+MdiVBx2jqh8VwXb/21g7d7Gyban4krMloc9nCpKGUZxxysNcHoo6VZbTYsES8McUaDuVAK87Gx2KcPLs0x5cAxT+olqrps6KHabFEVC1qG+EAZPbYcnGmfkr1vjxe4XHB83Znlz4cjj//AF4qkNuXtvb8M07ojAMilj8RDFSwVRqflXpp61WpPadaA6dqRnmIwB92BqrEjuBsD3W2XiGJJAJH78kfCvoPuTVpZgOdVPZ2/wDaSHSXgPLEilPudPvU/wAfFrnOdQf7UKi599YskRR3E2OsULsvjhzgH61xbfyNMdtDcxDvkgYAebKSKnEQmnMdpnoTQ4R9vtOK5TijZJE5EqQR4g93kaiNyJCtsUzkRTTxD+VJWCj6VDb9bENiVvbT8JgwWVFGFbJ0JXljOhHiORqR9nr8VirZyzSSs38xkJI/ah4utqof6aUksWDg102dDjXu/c13vV+HPjUZZn7RrYwmC7TR4ZFUnvU5IH1BH/fT/bu61tdoHwI3YArKgwdRkcQGjDHf9a8e1DWyKjm0kSgd54s/0qWmg4YEU/kVF/4qFqtsk2nsx7aUxyD4hqCOTKeTL4H7HIprV+34sxJZrL+aFwuf4HIUjyBKn0qg16MMtxBRRRW0FFFFAUUUUBRRRQaP7K5QbZl0ys758cqpBP3+lXl+R8qxbdPeD3K44mz2UgCyfw4+VseGvoT4VrLbwQKY1aRA0uOzAOePPIqB08eVeWzVWulVT2k2PaWXFkAxyK+CcZzlCB3n4uXhVrNV7YSe/wA7XLawxsyW69DjR5cdSToO4CoRx3Vnvvdol7GNSqcPHO75YZwv4aDI0xzI5U621tS9s4Wmke0ZV/LwTKWJ0AU8R1Jq4xWJx3fvVR3hsReX0Vs2sMC+8TDPzEkrEpHdox8s1DaqbD3Qm2pJ71eMwjbVVGjMvQKD8id3f96vVrudZxLhbaLljLKHY5GDlmyTU/a23F4AaYH+aU8SEDkKJapt1uDZSMGNuox0TiQH+YKQDUwtkqqFQBQAAFA0AAwAB0qdry0YPMVU2j7WAE46fvUiq45U0ltSNV/8+lc/em7/ALCgqvtZu1SxdTzkaNAPEOHP2Q/am3s0sDHYoW04maQDwY/D9hn1qT3m3VS+MRkLkRsW4RyfIGQ30HLxqSg+DTGByHcMaYqNeJkOqjmKaXFxxeAFcOIVEbfmnZAltwhmOGlc6RjqQv5j3CjKG2ivvu0EQaxWp7SQ9DKf9tPMDU91Su0Zvy+p/pTaziS1iEUWTjJZzqWY6szHqxNJHCXOnqTy9TVbRe9jhdmXGdM8KjzLLWbLIG1FbClos5Tk0MZLDIyJXwVzg81XJwepPcNafvnuKIgbi2GANZIhyA6lPDvX6d1axy/EU+lryrZGa9V6EFJS0VUJS0lLQJRS0UCEZqw+ze1Vr48WpjiZkz0PEo08g7fWq/TjZG0za3Mc45KeFx3qchvsT6gVz+k421Gs7zXRis53U4KxNgjoSOEfvT3cK2VLO3AxjslPqRxH7k0z2vALqzkWMhu1iPAehyMr9dKi/ZlvCJbYQscSw6YPMrn4T6fKfLxrgnjRZ3wpNU/d2Tjub9+ouFi8cRxKo9Mlj61MbV3hihQdtLHGD1ZgufIVWN0NoxPeXyxOrq8iXCsrcQIdQr6+DfuKiRfbT5B6/vTuKPOtMbFtCO40/gbpRmnC2ZYZwP2ptJbkf2qVtJsjHUUtzb8QyOdVdcbiEptcWudRzqVe2J5g+dcSAviaibV653VjlbidAzaa8UnTlyOB6VA3Ej2V1HHiZraQ8DGQM6QtgcDJMc/Ac8JVjpzFWCffuCNviEvZBuA3AjJhDA8Jy/cDpxY4c9ambiJXXTBDDzBzy86Lv9oB4ddK6NskuNeXnio7Yc/ZX0lo3yqgnhz0QkqyZ7lYaeDY6U23m2rPcXcdlbSGIlTLNKvzJHnhULn8zH+lVUnNshIlLsVCqMlnYADzJOBUROsErBnuMxaYjPwQk50JbhAk6aFiPA04uNyFURvJc3EgjcSFZ5e1jYgfmV9BjU5HLnXfZ+9drO/ZqxfiyFJVwkmM5CMw4X5HTwqKkoLMFdMHA+3hUdcjhdQdQ3wkdD3fvVgtbVUA4NFxgAAAAeFU/evbC24aQ8owCB+pj8o9dPvVSMlu4BHNKi/KssigdwDHArnXlXLZZvmZix82OTXqvTj1FoooorSCiiigKSloopKGGRRRRFl3L3091/AnJ7LPwPz7PPeOq/sfs83t2A0L/wCoWbgD/cbhIwM4BZTyZTnVfH6U10BGtc3nlSNoxI3ZNjKZPCTnIyvLn1FefLCxuNG3L3d95/8AzLr8WWQ5QOMqqg4B4eWvQdBjvq2ybBX3mGdMIY1eNgAAHRhyOORDAHNONlQCOCNf0xqPooH9K8Xe10gXilOASAAAWZidAqqNWJ7hXNm1K20mG89KkAaioFLjIB5ZwRgjzHQ1IQPka8xoarJ7DP6Gn6XwxqPpURXtJseNE5nR9cXPF4Cou4j41ZSSOIFcg4IyMaHodactNpVe2nLeSkraosYBIM0+gOP0RjLEeJxnpUJ/XPa0lnaW3BKyJEE7LDNzXh4cd7ad2utVn2W70q3HZNIH7Jm93fJ/EiBOgz+kYIHcT3VLWewry2m94lhtb5wMas6SIvURB17NT6DPU1n21rafau055LVVhljdFjhP4EwxkZwPzKR8Rz1HSq3JLGw3mzkMgmwO0VSgbrwsVJH1UfSm9ps+NLhpcASMgjLd4Ukj/wBx+1Re49vfBW9+l4zkBU+A4A6syjUk6eHD41Wd7rm/G05Y7EO5NuhZVAbAy/xANoDzGaia8Od89sG5uotnxsfxGBnK8xH83B4ZUEnwxVvudhpLb9kDwgBeHgwOzKkMhXuIIH0rH9yba1lkMt9c8HFJw5Fw0Uo+Eu0hYfl5DJOp0rQth7xqjmKK4jvACeAmRY5yucDiUgCT+YYJzy61dLYmrzaBjQ8Ks56IuNfUkAeprOt5NhXN2JHlYKYwZI7dfiBxji4n0y3DywMdPPQbsMycQHC3PhyD15aVTt7d6BbjCqWlljIT9KD5WJPUjXShGcq2RnvopI0wAO4V6r1QFFFFVBRRRQFFFFAlFFLQFc5kypFdKKlm1a5udvAl1aLgjjRVR16ggAZx3HAIPjXHYK++Xssx1SBzbwjoCP8AdceJJA8BWTxSyRP2kLsjjqpwf/PlWseyeQG0Unn2svET+osDr9RXms0t/a+qAi+AphNfhCZGIVRzLEAAeJOlLtC61wKq+ztn/wCozdrLrboxEMR+VypwZXH5hkHhU6Y161GdJyy3tW4kC28M0sZODPw9nCBjOQz4L+g61MEv0Cj6mu8EA0AGANMCn3uRA+X+9GUDeQzFCEcK3RuEPj/tJGape192NoseKPaUvEOSsvZL/wDzOD6g1pbRA03mg6HWoTJk+zvaJfbOnEW0VMkZ/wCpgcQHLiRl+GQd45+XKn+3NpGfakMuy8NcRKDNKDiBo2AKrIRq+mn/AJGlo3l3eS6haGTk2qt1RujDxH3GlZ1uRvMmyo7uOVfxklHwqPif8hAPcMZ8mNG5+41nY7SnWdUWRtWEfFwZJOeHi169arO9m2pNlXPv0cQlV4DbsCcBHDccLHH5clwe/NSm6G+0F+CUyrr80bYDLnl5jxFPN7ViaznEv+2Ym4s+C508c4ok4rMNyto7OLvPdunvLMXYPGqRqWOcRIPh9cZ7quN3tDZe0B2bSQFh8pDKrr3FW0IPlVc3dsFlh2cE4ZJIW7WWVdezThYiMv1JLKOHpwk6Vc9pbEhnXhmiRwf1IM+GDzHoaLS2lq0MQR5TKRkCRgAxXJ4eLHMgYBOmcZrKt/5wbiJAflVyR3Bjp9hUvvVs66sIi1tPILcHDRthzFnTKs2TweHSqJgklmJZicljqTW8Md1XqiiivSyKKKKAooooCiiigSiiloCiiigSrn7L9riOWWA6Fz2qeOBhh9AD6GqbXnLKyuhKupBVgcEEa86xnNxY2vblyVt5nGhWKQjwwhIqV3ehVERVGAqBQB3AAVmtnv8Ax3NtJDcfhytE6cWDwMWUqP5Dr108uVXLcTbguLaJ8jiChHHcygK2n0PrXnLOF9sGAIz31K1ARyYpyl3/ABGjMunW6HxnFN5hpQZh31yklzUZ7preL8PlWeWEHBt+fhGj2yu2nU9mPuQa0C9l/L9aqmwAH2neT/ljWK3B/iVeNwPIlaNxJ7b3bM8ZKHs5gPw5k+dD5jUqeq8jVas909oXTqt9OjQIwYxpp2uNQGIVdMgHGtWjbG9UVsOKWRYweWdSfIcz6Cmdvv5buhcXEfCOeWAI81bB+1DlLtb8GBgAdMaD0FSKHiUeIqr2W/FrdOI0nQv0UhlLHw4gOL0qy2nyD1/eqlV7eCzByjapIpjYeY0P3rC4D8I+n00/tW7b13QRCxOi/F6KpJrB7U/D6/2rfz7a8dqSlor0BKKWiiEopaKKSloooCkooohaKSigWikooPEkIb+9S26O8jbPn+LJhfAcDp3MB3ju6g1GUjoCMGueWG2pX0LszbCyIrAhlYAqw1BHTFSCTqTgEZAzjOuDy09D9K+et396p7A4HxxE5MbE481P5D/mtX2131tLsLmVoJR8rMeBlJxnEmqsDpo2hxqK4dJcWlNIBzI+tN5bz9P1qlT7duIomdXtLhUQsW4zG+gzqE4lJx3YrlaR7Qv40ftobeKRAw7BWeUhgDgs/wApx3UTSU2/vAY2EMI7S6k+ROYT+OT9Kjnrzrvs3ZgtYViBJOrO55u7HLsfMk063c3SisweEEu2ryOeKSQ97N/QaV222uc458JHrjSgyVLD/U7ma4mYiBGKKAcfCvIZPyjGp8WqOHuvvCJDbFwT8JlmKLJzwV4tDnBAydTUzsq249kSIujcMvF38QYkg+OABVqvNkW19s+DICqY4xE40MZYBQM93F8JB0J+tR1kUp9jRX13HFbqLd1BMocdmVwRoqHVnGvLwrZjfpFGMtr9Sf71jl5aFZFhvWMcqkC3v1z0+VZepA0+L5l7yKbbx7X2hEwinYLkDEiBQJB+oSga505Y8qM3HaZ9om9QYGFDl20YD8q88H+Ju7uqkRpgAf530kUONTqTzP710r0YY65qUUUUV0ZFFFFAUUUUBRRRQJRRRQFLRRQFFJRQLRSUUBiuTWwPh5V2oqWS9rs29y8ftWm+zffaOKIW0zBWTIjZtA6E5AB6MCcY61ndeXQHnrWL854b323+feVRyBz5EfvURPtd35YA5k/1JPIVkFvtKeIYjnlUdAHJA8geVc7y8nmGJZ3cdzE4+mcVy/DI1FgG8kNtezKhL20rcTYGQrt85X9S8/tjlrafZwUvNnzWrEsEdkU8jwNlkweh+YjuwKy+OAL/AHq5eyq/Md7JHnAkjDAfxIQf2LfSmWFk26Y3la7OAXkclrdANPFhXJ/6in/bkH8w7uRzUBcQNYqbe7Q3FiT8LkcUlvnQa8+Ed49O42nfayaIx38AzJCD2ij/AKkRP4inxHzDyNTEAivoFdcMrrnp8QI+x6Ed9c2mTbd3HkgXtrY+8W5HECurqvPOnzr4j1Aqtq4PKtOl2dNsxyYQ0luSS9vn4kPVoT0PXh6/tw2luxbbQTt4W4S3/VjHXqJotNe86Hzrpj9LO2bjtnNFPtrbCmtD+KvwdJU+KM+v5T4HFMa7zKXpz1otJQTXNZs/KGbHPAzVtk7NOtJXEXQ8RXVWB5VJlL0aeqKKStIKWikooopaSiClpKWgKKSloCiiigKKKKKKSloogp/uzd9jtC2fl+IEJ8G+D/7GmFcbhiAGHMEEf0/pWM5vFqdvpdow6kHky8X10b75+tZ/sCY7Mv2s20hlJltyc4BPzx59D9B+qr1sW8E9skg7lcfyyAN9iftUB7RN3Dc23HHpPCe0jYc+JdcA+OPqFryu1WaazWZMjuqj7T2BLayme2IVj88bf7cwH68cm7nHrUvuHvULq3STTi+SRf0uOenQHQ+vhVuubNZVzioKHs+7S6Rig4HGksD4yp7mU6EHoeRqu7W3EhkJMebd+4DiiJ8U5r5qfSrTt7dkhhLESkq54XA5deFh+ZD1U+mKZQbWNwjwyKI7rgfhH5XIU4aJjzXOMg6jr31qXSKnuVuKLqRnmw8KOUQKSFlZdGbPMxjUdM+HKtZttjRxrwoAo7kAUfQCmm7OzVghSNeUcar5958ycn1p3LfHPw8vLOaW77JNIrbe6cEy/ixI4P5uEKwP8w1+9ZJvpuednurxlmgfQFtSrY+Vsc86kHwPruJvQykEYOKre91iJrGdD/6bMPBk+Nfuv3qS6LGL0teIvlHkP2r1XsjiKKWiqgpKWigSilooEopaKBKKWigSlpKWgSloooCuc4yprpXlxkHyqXpW3+yraHaWUIP6GiP/AGMVH2FWt4+anyrJ/ZTt1IICsjhSJuNBgnIKrxYCg/pP1rTU3ktZ3AiuInYj5A4Df8TrXj9d/GZXR/0jaxzpbXWp/SjZ1Phhjn+V/CtV2Ze9D05/3ql+1m1geyPauiSA8UWT8TMOYUczkZB7siqhsD2si3gjSWN5JEHDxBlAZR8uc65xofLNEblPbhx/mtVTb+x1QGU4UJ8ZZsALjrnp51X9m+3W2yBJBMi/qBSTHpkEip6/2va7USIxSiWNG7R4uWSMdmJUOoAOWwdCQOdRbqoS0vru6XMR92hPKZ04pZB3pEcBBz1bOe6vMu6COcvd3bN3+8cP0VRgelWCTZ7TEANgDnSTbu8IyGJ+n7VUVt9z5oxm2vrhD3SkTIe7Q/vrURvDvFeW9rLDdQrmRDGlzEfwzxYB4l/KeEt3a9KszcUbYyQR3U5V1nRopVDKwwQRow8fGgxEUtSO8uwTYXJi1MbDjiY9VPQ+IOh9O+o2vXjluOVmi0lFFaZLRRRRSUtJS0QlFLSUBRS0UBRSUUUUtJRRAa0jcT2drIqzXK8RbDJEflCn5S4/Mx54Og8aoex7TtrmGMjIeVFI8OLLfYGvorZCjA8yf8+lcPrl46YR0h2MqqAAAO4ZH7VBbyX62CNMRx40VebO5+FFHmSPvVlvLjhHPHearm2YEuey4s/hTLMBpglVdRn/AJ581FcHWqts7c7tn95v/wAa4fB4G/24hzCKnI45a6eHUz62EKDAjiUd3AgH0xT1YS2gz591N5NjY1YMfHOf2qoiL7dGyuB8UMQPfHiNvqmM+uaqO1NwZ7FxcWMjsU1KHHHjrjGki964z51erjZuBlTy6H+lcbW9KnXUft5UQ32LvU9zarPDEXfPDJGsioVYc8F9COR1PI05XfOZVPa2V0niqxzf/G2ftXHZuzBBtB3Qfg3EXaOByEqOoyB04lkz4kGrM1kCMoc+f96KpZ3lt55MJIA2B8Dgxv8A8XAz6Zp5G2CD3EVI7X2HDcqUnjV+mSPiX+VuanyqhXk0uyLhFlZprRz8DNq6AcxnqRnl1HLHKiHvtdtx7vDJ+ZZSoPgyEkfVVPpWd8dXb2rbZSQQQxsGz+MSDkYYcMf1BY/SqVwiumG/GMhRRS16XMUUUlAUtFFAUUUUBRRSUC0UlLQJS0lFA82NddldQP0WePPkTg/YmvoPZs2NO45H9a+bZkypFa9uFvWLuBVLYniUBx1IGgcd4OmfHzFeb6zl1wq87UbiXPiP7VF1Ie9KynJwccqrttvBC9zJbBiJo8EqwxxDhDZU9cZHjXNta9mwgqPLNdriDh8jTPZdxj0/Y1JXR+H1qL4rtwnCxFVw1Zr9PiPiP6YqAurQoe8dD/erGakbA5jGfEfevWx9sh5XjwUdCA6N3H5GU8mU948Qdab2FyvCF5H99aZ7xDsezuhoYWCvj80LsFkB8FJVx4p40VaL+LTi6jSqT7SbYPs6UkaoUdT3HjC/sxq83Un4fnj+9Z77UtpCOy7PI4pXVcdeFSHY/UKPWgyi2XOp1xoKcVzt0wv3rrXqwmo4XsUUlFbQtFJRQLRSUtAUUUUBRRRQFFFFAUUUUUV5jZ43EkbFHByGU4I9a9UVLJezelmsvajdxjEkccv8RBQ/VND9Kib3fBpL6O8ESo6cOVUkhwuQc5HMqeH0FR9IRmuV+TX5t92ZtFZESWM5R1DDxB1+v9qmo5QwyDWGbj74e5P2MxPu7HIbn2bHmf5T1Hr31qc96ygMmCp1yDka6ggg6iuNmuHTe01ew5XPUVFXEfEpB7qZNtlzzAPqa4TXzMMaAeFQ2b163jux/p05Y4zEyZPe3wL92FCIWOBqTVN9oO8CyYtImykZzKwOjOOSg9QMknxx3Vdbuk3pZtq+0u1hTCv27qoAWPPDy/WRw/TJrM9s7XlvZu1mx3Kg+VF5gD/MmmiRgcv89a9V2x+eu2LlslLRRXZglFFFAtFJRQLRRRQFFJRQLRSUUC0UUUUUUUUBRSUUC0lFFAjLnnUzu7vfPY/CPxYf/SY/L38B/L9x4UUVjLGVZdLzZb82E4+JjC3VZAVx/wBwytOrneCwjGTcofBG4yfRATRRXm1y6bVLb+/pkUx2qtEpGGlb/cYdygfIPHn5VUFXFFFenHGRzt2WlpKK2haSii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data:image/jpeg;base64,/9j/4AAQSkZJRgABAQAAAQABAAD/2wCEAAkGBhQQEBUUExQUFRQWFBYUFxQVFBQUFxYZGBQVFBUdFxUXHCYeFxwjHRQUHy8gIycpLSwsFR4xNTAqNSYrLCkBCQoKDgwOFA8PFykcHBwpKSkpKSkpKSkpKSkpKSkpKSkpKSkpKSkpKSkpKSkpLCkpKSksKSwsLCwpKSksKSwpKf/AABEIAOgA2QMBIgACEQEDEQH/xAAcAAABBQEBAQAAAAAAAAAAAAAAAQQFBgcDAgj/xABAEAACAQMBBQUGBAUDAwQDAAABAgMABBEhBQYSMUETUWFxgQcUIjKRoSNCUrFicsHR8BUzkkOC4VOys8IkoqP/xAAYAQEBAQEBAAAAAAAAAAAAAAAAAQIDBP/EAB8RAQEAAgMBAAMBAAAAAAAAAAABAhEhMUEDElFhE//aAAwDAQACEQMRAD8AzaiiulvbvK6xxrxO54VXvPj3Acya9NumXPNee1HePrV3b2fW9vA0t3LIxVcsIyFXPRVBBJJOAOWe6pHc3cGOMCaZMufiWN8MIgflB0wz4xkkad1cr9F4Uay2DdTgGKByp5Mw4F+rEfWn7ez6/wAZ4U5ZwJEzWw8Sr/maavt6BSQZYwRzBkjBHmC1c7lam2E3cMtu/BMjK3cwwfQ8iKebK2PPeNiBCQObt8Kr5sf21NaRvdbx3rW8C8J7R2kMilSUjjHx8JH6iVXu+lTtpaJBGEjUKijAA5Dz/vV/Kqza49l9wq5E0THGSCXTHf8AERj1OKrVlbySOY0RpHBxhBxeHMaY058qt+09qS7XufdoCVt1J43GfiAOCzd46KvXmfC/7G2BFbRhI1Cjr+pj3sepqTKwv9ZWNzLzhz2B8uOPi/48Wair21eBuGVHjPTjUjPkeR+tbz2ArjdbNSReF1DKfysAw+hrX+lTbBWkA5mvVsrynhijeQ9yqT+2au28u4cdu4uI4y8KHimgDH5OpjPPTnw5+1XnZcEfZL2IURlQV4QACCMg6eFL9KvDHn3fu1GWtpgBrnh4vsNaYBvqOYOhHmDyre/dz4VA7y7oR3aniHDKB8MwGoPTix8w8D6VZ9KjI6K9XttJBK0UiHjTnw65HPiHeMa5rmkgPKusylNPVFFFaQUtJRQFFFFAUUUUBRRS0CE/5/YVbd191L1X7ZezgJUqO1XtHAJ1IT8pOBz/AKmuns32KsrvcOM9m3Zxg9Gxlm8wCAPOtNjhxz51588t8L0qlxbPJPawSv2nZhrmVuEKGZSFiHCOQ4mzj+GrLczhFOTgKCWPcAMmmnuY7dpc6lFjx3AMzfu32que0y+MdiVBx2jqh8VwXb/21g7d7Gyban4krMloc9nCpKGUZxxysNcHoo6VZbTYsES8McUaDuVAK87Gx2KcPLs0x5cAxT+olqrps6KHabFEVC1qG+EAZPbYcnGmfkr1vjxe4XHB83Znlz4cjj//AF4qkNuXtvb8M07ojAMilj8RDFSwVRqflXpp61WpPadaA6dqRnmIwB92BqrEjuBsD3W2XiGJJAJH78kfCvoPuTVpZgOdVPZ2/wDaSHSXgPLEilPudPvU/wAfFrnOdQf7UKi599YskRR3E2OsULsvjhzgH61xbfyNMdtDcxDvkgYAebKSKnEQmnMdpnoTQ4R9vtOK5TijZJE5EqQR4g93kaiNyJCtsUzkRTTxD+VJWCj6VDb9bENiVvbT8JgwWVFGFbJ0JXljOhHiORqR9nr8VirZyzSSs38xkJI/ah4utqof6aUksWDg102dDjXu/c13vV+HPjUZZn7RrYwmC7TR4ZFUnvU5IH1BH/fT/bu61tdoHwI3YArKgwdRkcQGjDHf9a8e1DWyKjm0kSgd54s/0qWmg4YEU/kVF/4qFqtsk2nsx7aUxyD4hqCOTKeTL4H7HIprV+34sxJZrL+aFwuf4HIUjyBKn0qg16MMtxBRRRW0FFFFAUUUUBRRRQaP7K5QbZl0ys758cqpBP3+lXl+R8qxbdPeD3K44mz2UgCyfw4+VseGvoT4VrLbwQKY1aRA0uOzAOePPIqB08eVeWzVWulVT2k2PaWXFkAxyK+CcZzlCB3n4uXhVrNV7YSe/wA7XLawxsyW69DjR5cdSToO4CoRx3Vnvvdol7GNSqcPHO75YZwv4aDI0xzI5U621tS9s4Wmke0ZV/LwTKWJ0AU8R1Jq4xWJx3fvVR3hsReX0Vs2sMC+8TDPzEkrEpHdox8s1DaqbD3Qm2pJ71eMwjbVVGjMvQKD8id3f96vVrudZxLhbaLljLKHY5GDlmyTU/a23F4AaYH+aU8SEDkKJapt1uDZSMGNuox0TiQH+YKQDUwtkqqFQBQAAFA0AAwAB0qdry0YPMVU2j7WAE46fvUiq45U0ltSNV/8+lc/em7/ALCgqvtZu1SxdTzkaNAPEOHP2Q/am3s0sDHYoW04maQDwY/D9hn1qT3m3VS+MRkLkRsW4RyfIGQ30HLxqSg+DTGByHcMaYqNeJkOqjmKaXFxxeAFcOIVEbfmnZAltwhmOGlc6RjqQv5j3CjKG2ivvu0EQaxWp7SQ9DKf9tPMDU91Su0Zvy+p/pTaziS1iEUWTjJZzqWY6szHqxNJHCXOnqTy9TVbRe9jhdmXGdM8KjzLLWbLIG1FbClos5Tk0MZLDIyJXwVzg81XJwepPcNafvnuKIgbi2GANZIhyA6lPDvX6d1axy/EU+lryrZGa9V6EFJS0VUJS0lLQJRS0UCEZqw+ze1Vr48WpjiZkz0PEo08g7fWq/TjZG0za3Mc45KeFx3qchvsT6gVz+k421Gs7zXRis53U4KxNgjoSOEfvT3cK2VLO3AxjslPqRxH7k0z2vALqzkWMhu1iPAehyMr9dKi/ZlvCJbYQscSw6YPMrn4T6fKfLxrgnjRZ3wpNU/d2Tjub9+ouFi8cRxKo9Mlj61MbV3hihQdtLHGD1ZgufIVWN0NoxPeXyxOrq8iXCsrcQIdQr6+DfuKiRfbT5B6/vTuKPOtMbFtCO40/gbpRmnC2ZYZwP2ptJbkf2qVtJsjHUUtzb8QyOdVdcbiEptcWudRzqVe2J5g+dcSAviaibV653VjlbidAzaa8UnTlyOB6VA3Ej2V1HHiZraQ8DGQM6QtgcDJMc/Ac8JVjpzFWCffuCNviEvZBuA3AjJhDA8Jy/cDpxY4c9ambiJXXTBDDzBzy86Lv9oB4ddK6NskuNeXnio7Yc/ZX0lo3yqgnhz0QkqyZ7lYaeDY6U23m2rPcXcdlbSGIlTLNKvzJHnhULn8zH+lVUnNshIlLsVCqMlnYADzJOBUROsErBnuMxaYjPwQk50JbhAk6aFiPA04uNyFURvJc3EgjcSFZ5e1jYgfmV9BjU5HLnXfZ+9drO/ZqxfiyFJVwkmM5CMw4X5HTwqKkoLMFdMHA+3hUdcjhdQdQ3wkdD3fvVgtbVUA4NFxgAAAAeFU/evbC24aQ8owCB+pj8o9dPvVSMlu4BHNKi/KssigdwDHArnXlXLZZvmZix82OTXqvTj1FoooorSCiiigKSloopKGGRRRRFl3L3091/AnJ7LPwPz7PPeOq/sfs83t2A0L/wCoWbgD/cbhIwM4BZTyZTnVfH6U10BGtc3nlSNoxI3ZNjKZPCTnIyvLn1FefLCxuNG3L3d95/8AzLr8WWQ5QOMqqg4B4eWvQdBjvq2ybBX3mGdMIY1eNgAAHRhyOORDAHNONlQCOCNf0xqPooH9K8Xe10gXilOASAAAWZidAqqNWJ7hXNm1K20mG89KkAaioFLjIB5ZwRgjzHQ1IQPka8xoarJ7DP6Gn6XwxqPpURXtJseNE5nR9cXPF4Cou4j41ZSSOIFcg4IyMaHodactNpVe2nLeSkraosYBIM0+gOP0RjLEeJxnpUJ/XPa0lnaW3BKyJEE7LDNzXh4cd7ad2utVn2W70q3HZNIH7Jm93fJ/EiBOgz+kYIHcT3VLWewry2m94lhtb5wMas6SIvURB17NT6DPU1n21rafau055LVVhljdFjhP4EwxkZwPzKR8Rz1HSq3JLGw3mzkMgmwO0VSgbrwsVJH1UfSm9ps+NLhpcASMgjLd4Ukj/wBx+1Re49vfBW9+l4zkBU+A4A6syjUk6eHD41Wd7rm/G05Y7EO5NuhZVAbAy/xANoDzGaia8Od89sG5uotnxsfxGBnK8xH83B4ZUEnwxVvudhpLb9kDwgBeHgwOzKkMhXuIIH0rH9yba1lkMt9c8HFJw5Fw0Uo+Eu0hYfl5DJOp0rQth7xqjmKK4jvACeAmRY5yucDiUgCT+YYJzy61dLYmrzaBjQ8Ks56IuNfUkAeprOt5NhXN2JHlYKYwZI7dfiBxji4n0y3DywMdPPQbsMycQHC3PhyD15aVTt7d6BbjCqWlljIT9KD5WJPUjXShGcq2RnvopI0wAO4V6r1QFFFFVBRRRQFFFFAlFFLQFc5kypFdKKlm1a5udvAl1aLgjjRVR16ggAZx3HAIPjXHYK++Xssx1SBzbwjoCP8AdceJJA8BWTxSyRP2kLsjjqpwf/PlWseyeQG0Unn2svET+osDr9RXms0t/a+qAi+AphNfhCZGIVRzLEAAeJOlLtC61wKq+ztn/wCozdrLrboxEMR+VypwZXH5hkHhU6Y161GdJyy3tW4kC28M0sZODPw9nCBjOQz4L+g61MEv0Cj6mu8EA0AGANMCn3uRA+X+9GUDeQzFCEcK3RuEPj/tJGape192NoseKPaUvEOSsvZL/wDzOD6g1pbRA03mg6HWoTJk+zvaJfbOnEW0VMkZ/wCpgcQHLiRl+GQd45+XKn+3NpGfakMuy8NcRKDNKDiBo2AKrIRq+mn/AJGlo3l3eS6haGTk2qt1RujDxH3GlZ1uRvMmyo7uOVfxklHwqPif8hAPcMZ8mNG5+41nY7SnWdUWRtWEfFwZJOeHi169arO9m2pNlXPv0cQlV4DbsCcBHDccLHH5clwe/NSm6G+0F+CUyrr80bYDLnl5jxFPN7ViaznEv+2Ym4s+C508c4ok4rMNyto7OLvPdunvLMXYPGqRqWOcRIPh9cZ7quN3tDZe0B2bSQFh8pDKrr3FW0IPlVc3dsFlh2cE4ZJIW7WWVdezThYiMv1JLKOHpwk6Vc9pbEhnXhmiRwf1IM+GDzHoaLS2lq0MQR5TKRkCRgAxXJ4eLHMgYBOmcZrKt/5wbiJAflVyR3Bjp9hUvvVs66sIi1tPILcHDRthzFnTKs2TweHSqJgklmJZicljqTW8Md1XqiiivSyKKKKAooooCiiigSiiloCiiigSrn7L9riOWWA6Fz2qeOBhh9AD6GqbXnLKyuhKupBVgcEEa86xnNxY2vblyVt5nGhWKQjwwhIqV3ehVERVGAqBQB3AAVmtnv8Ax3NtJDcfhytE6cWDwMWUqP5Dr108uVXLcTbguLaJ8jiChHHcygK2n0PrXnLOF9sGAIz31K1ARyYpyl3/ABGjMunW6HxnFN5hpQZh31yklzUZ7preL8PlWeWEHBt+fhGj2yu2nU9mPuQa0C9l/L9aqmwAH2neT/ljWK3B/iVeNwPIlaNxJ7b3bM8ZKHs5gPw5k+dD5jUqeq8jVas909oXTqt9OjQIwYxpp2uNQGIVdMgHGtWjbG9UVsOKWRYweWdSfIcz6Cmdvv5buhcXEfCOeWAI81bB+1DlLtb8GBgAdMaD0FSKHiUeIqr2W/FrdOI0nQv0UhlLHw4gOL0qy2nyD1/eqlV7eCzByjapIpjYeY0P3rC4D8I+n00/tW7b13QRCxOi/F6KpJrB7U/D6/2rfz7a8dqSlor0BKKWiiEopaKKSloooCkooohaKSigWikooPEkIb+9S26O8jbPn+LJhfAcDp3MB3ju6g1GUjoCMGueWG2pX0LszbCyIrAhlYAqw1BHTFSCTqTgEZAzjOuDy09D9K+et396p7A4HxxE5MbE481P5D/mtX2131tLsLmVoJR8rMeBlJxnEmqsDpo2hxqK4dJcWlNIBzI+tN5bz9P1qlT7duIomdXtLhUQsW4zG+gzqE4lJx3YrlaR7Qv40ftobeKRAw7BWeUhgDgs/wApx3UTSU2/vAY2EMI7S6k+ROYT+OT9Kjnrzrvs3ZgtYViBJOrO55u7HLsfMk063c3SisweEEu2ryOeKSQ97N/QaV222uc458JHrjSgyVLD/U7ma4mYiBGKKAcfCvIZPyjGp8WqOHuvvCJDbFwT8JlmKLJzwV4tDnBAydTUzsq249kSIujcMvF38QYkg+OABVqvNkW19s+DICqY4xE40MZYBQM93F8JB0J+tR1kUp9jRX13HFbqLd1BMocdmVwRoqHVnGvLwrZjfpFGMtr9Sf71jl5aFZFhvWMcqkC3v1z0+VZepA0+L5l7yKbbx7X2hEwinYLkDEiBQJB+oSga505Y8qM3HaZ9om9QYGFDl20YD8q88H+Ju7uqkRpgAf530kUONTqTzP710r0YY65qUUUUV0ZFFFFAUUUUBRRRQJRRRQFLRRQFFJRQLRSUUBiuTWwPh5V2oqWS9rs29y8ftWm+zffaOKIW0zBWTIjZtA6E5AB6MCcY61ndeXQHnrWL854b323+feVRyBz5EfvURPtd35YA5k/1JPIVkFvtKeIYjnlUdAHJA8geVc7y8nmGJZ3cdzE4+mcVy/DI1FgG8kNtezKhL20rcTYGQrt85X9S8/tjlrafZwUvNnzWrEsEdkU8jwNlkweh+YjuwKy+OAL/AHq5eyq/Md7JHnAkjDAfxIQf2LfSmWFk26Y3la7OAXkclrdANPFhXJ/6in/bkH8w7uRzUBcQNYqbe7Q3FiT8LkcUlvnQa8+Ed49O42nfayaIx38AzJCD2ij/AKkRP4inxHzDyNTEAivoFdcMrrnp8QI+x6Ed9c2mTbd3HkgXtrY+8W5HECurqvPOnzr4j1Aqtq4PKtOl2dNsxyYQ0luSS9vn4kPVoT0PXh6/tw2luxbbQTt4W4S3/VjHXqJotNe86Hzrpj9LO2bjtnNFPtrbCmtD+KvwdJU+KM+v5T4HFMa7zKXpz1otJQTXNZs/KGbHPAzVtk7NOtJXEXQ8RXVWB5VJlL0aeqKKStIKWikooopaSiClpKWgKKSloCiiigKKKKKKSloogp/uzd9jtC2fl+IEJ8G+D/7GmFcbhiAGHMEEf0/pWM5vFqdvpdow6kHky8X10b75+tZ/sCY7Mv2s20hlJltyc4BPzx59D9B+qr1sW8E9skg7lcfyyAN9iftUB7RN3Dc23HHpPCe0jYc+JdcA+OPqFryu1WaazWZMjuqj7T2BLayme2IVj88bf7cwH68cm7nHrUvuHvULq3STTi+SRf0uOenQHQ+vhVuubNZVzioKHs+7S6Rig4HGksD4yp7mU6EHoeRqu7W3EhkJMebd+4DiiJ8U5r5qfSrTt7dkhhLESkq54XA5deFh+ZD1U+mKZQbWNwjwyKI7rgfhH5XIU4aJjzXOMg6jr31qXSKnuVuKLqRnmw8KOUQKSFlZdGbPMxjUdM+HKtZttjRxrwoAo7kAUfQCmm7OzVghSNeUcar5958ycn1p3LfHPw8vLOaW77JNIrbe6cEy/ixI4P5uEKwP8w1+9ZJvpuednurxlmgfQFtSrY+Vsc86kHwPruJvQykEYOKre91iJrGdD/6bMPBk+Nfuv3qS6LGL0teIvlHkP2r1XsjiKKWiqgpKWigSilooEopaKBKKWigSlpKWgSloooCuc4yprpXlxkHyqXpW3+yraHaWUIP6GiP/AGMVH2FWt4+anyrJ/ZTt1IICsjhSJuNBgnIKrxYCg/pP1rTU3ktZ3AiuInYj5A4Df8TrXj9d/GZXR/0jaxzpbXWp/SjZ1Phhjn+V/CtV2Ze9D05/3ql+1m1geyPauiSA8UWT8TMOYUczkZB7siqhsD2si3gjSWN5JEHDxBlAZR8uc65xofLNEblPbhx/mtVTb+x1QGU4UJ8ZZsALjrnp51X9m+3W2yBJBMi/qBSTHpkEip6/2va7USIxSiWNG7R4uWSMdmJUOoAOWwdCQOdRbqoS0vru6XMR92hPKZ04pZB3pEcBBz1bOe6vMu6COcvd3bN3+8cP0VRgelWCTZ7TEANgDnSTbu8IyGJ+n7VUVt9z5oxm2vrhD3SkTIe7Q/vrURvDvFeW9rLDdQrmRDGlzEfwzxYB4l/KeEt3a9KszcUbYyQR3U5V1nRopVDKwwQRow8fGgxEUtSO8uwTYXJi1MbDjiY9VPQ+IOh9O+o2vXjluOVmi0lFFaZLRRRRSUtJS0QlFLSUBRS0UBRSUUUUtJRRAa0jcT2drIqzXK8RbDJEflCn5S4/Mx54Og8aoex7TtrmGMjIeVFI8OLLfYGvorZCjA8yf8+lcPrl46YR0h2MqqAAAO4ZH7VBbyX62CNMRx40VebO5+FFHmSPvVlvLjhHPHearm2YEuey4s/hTLMBpglVdRn/AJ581FcHWqts7c7tn95v/wAa4fB4G/24hzCKnI45a6eHUz62EKDAjiUd3AgH0xT1YS2gz591N5NjY1YMfHOf2qoiL7dGyuB8UMQPfHiNvqmM+uaqO1NwZ7FxcWMjsU1KHHHjrjGki964z51erjZuBlTy6H+lcbW9KnXUft5UQ32LvU9zarPDEXfPDJGsioVYc8F9COR1PI05XfOZVPa2V0niqxzf/G2ftXHZuzBBtB3Qfg3EXaOByEqOoyB04lkz4kGrM1kCMoc+f96KpZ3lt55MJIA2B8Dgxv8A8XAz6Zp5G2CD3EVI7X2HDcqUnjV+mSPiX+VuanyqhXk0uyLhFlZprRz8DNq6AcxnqRnl1HLHKiHvtdtx7vDJ+ZZSoPgyEkfVVPpWd8dXb2rbZSQQQxsGz+MSDkYYcMf1BY/SqVwiumG/GMhRRS16XMUUUlAUtFFAUUUUBRRSUC0UlLQJS0lFA82NddldQP0WePPkTg/YmvoPZs2NO45H9a+bZkypFa9uFvWLuBVLYniUBx1IGgcd4OmfHzFeb6zl1wq87UbiXPiP7VF1Ie9KynJwccqrttvBC9zJbBiJo8EqwxxDhDZU9cZHjXNta9mwgqPLNdriDh8jTPZdxj0/Y1JXR+H1qL4rtwnCxFVw1Zr9PiPiP6YqAurQoe8dD/erGakbA5jGfEfevWx9sh5XjwUdCA6N3H5GU8mU948Qdab2FyvCF5H99aZ7xDsezuhoYWCvj80LsFkB8FJVx4p40VaL+LTi6jSqT7SbYPs6UkaoUdT3HjC/sxq83Un4fnj+9Z77UtpCOy7PI4pXVcdeFSHY/UKPWgyi2XOp1xoKcVzt0wv3rrXqwmo4XsUUlFbQtFJRQLRSUtAUUUUBRRRQFFFFAUUUUUV5jZ43EkbFHByGU4I9a9UVLJezelmsvajdxjEkccv8RBQ/VND9Kib3fBpL6O8ESo6cOVUkhwuQc5HMqeH0FR9IRmuV+TX5t92ZtFZESWM5R1DDxB1+v9qmo5QwyDWGbj74e5P2MxPu7HIbn2bHmf5T1Hr31qc96ygMmCp1yDka6ggg6iuNmuHTe01ew5XPUVFXEfEpB7qZNtlzzAPqa4TXzMMaAeFQ2b163jux/p05Y4zEyZPe3wL92FCIWOBqTVN9oO8CyYtImykZzKwOjOOSg9QMknxx3Vdbuk3pZtq+0u1hTCv27qoAWPPDy/WRw/TJrM9s7XlvZu1mx3Kg+VF5gD/MmmiRgcv89a9V2x+eu2LlslLRRXZglFFFAtFJRQLRRRQFFJRQLRSUUC0UUUUUUUUBRSUUC0lFFAjLnnUzu7vfPY/CPxYf/SY/L38B/L9x4UUVjLGVZdLzZb82E4+JjC3VZAVx/wBwytOrneCwjGTcofBG4yfRATRRXm1y6bVLb+/pkUx2qtEpGGlb/cYdygfIPHn5VUFXFFFenHGRzt2WlpKK2haSii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56" name="Picture 8" descr="http://img.over-blog.com/267x189/3/95/42/68/Documents-IV/vent-dess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5724128" y="908720"/>
            <a:ext cx="3240360" cy="2242766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 rot="20926030">
            <a:off x="5148064" y="1988840"/>
            <a:ext cx="69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QTOF</a:t>
            </a:r>
          </a:p>
        </p:txBody>
      </p:sp>
      <p:sp>
        <p:nvSpPr>
          <p:cNvPr id="10" name="ZoneTexte 9"/>
          <p:cNvSpPr txBox="1"/>
          <p:nvPr/>
        </p:nvSpPr>
        <p:spPr>
          <a:xfrm rot="20476683">
            <a:off x="4514679" y="2708920"/>
            <a:ext cx="75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FFFF00"/>
                </a:solidFill>
              </a:rPr>
              <a:t>QTra</a:t>
            </a:r>
            <a:r>
              <a:rPr lang="fr-FR" b="1" dirty="0" err="1"/>
              <a:t>p</a:t>
            </a:r>
            <a:endParaRPr lang="fr-FR" b="1" dirty="0"/>
          </a:p>
        </p:txBody>
      </p:sp>
      <p:sp>
        <p:nvSpPr>
          <p:cNvPr id="11" name="ZoneTexte 10"/>
          <p:cNvSpPr txBox="1"/>
          <p:nvPr/>
        </p:nvSpPr>
        <p:spPr>
          <a:xfrm rot="19840342">
            <a:off x="5364088" y="2780928"/>
            <a:ext cx="976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Orbitrap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 rot="20248218">
            <a:off x="4713452" y="3356992"/>
            <a:ext cx="45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TQ</a:t>
            </a:r>
          </a:p>
        </p:txBody>
      </p:sp>
      <p:sp>
        <p:nvSpPr>
          <p:cNvPr id="13" name="ZoneTexte 12"/>
          <p:cNvSpPr txBox="1"/>
          <p:nvPr/>
        </p:nvSpPr>
        <p:spPr>
          <a:xfrm rot="1121588">
            <a:off x="3523109" y="178890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NMR 500</a:t>
            </a:r>
          </a:p>
        </p:txBody>
      </p:sp>
      <p:sp>
        <p:nvSpPr>
          <p:cNvPr id="14" name="ZoneTexte 13"/>
          <p:cNvSpPr txBox="1"/>
          <p:nvPr/>
        </p:nvSpPr>
        <p:spPr>
          <a:xfrm rot="18970515">
            <a:off x="6136436" y="280842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NMR 800</a:t>
            </a:r>
          </a:p>
        </p:txBody>
      </p:sp>
      <p:sp>
        <p:nvSpPr>
          <p:cNvPr id="15" name="ZoneTexte 14"/>
          <p:cNvSpPr txBox="1"/>
          <p:nvPr/>
        </p:nvSpPr>
        <p:spPr>
          <a:xfrm rot="7934997">
            <a:off x="5194917" y="3715489"/>
            <a:ext cx="54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TOF</a:t>
            </a:r>
          </a:p>
        </p:txBody>
      </p:sp>
      <p:sp>
        <p:nvSpPr>
          <p:cNvPr id="16" name="ZoneTexte 15"/>
          <p:cNvSpPr txBox="1"/>
          <p:nvPr/>
        </p:nvSpPr>
        <p:spPr>
          <a:xfrm rot="20992938">
            <a:off x="3586436" y="241249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GCMS</a:t>
            </a:r>
          </a:p>
        </p:txBody>
      </p:sp>
      <p:sp>
        <p:nvSpPr>
          <p:cNvPr id="17" name="ZoneTexte 16"/>
          <p:cNvSpPr txBox="1"/>
          <p:nvPr/>
        </p:nvSpPr>
        <p:spPr>
          <a:xfrm rot="19977962">
            <a:off x="3969273" y="4289426"/>
            <a:ext cx="706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LCMS</a:t>
            </a:r>
          </a:p>
        </p:txBody>
      </p:sp>
      <p:sp>
        <p:nvSpPr>
          <p:cNvPr id="18" name="ZoneTexte 17"/>
          <p:cNvSpPr txBox="1"/>
          <p:nvPr/>
        </p:nvSpPr>
        <p:spPr>
          <a:xfrm rot="4694987">
            <a:off x="7071134" y="419480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AMiX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 rot="18847684">
            <a:off x="5368236" y="5332534"/>
            <a:ext cx="84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MetLin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 rot="992938">
            <a:off x="4377081" y="1422561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FFFF00"/>
                </a:solidFill>
              </a:rPr>
              <a:t>MassB</a:t>
            </a:r>
            <a:r>
              <a:rPr lang="fr-FR" dirty="0" err="1"/>
              <a:t>ank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 rot="19479104">
            <a:off x="4403372" y="4946440"/>
            <a:ext cx="73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XCMS</a:t>
            </a:r>
          </a:p>
        </p:txBody>
      </p:sp>
      <p:sp>
        <p:nvSpPr>
          <p:cNvPr id="22" name="ZoneTexte 21"/>
          <p:cNvSpPr txBox="1"/>
          <p:nvPr/>
        </p:nvSpPr>
        <p:spPr>
          <a:xfrm rot="5679268">
            <a:off x="6233703" y="4827235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MSI</a:t>
            </a:r>
          </a:p>
        </p:txBody>
      </p:sp>
      <p:sp>
        <p:nvSpPr>
          <p:cNvPr id="23" name="ZoneTexte 22"/>
          <p:cNvSpPr txBox="1"/>
          <p:nvPr/>
        </p:nvSpPr>
        <p:spPr>
          <a:xfrm rot="4650129">
            <a:off x="5745586" y="3877646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HMdB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 rot="13479609">
            <a:off x="2725586" y="2034691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MZMine</a:t>
            </a:r>
            <a:endParaRPr lang="fr-FR" dirty="0"/>
          </a:p>
        </p:txBody>
      </p:sp>
      <p:pic>
        <p:nvPicPr>
          <p:cNvPr id="25" name="Image 24" descr="LOGOS.emf"/>
          <p:cNvPicPr>
            <a:picLocks noChangeAspect="1"/>
          </p:cNvPicPr>
          <p:nvPr/>
        </p:nvPicPr>
        <p:blipFill>
          <a:blip r:embed="rId4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 rot="2383896">
            <a:off x="1510363" y="4811211"/>
            <a:ext cx="3797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>
                <a:solidFill>
                  <a:schemeClr val="bg1"/>
                </a:solidFill>
              </a:rPr>
              <a:t>reliability</a:t>
            </a:r>
            <a:r>
              <a:rPr lang="fr-FR" sz="1400" b="1" dirty="0">
                <a:solidFill>
                  <a:schemeClr val="bg1"/>
                </a:solidFill>
              </a:rPr>
              <a:t>  of </a:t>
            </a:r>
            <a:r>
              <a:rPr lang="fr-FR" sz="1400" b="1" dirty="0" err="1">
                <a:solidFill>
                  <a:schemeClr val="bg1"/>
                </a:solidFill>
              </a:rPr>
              <a:t>my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dirty="0" err="1">
                <a:solidFill>
                  <a:schemeClr val="bg1"/>
                </a:solidFill>
              </a:rPr>
              <a:t>untargeted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dirty="0" err="1">
                <a:solidFill>
                  <a:schemeClr val="bg1"/>
                </a:solidFill>
              </a:rPr>
              <a:t>metabolomics</a:t>
            </a:r>
            <a:r>
              <a:rPr lang="fr-FR" sz="1400" b="1" dirty="0">
                <a:solidFill>
                  <a:schemeClr val="bg1"/>
                </a:solidFill>
              </a:rPr>
              <a:t> </a:t>
            </a:r>
            <a:r>
              <a:rPr lang="fr-FR" sz="1400" b="1" dirty="0" err="1">
                <a:solidFill>
                  <a:schemeClr val="bg1"/>
                </a:solidFill>
              </a:rPr>
              <a:t>study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 rot="6502255">
            <a:off x="6120862" y="3517216"/>
            <a:ext cx="1666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In-house scripts</a:t>
            </a:r>
          </a:p>
        </p:txBody>
      </p:sp>
      <p:sp>
        <p:nvSpPr>
          <p:cNvPr id="29" name="ZoneTexte 28"/>
          <p:cNvSpPr txBox="1"/>
          <p:nvPr/>
        </p:nvSpPr>
        <p:spPr>
          <a:xfrm rot="17628726">
            <a:off x="3733877" y="2993840"/>
            <a:ext cx="715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KEGG</a:t>
            </a:r>
          </a:p>
        </p:txBody>
      </p:sp>
      <p:sp>
        <p:nvSpPr>
          <p:cNvPr id="30" name="ZoneTexte 29"/>
          <p:cNvSpPr txBox="1"/>
          <p:nvPr/>
        </p:nvSpPr>
        <p:spPr>
          <a:xfrm rot="16639897">
            <a:off x="5012912" y="4441592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NMR 800</a:t>
            </a:r>
          </a:p>
        </p:txBody>
      </p:sp>
      <p:pic>
        <p:nvPicPr>
          <p:cNvPr id="31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Rational</a:t>
            </a: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sp>
        <p:nvSpPr>
          <p:cNvPr id="17410" name="AutoShape 2" descr="data:image/jpeg;base64,/9j/4AAQSkZJRgABAQAAAQABAAD/2wCEAAkGBhQSERUUExQWFRUWGB8aGBgYGRscHRwdHBsYHB4eHRwdHyYiGhokIBocHy8gIycpLCwsHR4xNTAqNSYrLCkBCQoKDgwOGg8PGiokHyQsLCwsLywsLCwpLCwsLCwsLCwsLCwsKSwsLCwpLCwsKSwsLCwsKSwsKSwsLCwpLCwsLP/AABEIAL0BCwMBIgACEQEDEQH/xAAcAAADAAMBAQEAAAAAAAAAAAAEBQYCAwcBAAj/xABBEAACAQIEBAQDBgUCBQMFAAABAhEDIQAEEjEFBkFREyJhcTKBkQcjQlKhsRRiwdHwM+FDcoKS8STC0hZTc6Ky/8QAGgEAAwEBAQEAAAAAAAAAAAAAAQIDAAQFBv/EACcRAAICAQUAAgIBBQAAAAAAAAABAhEhAxIxQVEiMmFxE5GhsfDx/9oADAMBAAIRAxEAPwAvLcIqUz8KkfqMUCZPUgE42tC7mMYhmW6xHbHz9H0Tdn2VRgwRsNsubae37YTjNNq1QLdsbBxiCG0N2OHi0ick2F8ZqKMs+o7KYveR29cRWZ4/W8GiuoatQ1COggzPrjX9oPEfEpEKWAUgmLG+InJ80jxaJqnUqQCbiQD+IdcVUXNWiEpKDpnSqA11WYrBRdQDfiJESLfCdsWnLdF1y9NalmAv/QfLEbw7iHj01rIpb7sooH4pO/tbFvwemyUKaNdgoB94wdJUxdV2gzMVLQOuNi2GNDr5h6Xxt0Tvi/ZDo+DTt9cYZlBB9bY26gMDZhSxUbXn6Yz4AuQTOZcLGmmDNifTrgR6QmyMPntP7bYemnhfmuFhzdmE9vTEpw8Kxn6R3GOUjVY1U1a1MhahkN/bC3hHMARxTI0sGllNjbqP9sXdfIog8zOT8Qvf5YT8X4dk8yIYGZgMoMybWPvibj6VUgrI8TTw/KywWIgtESdsMErRqCliAO0yffviKq8rVQwWkSyAzDiL9yeuNicy1sq6o1JihmYEgn0IwE2ZxRq51ypq0yVXQiENG0xc4q+UOJ06+WQW1KoDCx+eF3EM5T8Mh9NPWZOpo3HZv6Yh+GIuWastHNUCtQQAasEb9f8AfDQsWdMu+JVKZzAcE6EDCorGEPyPzxryOdoZiofBKeVSsiI9IHp+uI/hnCqq66tYipqmdJDJEWvgXif/AKimj5enU1lviprEX2/TA7obhWWvG+KUaELUp6yRYAEX6COuJmqzuWepRRQbBLzHSSOvpil4AuYaiEzSoR01G8evrGBc19n9JyBTdkUkFjqnabA7gdMDagqRo5f41llpFCfCHWRa5PXtbDVuS6FaalN1MgxG1/SYnExx3lytk/PTmpTU2VhJPSJHaTvgGnxSwrZcmkyjUVBsTN1YeuCooFt8DvM8s0pQEgEsfKx+U9P8OG/DsiKbEG+roNt/T2wmo0svnATUL06pAbTMwTsQeo9MUvLfLBpan8ZqobaTt+uF2tjOVIYUaqEw66exE4Y066AQGED1wJpKgl0J7RjH+DpkElY97YdNom6YYulh3BxpNLSYFhFsAZfK0i2lHZSJET7Ex9cbq3C6kHTVPzwbb6CqXYSdXUThdUiTY4wdcyo+JTHftgMZzNG/hL9cTbKxRL8w52owpVvhQVB5TMgeuKiiZAKmRhFT54ytXUrAjSJYFbDB+W47liv3dRRIsJjCtMqmhPxnij061TSxGlQAOhdtvbD6mjPRGqzMPNHQ9cCNwGjUDyZ8SCYbqNvbAfNPF/4WmLFlsGI3jG5wgX2e1cnRRoc62I3Pm29PnhPnOUqdeofDqCnJ0xptHb3wFwmnmc0FbXpRSSpA8xtF/ljXSz1bKMPHBaiCx23J7/vh4xaeHklJprKwdN5Y5ffK01Q1AwAgQsR+uNmW5lLVKyLTc+CQGYQZm9h1xhwXi58Pz9F1C82PT1I2wu5IzipQrV6zANVqs0HeBYCMOiLwVPCuLpXUtSYP0PQg9j2ODgzdR9DiL+zzI1DVzeYKlKdepNNTawm8es4ss3IRjqiATPaMVJGYrgbgjGsZtdW/TE9yzxqrmER5RvziCCAZg7+k/PD/ACZB1H+aPpbGthpI3Gsegx8oPU/TAOf4jSp1KdNwdVQwsDcjfbBqUx0wQGNSlLCb4GqcK8xKtpWBCgCBE3H1/TBAPmN9sfGowO6kfTC4DkWZrJaX1amJaesDYb+w/riB4jx2rVqHL5M/CfPWYxc7wenyvi15prOMtUZbMxFNY6TvH+dMK8lSoUqSeEqlVAlmW7MZ37XvhHUclFbwQXMHK1ekgbWahIloPXeDvODeA8p5bM0gQSlSJgmbes7Yt+K50CmQGoLK3H1/2+mOYjigo5lmB8lUabXm/b2wLk8Iaksjj/6XzVFtdEmAbQILD5WPzxs4ZnRVqMjoVrKD5NRRX72GzDt1w9yvO1FUpaiBqkACZjbb0GFHMWYy71Fq0KgLKwIItaeneD198BN9mrwzbOvlBUq+FT09QXY6gegnb9cUPCeM0s4A6KEmAylbT1uIM3jCHnNadIFqwJV0VgoNtU7Ae8/LG77POFNS1Zus4pCoJ0kwCojufYfLGSwZtdDfmHPZ1ayaAf4cjzlVlhboN8QPEaoWtqcNWpaSzg09J1TZTbFDzF9pKUqrJlSajOYZzJAtsAOow85T4pXrUH8eiELAQWFmm3w9Bh6ayxL8IbNUalbMIKa06NOwhakE+tryB0xS8OyNSlVK0s24EAhNwO9zMzhnxLkzLuEIUoSxuiwTqF/L0EYKHKVBFKkeb8GkeeBH64m76KKuxdkeeqhRhUHnWoaa6Yh2E/S2Dhx3L1HIJOoAlleRBAEADY4HfkOjpBTUryX+Kyk9cKuYeWXAp1GrB4awO1t5tc74LZkUnAOO+MupV8yfEALwSY/S+Dq3GWBmAqiZm5n2GOd8oVXpV6kNBZVn1JvaN4EAe2LWqbyLkC4UCxa+5/y+Fba4CknlnuX46XaoCYAHlaCAT88MMvnl0iWExfA3CawaVEFQN9yfc7fLDL+DT8oxqbGtIleK8tpVUjw0B7xhAvKtAVkVmvJ0hT8Ppi2IncxgQ8Npl50yR19TidstglqnIKrq8LMukmbGY9owJxrlasFLmsX0rOlpMwLHr74ouK8F0qop6pLRC9jEk/IYJThdUBoqTJ9bXmPpbDbmLtRGcLzfEEAWmtNiY1WiAdiNsbuOnNZmi4qZVhpgDR+K+4t/k4qctSzFOoB5CpB/Qnb6rgz+Jr+G4KwUU7fi8u47XnDqX4ElH8k7y/zBTyopLWo1EK0zJAkdDf1ttipy3OeSqqNNRQXkJqESfSRj6hnBpFKopLQqn1JAkgkeuNOR4PlagUuqeSAJAtcxfvYYZMk0UOQ4pRICrVRiBBhhjbn8sKtNk1kBgQSOxEYRZn7O8o4eEZNZlirETBnAmZ5HKP4tHMVBpTSEkwYG5giTivRLsdcP4U1AAa1KKsRpgmBaTOGGQpxSWdyJPubnHPaGQ4oERRX1SZYsOhjy7WIvg/8AjeLUtc0qdRR8AG5v1uIt6YCozsZcSDHP0qjU38KkjXiRqYgdJ6D9cUeSrrUUMAQD3EH6HEdS53zCsq1cm4lZLCdIN7Tp3xsy/wBqGXKa3SpTGrT5h1idgZ+cYICwy4Bk+p/tjdowhynNmXnwzUCuq6mVrEDeTO2GlDilJ/hqK3sQcFAaYo4hVVg1NvwVA8d1BBP6HG5qaR5VAkztgHmnLsGFelBZdx0I6g+hFsaMtxZXpBlYqFIkRJH8p/v1GIPwsl2Y8QoUkViwWJvN7n/zjnf2hcDVNFWmLyLrsP7Y6eKbt0p1AZLCR6aR7ATgPMoEBXwkpg/GSJEGJP8AnbCx+D3DP5KjmhqHKshZNYImQdmibHY2wdluG0K8soJfeZ6229/1nD/Knh71BllV2BPxGwB9B2+mPspkMtkalSpOq8qovLf2EbYZmQRzvw5czWo0zc0EUntPYjr7YTcT4TWrMgqAMACAQTYAx8HsNpwDluO1alV2VSXZpJMi3UfTY4b1+M5nLU0zBpjwzZiWmx36b2wJOe4yUVEDyGfpZGhXJpL49MjRYQ2r4T749yWeztSoD4hNQ0tbWBgFidK3gWXfBebyS5rNrUpwaaoFIIBkmYJPpM4oeC8NNJKjGDULRcRCjaPSDqw13gWqyxI3E88tmzClAurUV8wIEx0BwLwX7TqrBiUFRhtYhnFxbeDhpz1wxs0aKUSLNprRYkAAmOkX/bC7i/K1R6bJTphYIKPF0BMGI9sa65NzwO8nzzRqrA10zaVfp0gdyd46/PG7mniKLl/MZZvhU9za/wCWJxI5/IZsUzT1UnMfGwhxpg279Ywp5kX+Fo0KusvVdhM3W0EmDsf98alJ0bhWx7y5xOgrMXaGBAWNtOmImN9zb0xY0ASdQBgi8Dax6ncwAMQ5qU3q0vuwXEOxy9/+5Ta8bA4sPFdqC+IW0ux8RSCCAQfLFoAF/fCtDJhPDMxDaFZT1YEy3ptYWw5XMrjn3DeXqeXYtSJfV5TDSYMkqP7nDFsmjXAzI6W2tbv6YCfg37PKXMi6gWBClQZ956fLDLKcYpNswAN/lhM+ey7WemQWGxXYAHf9cNOD5WkSfCiw80bX7YkdDDxmEY+VhbczjaKgIt1sMac1k1ZSoAFt4FsR9HgVXx4y2YqlVbzFoKjuB6+2HSEZb0gDUY/lAX63/tgkqAZHQ39jhTleHsqlhUaWM9D19cY5PjS1HdEqBitmBU2jcHGQGh8FBMH5HHi8PpFgNCgi9h9ML8jn9awCrFbSrTttg3KZrXMqVIP7e2KJkpJjRbYzCg4GpZobE43wNwcXTs52qMKy3H1xsBEXwNQzOqs6/lA/WTjfmqpCtpEsBYdzjA/AFnaq1G8FWIYiSV6ARv2nAw4Cq/GQ6sbhlBkm30HQYX8AoNTzJDEEtTkkdCTt6kwfphnks89WuysulUiAYnY3PaZGETvLHarCPMzyblX1E0Vl10sRYkdpGFtT7OMsGpsgZTTBCgGReTsd98VdSuFiepgYTLxV3zopARTVCTPUyAPlvh3RNWQ+S5QqlwlOvXQCoWYtMMpgadQMbdh19MMTyvm6bEroIB8ukmdPYyL/ALHFzXYB0Hc/sDgiMLsvkffXByzO1KlJ4fL6g3VCaZ+Y+E/LBdbMNp1MIVliGcMZ+XTF7meGo58yzaL/ANO2A25WR50kqL7wRJG8HthJablgdakY5JHgi5cODTol6hAUtuPkP3x5muUswaqkUiQG1ALAHUxBtvGGuf5iyXCKenWpqb3uT7Ktz84HrjnnH/tzr1CRQXSvd/8A4KY+rHDR0mxZavmDoFHlWomkvWSkSsOGe/6TN5OMuI8rUq+W8B8zA1A6kpsTAm0k33398cGzvPOdqm+YdQeiHQP/ANYwqqZ6o86qjMf5mJ/c46Fo1/v/AAg9Wz9McP5RytKPDrlbAWEbf3w0bl9vFNVaoKtEjURsIFwPeflj8mCow2Yj5nB+R5jzVEzSzNZCPyuw/ScMtBCvVZ+nMry7UWrUqOAd/DG4vcn9h8sCjMguRLB4ggESDFwDtAEEXnHGuD/bTn6UeIwrDufK31Wx+anHRuW/thyebhMwArGLVAoM+jfC36H0xKWlRSOpZT5nLKxUMs/86A/qD6frjnPNeWpValRCUWmqkrM2bYxHUaduxx0epy/Tamz0Sat5AZj5bibdo6YWvkaFWdelivkaDcdxAiDOIyjtyWjJMguTuMrlkY1KdUVD5V0U91EHVHSdsXHL/HFzSTRrh43RluLbE9L43Zjl5IJp1YaIXUJi3X5YiU5eGUdqlJmouSdLDzKwMdOgJOFb9GS8LGkoemNVNdbAmQNIUgwL/wBcaxnjT8niUk020xMfPEtnOa86KXmNJ7hdEEE9ZHbGLc40AYq5Gp4n4vfA23wNurktK9BXgQIPpuMEUcutMQigE9v3wMtca5PQRjfQzi7lhPviKOlgPH+HVqlPRSqBJ3tJPznGrhmTzNOmy1DTgCFCKR8zhuGDvY2X98Y56oZRRuWv7C5w1i9ma0ylNQOgAxF8pcUpUFreM2iq1V2ZWsb7R326Yual498asxlFPmIEgzMYK4oVrIt5dyfhU1YiDVln7y0sP3jDPOVBTovUJ+FST9CcecTH3ZA6wB8zj7NZFMzQNNpCsIMGPQjBXIrWCa5b4/XZsrTk1GdS9YH8Kn4TPfp64vKjgAkiwE/TEwnK4p16VWnUZCieH0IZegOD+M8W0U2Bi6k/IDFXJIjtbBOD8QatUdkLXe46QIA/bG7mDiD5VQXZqiu2nSBcCCZkX6Yn+Bca/hmFOAVKl2PXYEfLf6Yb5nmLKVgGdw3Ydm3geoGEXA0lk1vxvLVVpusB0ZTBs0DphrwnPKK1YndiB9ALD/O+EnEOW3qFa1BF1aIirOxmxAHr1OEfAErLXVapIZVJabgFZLARuYYGcOkxHXBacS4xNRCAwVJLGDCiDBPpv9MD5VVqu9Va5J+EMINhefqT9MLsq+aVXWvT1rVmQBcCwHeRF9rbYwq8LoQKtMEFkCoqjTtM+u/Xt74LbfAEklkpFzgNdELEt5gI9N/YW3w38E/mOJLlLOjZyGrRLsO2oxfpubYs6VRQmtjCjvisUyU6NNOqEDNVIAW5JsI7n0xx/wC0D7aWcmjkTC7Gt3//ABj/ANx+WFf2kfaaM9VehRkZZbEj/iEdTH4Ow6745/mOGkkBATOw3Nh+o9cXUURtgz5guxZmLMTJLEkn5nfGS0ySAtydh3/wYwFIr5iPMjQ6m3197g/Lvigo5qminTAg+LTHUgjVpiDN9SHaB3GHeARzyTtXKMpcEQUuQd4kD+owdR4VIU610kEk3tp0kja/xAW9e2MqmZSpVVaeqDTNOWABPxaNidvKJ9Me5TMsz0x4QVdPhn4og9d7GbyOpwXdASVmrN8JZKbMSuoGCBO2srM/8wwOuQaXi4QmYI6TNjc2BODkztV2CukanBLQRbXrjtGonA+VzCnyQyPUaHYAMSrHYCxHsN8ZWF1YF4ewNie4x4R0Pzw+SujBmYq6pbzHUdIBY/FB1OxC2FrxGE/8FLKgjWbmTFzsvv8A1PpgpitFJyb9o+Z4e6lWNSkN6bHp/Kfw/t6Y7nwqvlOM0jmMuwSvp0vtqEjZ1/Y/rj8xdYNowx4BzDWyVda+Xco69OjDqGHUHthXBMKm0dH5oy9fhpWkmaZneoPELagYMWgkgrv9cPH4rm1XV929HRNJLTNgNVh5Z/bFBkOI5bjuUWqqIMygsGE6HF49V6j/AM43jNOFIqUFhXCEFdk0BiZG4BnHHNHVCVkK+fzDhWfJ6vO2oUxpCx5dxJbr7YX53mUJUZf4aq0GJiZ+ZAkY6ll+EUWUtpKiCxYE31Ek272H+DCXPeH4jeev/wBIJEQIgjEml4XTfppqcyUKdQrr1NdjpBb9saclxIVaZCOrvqJM777Qdu2F2Y5VywAC1tBie0/SO2NNDk+vSqGpTYObfiMkes4hSo6rdjehTzFJmbwz5p8q7C9jvvG8d8NslXaq2zoUH4h1PbvtgChx2ug01KDE+nX5Y+p860lJ8Sm6X7f3jGM8Dx0qSPhIn2xnUqOQQV+hwtoc3ZZ488f8wIwyo8Vov8NRD7MMGhbBa+dk0pDACWNuw2t6nBGV4nT1xrHmuAbe++PcugNRiCDAgfvgrMZUESRt6YyA6M8xmFCkk4kuYgxHlYAEgGex7frh/m+HT5lAIjCOvlJqIBeNRO52gRf3xm2BJUSfjVUJIQvTMhZGqAQQQDvpP9MDZXLM2t6lACGXQy20soESttycVNGjUoV5ALUitl7Gb29BjI5Nc8rNRfwWO6/mgmCRbrN+2HjInKIvyvP+bSoFZNY3t2APcb/PB1biv8SHei4psQrEmZlSTEdBFiepGF+a5fzNOwU1GE6SkAehYE2v+xxp4M4pCqc2WR2IQQsmelhuZP64dW0I6sYHmLMoBTer4gKnWwQgoLAt2YQf0xhxnjjKSpdW0yBeDB7fQY+zfBacVCjMz6ZVmBhhG1vUC8emAqPKhdDcVmSmrXkbkyI+Xvt7YMGuxZJ9DD7Pq5fN1SZ8yiIFgATc9v64G+2TnQpSGUosR4l6hHRe3u37D1w24Zw0ZHLVKxVk8QS09FQEmP8AOuOJcX4s2YrPWefM097dB/THVCnhHNK1lgFM3E2B2btipaioSnLLIB80DS6kbmSJp9CouN8JxwyF1IdSkSQR5WAEmGBPmF99Jxsr5Q1UpqjeQGSDushfrtuN/TFnTJq0aa2Y11V0U2sulwxuR2YwNhYE3sD0xl/B06LanclgZUAX3tI/y9u+Ms9xMINFIyQIL9bevp39B2EJ9RmeuCkzNpDuvmnpLqWiqCYvBIMSJAuOpvgBuNVfzR8h0w04hxxKlJg4p1HZQQwpaGV7EktN+otvPTE9gRXqNN+MNHGavcH3A64ZV6lRJNWkp0xqKkSuodfyk7++E2TrKjhmXWo3WYn/ADfDyrxtHVCSS9JTLNANQgjwwQCdWkmZPrjNeIMXjLA6GTpMwamZIvoPfp8pgxfqO06aeYqLKlYIOpmFmK9ZaDbsfXrOG2T4SlSllphWcvLgwxgnTA6+/pvjWcmWTTUYQbiZ1RNpABE9d/7gb0HY+gWvlKbxp8qAGCBcx8TNP4RsB1OFDSACdjt64PqUjTWC+pZst9M9yOvtjJuHglxq8R4kEA27Ek+XTGGTEasO5H5pfIZlagJFNoWoB26MPVdx8x1x+maPGVq5Y1bGF80bbSCPQi+PySRchtxaP8647F9jvMXiUzlqlwo0EHrTadJ/6WlfYriGuq+X9Suk7wWHE+MMYWl5YSApPxmRsImxBE++FC8ZzNwlEaQSBDW8pI/ph7X4fW84R6auFbQoA8q9IkTfqcRzUcw19dJJ/CQZH0+uOX9nUWVfhdJrsim3bG2jS0j3xrq5zoVbubT+2Pk4jTJjVfsbfvjmOzIBnuGuNb06kMxmSJItEL2nGH8NmCshgZWdLASCYsbbb4Z1KwJUAi5/bBS+mCAms1lYUasorWMxHe3v3wOeE5dn8M0XRjYG5AN+p6WxUMxJW1pM4zzVZaaMxsFGMYmuE8sG7LVdDqPXcTAtbthlV4Zm0+CvI/mGGdIQy9iP2/w4MW+DyCybyHEc6qsDTDFTF7T7RNsBjmRxUY1cuylQASp+fUD0xV5htJDfI40cLreIpY7FjFugMD9sEVsUpxrLkSwdZ7iYn2nBOQzWV1SlSmDED8364dtlVYXUH5YHPBKL2ZBIva2GURG0a+I5phSJp6WeDF4B7bY5zUXN5nzLSpo6vLEgT9T9cdEPJ9EtIlbdDG/tgROA6dWis/l3DAH0w8VLwlJr0VZLhtePvqoZTfQP7++GjHQBoMTAAn19jjGhRrBoPhsOkgqT+sY+OfIrpTehCgmSL7W+knBVJ8Abb7EP2rcX05QU5kuQkHt8Tf0HzxyCiKZaSfDIIKkDY/2xcfbLnhUr0UpkBQrsfcsF+vlxD0shWsNSGRIVlMXEwG0xPzGO7TrbZxzu6Pc+5ZtGjTq3ekQdU9wCAR6G4wRmaZVaeXp3qVCASO1hPf8A2n56+D0w7a4I0iTBkfQi3e5OC+C5SpUqmsC3iM0U/Db7wdyqlYZRIBkr774LxgKzkVZjl9hLJ8Gg1FLQpZVMGwJgjsSMK9OLHmjiVVx/DMqVK+qGdaRSqVFxTdY3mG8pIMDEmUIMGxG4O+NFtrIJpJ4COD0kNemtT4GYKx7BvLqHqJn5Y84pwt8vWejUEPTYqfl1HoRB+eB4x0bm3g7Z/K5bOUKbNVNNEqhRJb4gGEbkMrA9YK4DlTRlG0c20YZcc4V/DmnSI+90B6noXuF+SxPqx7Yp/s95UL5wNmEZVpNOhlILOAWA0kbADUf+kdcZ5nh6tmKuYraatZ3L6JmnTE/jO1QgRb4R1LbAPUSdDLTtCHl/g1UlazN4VMTpYiWbcHw1O+581lB6k2wdxc0qYUWQ9FJLMZvqc9CT1t7Rgfi/M9yKZ1ud6p2HogPbofoBvidooHqDxH0gnzOQW9yQLk4yi5ZeAuSj8Y5GmlKrNT6jYj9Y6f58sfZCvOqjAUANubnYEXIUt1k7XjDLiOWXwFbLqgpUjK1CTrqMY1SCBaOl9sKuJOBFQIpLdTfp27+84MXaBJbTRxCmC00wWIkuQSw/7jue527YZ8i8V8HPUSTC1D4bR2ewPyaG+WA62VRmINfWAsgQReJEKAVI6QCDhZRPUTqBkH/PXDtKUaJ24ys/VAcaTUCgV2TSD67QfSb4g6eTqEf60XMj1kz7SZMdMVPD+YUXK+O5hQA5kdHRWgfM45zxP7QaZqsVy+kEyASQdheBa+/zx50U2juk0mWfHOa6eVP3gYswMAYT8I+0inUqhaqrTVvhYnr6yP1wFxfwuJQNR1LJURB7Hexv2wiq8AU6qboR0VjJ+vb9sTiopU+Tpe67XB1Sh4dVtS6WAESP9vlgwZaNiR88cu5Q4fWyLlpLo4+EExPft88XWS5ppsSHVqZH5tj7EYSSSeGOtzVtDVqLSIf6icA8b8QqlOAdTCbxYeY/tgz+JDMpBmx/pjJxqri/wLt/zf8Ag4CMYNm28s02EEbQf64LXPqNzHuCMfZ1fIfr9L4zQAiR1wQGjP5xWpPBB8p2PphWvH6eVo0xVkGIsJuN9sb+L0F0qoW9RgPluflAwPneBpU8jzoItc7j9NsawUOMjx6jV+CoregP9MMTeCDfHKOP8gIoLUKpDgbEwfkRF8KctzfnsiY1eOiwSGmY9Di8UnwyErXKO7UXnAS5kJUqsekYgcl9q+uClLcXUnbe89O22Kng3GKGcDFKoDEDUnVY3n52xSLrDIyXaHASpV0kgKov64wzdSr4jaNOkAb7yf8ABif4tzXlcqwD5hiR+EftvhBk/tCp5jMeGniDxHiZ740naBGJD/aZfNpb/hAekl2/vhRVTSHJR1VQY0tI2IAYKY3O/Xrij+13IinXoOQSGVlsQJKsD2PRhiOHDiiFzlqwUXJLgfp4e1xjo02nBMjNNSYXlqyrlajKpUNa7yeg6Adzvj3hnNz0qYoyfCM6ikCrpNyFqMDAm8ftj6qVbIEoCo1jykhov3gd+2J3D0pXYrbjVBnEs/4tVnuBYKJkhVACiepAAv3w84ZznYJnKKZult95/qqP5avxfIn6YmMZU0LEBQSTYACST6DrguKaoVSdnSMjy/wuvUpVMu7wXUNRqQQpJA8wJ1aR8VpUxEicbOK8SU5ipok01JVCQJhZAPz3tYTif4Lweplm11YVzH3e5WDMtFgf5d95jDbieTpiiXSqFqMwGmV0qCYDeb4hFyRcWGOKf2q7O2CqN8B2Vq1K2XqDU/3RX8RjRVOkqZMASoPr1wPW5TNZCa2ZXL5YXOlGKmNpepo1n2BHbG/JUgtECmdZdgzuWAlknTTWbETeT32xNcz8GzlVzUdqlaL6XEOo76Niv81OR3jA08vmg6mFxYPxHM8PoeXL03zLf/crMQnyRYLfOPnidzWYNRtRCj0VQoHsAIxgBj7HdFUcLlYxqcw1W06vDbQIUGmth6WtjflyDlSxUNoPUGOnUH164VVssyhWZSA4JUnZgCVJHe4Iw14UwGWrEgGDsZvb0xmklgaLbeRjwrMuaCkWAkQikxpM3l1VTf5gCcTtemFrOusMJPmEQevtgqjlGen4i0UYaisLrJsoYmxgCD1OBM5TKtpNNVMA2JNiJB3PQ40Uk2CTbSO7ZHKfxPAaKCA70VS9rrqAJ+g+mJQcsOnlqLlnZbFiSSe36Ri44WBQ4ZltXlApJN9vJqPz82A24gZtQaOkOhH648/c7dHcoqkaeGctUaASqzEmmmkEmAB1PzwuzfEfGrpRoA3Op3YQNPdZ3nacUua8OoNLgEdmFv1xqGRpLU1qAGa0g9BjnvtnZT6E+eBoOlJQalSp8KzsBuSTsMFZDJ1G1eKmmGgDeR3HpgvPcIL1kro+h1UrtIIODczUqeEfDAaoBAmwJwKQdzFfCsxRq1mVDDU5DWIg++3TDjI5tBUcM66piJEwBAt9cKeWuHHL0YqACodT1DvJmScLuCcvvXr1q9cDQ7FfDZb6V+G/Tcm3phlFZEcnSsuajA+2MMs0IATPTErzbnHApZagYqVWAkGCircnBXGONNlaSoqlqjsEp6juT1Y9hjbeAWsjOuNVdJ/AC31sP64LrrK+1xhPwinW8R2qsjeVRKiLiZEdr4xzXHSubXLhSxZdRII8omLjGoNjA5eQCPecC53g9NwfEUPPcYz4VxFaj1EGseG0Gdu9j1wbmaiyl9za+8YFUa7IPinIAWo1SlIFiADM3uCOvcYW5/hWYy7fcppcggOD8Sncmeotjqgyc9T9TjHM8FDgg9rYopSIuKOJ5bhNF2P8S706n86E6u5EdcdB5a4LkqelqbrUYCRqAkeotM4o8zw2mV89NWI8twDvAjGiry1SKx4antYW2sMaWo2hYwSJ77XMiTk6ddPio1A3yMD9DpxCcQpIEqBnVNSGXQUgWtIA8z1XVjH5cdlzXB1qZV8u9waZX2BEfpv8scFzear0CaTPTy/h+RtCqHYrYnyjUSR1JAOOjQe5UR1cZPckyVMtVRFK6RI1HUZ3+IAROnaIx7wblEv4dWqQMuwlmVoIuRpEqdT+U+UAxaSs4E4RnKSVAFDHVYuxj6KJi/Uk4a8R5kNNwj0/KoGjSYAXppXYD2MY6JbliJKKi0nIwblCkGkZkFR+FkdHPYAgOs+s4f0+JUMrS/8AT0xRWIeub1HPUKxuoPZYJ6xgKkdShosQD9ROJPmHMFq7CTCeUDtYT+s4nG9R02PLbpq0b+L8xmoClIaKZ3/M3ueg/lHznDutFDI0jU8zFSw1by/+mv8AyhRrI9u+JXheSNatTpj8bAfLqfkJOGPNvGRXrkJ/pU/Kg7xAJ+cAewGKuCtRXHJNTdOT/RQZRBm8gxHxqjIw/nT72m0fzAOvucI+Fc7ZvLwFqlkBkJUGtR7BvhPqIxu5B44Mtm1FT/SqkLU9L+Vvkf0Jwr47w05fM1qJ/wCG5X5Tb9IwFFJuL45NKbcVJfof8R5kyedvmcucvWP/ABsvBBPd6TET7hpxN18mBU0o4qjcMgbbr5SAQQNwf98C4dcrcHbMVSEzCZeoi61LFlmJJhl2IF/bD0oonmTKjh7ZSll9SNW4gAhL0mKpTpgA3amxLCOjL9cTorhcq9TQoFRyQmygEgQALkCME8ycPdBTVqmWr1KpIFSiTqIEA6yAqtJ6mTY3xq4zUVDSy6oKlgCLgljYQQQZN/S4t1KRRVsz4TlppKVo6SxLWBaRNiNNRagAgjY98KaeV/iM54dMt95UCLrkt5iFvN+vW+CnzhpnwpVSlglZEqBesCoAY37AYq/sf4C1bPvmKgBFLzarEF3kLBFu7fLDN7U2LzSOncdyTuqUqQUhU2awgWHQ9F7YmF4ZUFvBpfJxH7Yrsrmw71mFxsPQDb+/zxDVOGsSSDWAN4VgBe9gQD+mPMWT0OOCs8JyZLCOwH9Tgf8AhadRyCJ0/ub4nuVed1rIBUMNin4fTHmIM6m1f0xJpxdM6E7Vo3jIjoWEdjj00nGzj5jG9PfHsYxhdmq7fDAkwJHqf7Tg+lmyLFCB3t/fC5M/TeuVBBNO7/ym8fPfDYPItgguwWoKOsOyDUNmK3HzjC7ieWpV3852hlIMEFZuO2+HUYWcWywiYkwVj/mgY2TUjdwVCKKmSS3mk+t8Jjw2vRzlasqCqKqgL5tJSJttce2HlLIKsASIAFif2xtakZEMfnGCpNAcUxOlI5SgrNLsCWqaQSTquf1xP8Tz9V81TrVF0UqCeIeylp0j+Z4G3fFrVpuRB0kddxvhJw6qWp1NVLxPvCGFj8IgWPt+uGjKsiSjeBpyejjLh6pJeoS5npq2HsBAxp5w4pVTwko1NDPqueukAgYzoccVQF0MqwI8tuthHaMT/O9cVQjpr+6uSItMQw7x29Thk8iyjSMqPO1VdD1TTekKkOygggD8RHocdCoZlaihkIKsJBHUHHGM1WUI58M6mbSYFmBAkkSP8OLP7O88Uy5pNINNjE/la6/1wz4sm1nBX1Ggg45z9pvI9NqiZ0f6ZGmqAQt/wFmIOkfhLR2x0RqwYHGjK1VIalVAam4Ksp2g2OFhPbI0oXE4ZxXhS+GrrSpxTDMQA1PWo0xpka6iqb620lpIG2F9SqM1S6Cqk/Pv8jH9+rYo/tJ5VzWWqhPEJyjyUckhbGT4n5qg73JtHbEYlZlB8BW0JBd9Nz2LR8K9hPrvt6MVas45NX+BpxPmMIdNESRbURYewO598A5DgL5mCj6qrlvKQbkDURrNtUXva4vgh+HDMKGEJUImD1F7+1jB7A9hqa5Pmn+HSujU3o1Wplaar/ph4ClgNwxAAmTt2OB9VUVkP2fyeCZou+XZ5Uh9LUwfykwGgixOkxbvgLHQuX+EUapWi5BR6b5fLsIKmrpL1KnodUBT2A7YkeM8NWgtJCGFfTNVSRCyTpEbhoAJHqMPGabonKDSsV4Y8Y4n45RzPiCmqVD+YpKhvcrpn1B74X4suXchlKmWp1DWfK5lKhUVbskxqQuPwzcSLeU4MmlkEVeCOIixtir5M5lWl901LLlywNGrVpg6WnZmEMFP5r6T6bA85cM8LNvpdKgqHWPDcPdoJFr/ABExPSMEcK5eWnFXNEKs2Rj9NVjb0vsTBgBkk4uOR4xkpYGDuoepnHppTUCKdOmAFHSRb8TAkEjqd4JVdwsmqTmK1B2RDHiUhBUyPMYMsaYOoGCZjUcbK+azFfNMi6aYpq2pah8mi0l9wwPl7203gA4w4fxLSPul1KhLGmGIqUzaXo1BfQYEi+1wRfCpOh202Y8YSpoVGSk9SqSFemACVDgggKIJYmzb3YHbHZOB8FHC+HpQ/wCNV81Q9QSIP/avlHrOEX2c8oKHbiuaQU1nVRpxtaNZsL9rbkntgPjXNhzeaYIwAXykTeCCNI/v39sR1ZWtqKaUVutlLTz6iiWUlVkhYiXj8V9xb6DCOnRdwGUIVIsdTCQLAxNsfV8q4ov4gIHir4YJtpgL8gQSO+EfE64SqyhaYAj8DHoOvXHMkdLbJQ6spmTN1Jn0E/1x1LgfGQQBqDW6YS84cIBO0q9vY4iKWbqZKv5ZKHaTh2v5lff+Q3/C8/V/2O6oes4SZ/mJGDim06BLsNh6D+bAfAOZvFQSLG0jD1KCRZRcXtvjm4wy9XlEDkKDlEoKCtTNN4lUzfQDJnsIIA+eOkmotNPMQqqNzsMK8jwZDX8eCHKxudrnbbtjLivAvGJ1OSI8qkAqCesdSPXDuSkIouJv4RxcZg1CoOlG06j1PWPrgDjPHaa1VploKsrGx2Nhf1ODODcL/hsuKYhio6Wk/wBziOqcCzFTMGrVViKjHUoIOnTenftOClFtgbao6FTcaQSYnGdMzfEbzpnddFMulmqEeYzCgXJJ6HphlyoirSJVtRMawGLKCOgnA24sO63Q7zdYKjMdgCfphVkF8Bqf5aqwZ/Ncj63+gxnzBV+60fnKoP8AqIB/ScbuKZfVRgWKwy+63GAgsYNTBvAJG2PKmVQrDKD7jpgPJcQ8VFZRuvXpgXmDiPgUKj6hKqSJ2kDG7oD4syy/DqB1hEAF1Om3vt74zz3AdQBpuUZRAsD9e+JrlDmValR6ZqhjC6R3mSx9Te+LdXw0k06Yipq0CZfxwsQpjrsZwu402aLp4ajTuxDXNx0I2w8erHm6df748RgXPoAP3whmZK1OvRbL5lA9JxBB6eoPQjoRjnXMfJD5BQqanyrHT4iD4fEkM1UdXghFMaQJO+L3MU4uMEcO44AdDxGxm4+Yw+nrNfGQk9K/lE/PPF8uFzSpQJFQaVOlywV5iFc3IHlv0IMWAwY/HqRY06qeIgsHjcgbx0UmRa4Uj8ox1nmD7JMtXL1cmy5aqykRc0/NYlYuhIkWtfbENmOQK2Ty7pXy4YsG+9VQ/mZkSmEcfCF8znadjj0d0WkcVSTE9DgiCoGy9c06iEMqmJDAal9Zi3W49cY8W5azWYqvVZqbs5liCVnygzEdRhfzbwgUM0USp4mqDJJ1SbeaRYkgkb2IwU9CrWzlZKVXw1p7sXZVCpFMfCCewsOuCrrcmDF1RpTkrME/gHrq9J6A9MH0OXzSpslTNCnTcqXVbBoEiZiYF4jcjA3F8tWNN6hqhfBK0Xp631a1GgkeXSZ0k2O2FnFX1U8u5uTTKH3Rm/8AaUwcvs2I9DyvxHL5QDwaWp2UMHJ6HqG3tEWi+o9BgdqH8ZWoMzladTykW8lRVuizAGuF0k2ggfhwQvC6dbIIUU+KqOQ0sTqpuWqJEwFNN1dQALhu+DeUvs4zlZWFRPBoVB8VXy+YSVZF+JiD6XBInC2km7yF22l0badGlRpFVhKwRjRrkaWYoZNJxPkqi6Fb6gR0jFhyp9n61HTPZykKCrLClJ1OxYsWc7hZMBd4ttij4fwfK5JFeo3j10v4jqoIMASB+aABqMtAF8IeO85NmCyIGiNwLf5HXHLLU85OhQv8I08488CrWTL0/hB+EdB3/wBumILglcpm6wQfETc3CiT+s4Bp06iqK6Q7CoT7DqL7zOHXLXBkzdSs71BTZo0hDBHr/wCcO0op2BNtpIeZjj1PzCrqJUAAODpJAPmtsPQRhO2USqdZqOxa8g/7/LAnFspm6FRqJYsrWDlZkekfTBeV+zWqyAmswkbTidRircqK3JvEbLXN1tTsCuoIkx6n/wAYkeL8NlCpWRG4BtP+b4sOEXaq/UvH0sMM2pKQQQIO4jHPGSidMk5HGqHDqlAgpUJE3W+2KvhnNiBdLGorLY36xPX/ADfth7xHlqmZIt6ROJHNcHpmoAVHf9MXepDU+yIrSnD6susjzGrMACsaTJPSBbbphgeJMEDSp83aCVlRMTbfa52tjleboeB94jEbAjob9cVPL3H3HhowDazvER/vidJK0Pluirp8UJDMVAUKrAAyfMJubemNFLiukOSAbmYYeoEWuPLc2jBdOvINhbHmXphUUQNu2E3R8G2yrkH4dmg/kZAILLuDdQDtG0HB6UUprCgKOwwpybnxqyiw1A+t1E/thsqAbYEn4GKFeecvXooBEEuT7CB//X6YbiiIvf3wuo3zLE/hRQPmWJ/YYOqNeMBmQuyDeHVel+H409juPkf3xzrmKoK+Zbx6hXz6Vpz0BAFtr3MnFrzrmmo0DUpmHXyg+jWP9/ljleXpajrfzs7Nc9D0P+2OnRjzI59aVVEo+XauWy+Y1q11qFTb8JsY6WsfYY6itWfbfHIuT+GU3q0Aygjzk23I2nHUczTJpFQSsrAI6W3wmtW6h9K9tjHXbEzwnitYVKrMh8MmEAvNwpM+kfQHGzhFWoQqM4IAidME/qcMuH0Jy6jbyyPQ4nwNVgdXmbTq1rAVoMTMdwIvecBczu38MatI+vae2HtOGgkC4vhJz3WKZN9O0RH6YCpyRmqTJTl3nPMo8U6mq0kNdcdI4XzwSv3iNTMwSpt9D0xxijTKNRIYiAAIt8U798Xq1dKFIkqBLE3MicdGr8fqc+mlL7FXmcvkMyQ70stUaZ1Mmh5Gx1rB+uFQ5NyCs7JRZTUBVimYmZYNPnFrgYkMgGisC5IEL9bz/TBPDXNWkkki5FsK5zXYVpxkUHEuVMhVs65gednMVaYGpzLGwvsB7DGCcp8KRAppM4UlgKlZjcgA/DH5RiRy+ff+J8IkldRH9MMaKyKyEyFBgn0GC5TXZlCD6Kqlx7K5RNNCnToqb/doASe+oySfXCPiPP4lil3FizEk32ud74SZ/JCpQFSSCo0x0Mxe0RvgXLIB41hZR03ABMfpuLjAUU8ydmuuEbs/xiq41G/UgkgjoBp6yb2xi/Eq2hyraQQoUp1OxDA7H1ttvhaKhc0xJAYwLzpI6g9r7Y3ZE+HrqN528xPSY7j54rtSQu5tnjVqTka1NILcPTEgt3I26Y25dKbB6j6QyX1rKtbuMTz8TZqzKn3auIIF/p2xV5TldXy5ZnfUTDGdxaxw01tWQQe54D+QeZHrylU6ys6WIvhjm+eNDsvhPYxg7gPLFHLqCgvG+GFThqkyZ+pxySnFybXB1xhJRSbP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7412" name="AutoShape 4" descr="data:image/jpeg;base64,/9j/4AAQSkZJRgABAQAAAQABAAD/2wCEAAkGBhQSERUUExQWFRUWGB8aGBgYGRscHRwdHBsYHB4eHRwdHyYiGhokIBocHy8gIycpLCwsHR4xNTAqNSYrLCkBCQoKDgwOGg8PGiokHyQsLCwsLywsLCwpLCwsLCwsLCwsLCwsKSwsLCwpLCwsKSwsLCwsKSwsKSwsLCwpLCwsLP/AABEIAL0BCwMBIgACEQEDEQH/xAAcAAADAAMBAQEAAAAAAAAAAAAEBQYCAwcBAAj/xABBEAACAQIEBAQDBgUCBQMFAAABAhEDIQAEEjEFBkFREyJhcTKBkQcjQlKhsRRiwdHwM+FDcoKS8STC0hZTc6Ky/8QAGgEAAwEBAQEAAAAAAAAAAAAAAQIDAAQFBv/EACcRAAICAQUAAgIBBQAAAAAAAAABAhEhAxIxQVEiMmFxE5GhsfDx/9oADAMBAAIRAxEAPwAvLcIqUz8KkfqMUCZPUgE42tC7mMYhmW6xHbHz9H0Tdn2VRgwRsNsubae37YTjNNq1QLdsbBxiCG0N2OHi0ick2F8ZqKMs+o7KYveR29cRWZ4/W8GiuoatQ1COggzPrjX9oPEfEpEKWAUgmLG+InJ80jxaJqnUqQCbiQD+IdcVUXNWiEpKDpnSqA11WYrBRdQDfiJESLfCdsWnLdF1y9NalmAv/QfLEbw7iHj01rIpb7sooH4pO/tbFvwemyUKaNdgoB94wdJUxdV2gzMVLQOuNi2GNDr5h6Xxt0Tvi/ZDo+DTt9cYZlBB9bY26gMDZhSxUbXn6Yz4AuQTOZcLGmmDNifTrgR6QmyMPntP7bYemnhfmuFhzdmE9vTEpw8Kxn6R3GOUjVY1U1a1MhahkN/bC3hHMARxTI0sGllNjbqP9sXdfIog8zOT8Qvf5YT8X4dk8yIYGZgMoMybWPvibj6VUgrI8TTw/KywWIgtESdsMErRqCliAO0yffviKq8rVQwWkSyAzDiL9yeuNicy1sq6o1JihmYEgn0IwE2ZxRq51ypq0yVXQiENG0xc4q+UOJ06+WQW1KoDCx+eF3EM5T8Mh9NPWZOpo3HZv6Yh+GIuWastHNUCtQQAasEb9f8AfDQsWdMu+JVKZzAcE6EDCorGEPyPzxryOdoZiofBKeVSsiI9IHp+uI/hnCqq66tYipqmdJDJEWvgXif/AKimj5enU1lviprEX2/TA7obhWWvG+KUaELUp6yRYAEX6COuJmqzuWepRRQbBLzHSSOvpil4AuYaiEzSoR01G8evrGBc19n9JyBTdkUkFjqnabA7gdMDagqRo5f41llpFCfCHWRa5PXtbDVuS6FaalN1MgxG1/SYnExx3lytk/PTmpTU2VhJPSJHaTvgGnxSwrZcmkyjUVBsTN1YeuCooFt8DvM8s0pQEgEsfKx+U9P8OG/DsiKbEG+roNt/T2wmo0svnATUL06pAbTMwTsQeo9MUvLfLBpan8ZqobaTt+uF2tjOVIYUaqEw66exE4Y066AQGED1wJpKgl0J7RjH+DpkElY97YdNom6YYulh3BxpNLSYFhFsAZfK0i2lHZSJET7Ex9cbq3C6kHTVPzwbb6CqXYSdXUThdUiTY4wdcyo+JTHftgMZzNG/hL9cTbKxRL8w52owpVvhQVB5TMgeuKiiZAKmRhFT54ytXUrAjSJYFbDB+W47liv3dRRIsJjCtMqmhPxnij061TSxGlQAOhdtvbD6mjPRGqzMPNHQ9cCNwGjUDyZ8SCYbqNvbAfNPF/4WmLFlsGI3jG5wgX2e1cnRRoc62I3Pm29PnhPnOUqdeofDqCnJ0xptHb3wFwmnmc0FbXpRSSpA8xtF/ljXSz1bKMPHBaiCx23J7/vh4xaeHklJprKwdN5Y5ffK01Q1AwAgQsR+uNmW5lLVKyLTc+CQGYQZm9h1xhwXi58Pz9F1C82PT1I2wu5IzipQrV6zANVqs0HeBYCMOiLwVPCuLpXUtSYP0PQg9j2ODgzdR9DiL+zzI1DVzeYKlKdepNNTawm8es4ss3IRjqiATPaMVJGYrgbgjGsZtdW/TE9yzxqrmER5RvziCCAZg7+k/PD/ACZB1H+aPpbGthpI3Gsegx8oPU/TAOf4jSp1KdNwdVQwsDcjfbBqUx0wQGNSlLCb4GqcK8xKtpWBCgCBE3H1/TBAPmN9sfGowO6kfTC4DkWZrJaX1amJaesDYb+w/riB4jx2rVqHL5M/CfPWYxc7wenyvi15prOMtUZbMxFNY6TvH+dMK8lSoUqSeEqlVAlmW7MZ37XvhHUclFbwQXMHK1ekgbWahIloPXeDvODeA8p5bM0gQSlSJgmbes7Yt+K50CmQGoLK3H1/2+mOYjigo5lmB8lUabXm/b2wLk8Iaksjj/6XzVFtdEmAbQILD5WPzxs4ZnRVqMjoVrKD5NRRX72GzDt1w9yvO1FUpaiBqkACZjbb0GFHMWYy71Fq0KgLKwIItaeneD198BN9mrwzbOvlBUq+FT09QXY6gegnb9cUPCeM0s4A6KEmAylbT1uIM3jCHnNadIFqwJV0VgoNtU7Ae8/LG77POFNS1Zus4pCoJ0kwCojufYfLGSwZtdDfmHPZ1ayaAf4cjzlVlhboN8QPEaoWtqcNWpaSzg09J1TZTbFDzF9pKUqrJlSajOYZzJAtsAOow85T4pXrUH8eiELAQWFmm3w9Bh6ayxL8IbNUalbMIKa06NOwhakE+tryB0xS8OyNSlVK0s24EAhNwO9zMzhnxLkzLuEIUoSxuiwTqF/L0EYKHKVBFKkeb8GkeeBH64m76KKuxdkeeqhRhUHnWoaa6Yh2E/S2Dhx3L1HIJOoAlleRBAEADY4HfkOjpBTUryX+Kyk9cKuYeWXAp1GrB4awO1t5tc74LZkUnAOO+MupV8yfEALwSY/S+Dq3GWBmAqiZm5n2GOd8oVXpV6kNBZVn1JvaN4EAe2LWqbyLkC4UCxa+5/y+Fba4CknlnuX46XaoCYAHlaCAT88MMvnl0iWExfA3CawaVEFQN9yfc7fLDL+DT8oxqbGtIleK8tpVUjw0B7xhAvKtAVkVmvJ0hT8Ppi2IncxgQ8Npl50yR19TidstglqnIKrq8LMukmbGY9owJxrlasFLmsX0rOlpMwLHr74ouK8F0qop6pLRC9jEk/IYJThdUBoqTJ9bXmPpbDbmLtRGcLzfEEAWmtNiY1WiAdiNsbuOnNZmi4qZVhpgDR+K+4t/k4qctSzFOoB5CpB/Qnb6rgz+Jr+G4KwUU7fi8u47XnDqX4ElH8k7y/zBTyopLWo1EK0zJAkdDf1ttipy3OeSqqNNRQXkJqESfSRj6hnBpFKopLQqn1JAkgkeuNOR4PlagUuqeSAJAtcxfvYYZMk0UOQ4pRICrVRiBBhhjbn8sKtNk1kBgQSOxEYRZn7O8o4eEZNZlirETBnAmZ5HKP4tHMVBpTSEkwYG5giTivRLsdcP4U1AAa1KKsRpgmBaTOGGQpxSWdyJPubnHPaGQ4oERRX1SZYsOhjy7WIvg/8AjeLUtc0qdRR8AG5v1uIt6YCozsZcSDHP0qjU38KkjXiRqYgdJ6D9cUeSrrUUMAQD3EH6HEdS53zCsq1cm4lZLCdIN7Tp3xsy/wBqGXKa3SpTGrT5h1idgZ+cYICwy4Bk+p/tjdowhynNmXnwzUCuq6mVrEDeTO2GlDilJ/hqK3sQcFAaYo4hVVg1NvwVA8d1BBP6HG5qaR5VAkztgHmnLsGFelBZdx0I6g+hFsaMtxZXpBlYqFIkRJH8p/v1GIPwsl2Y8QoUkViwWJvN7n/zjnf2hcDVNFWmLyLrsP7Y6eKbt0p1AZLCR6aR7ATgPMoEBXwkpg/GSJEGJP8AnbCx+D3DP5KjmhqHKshZNYImQdmibHY2wdluG0K8soJfeZ6229/1nD/Knh71BllV2BPxGwB9B2+mPspkMtkalSpOq8qovLf2EbYZmQRzvw5czWo0zc0EUntPYjr7YTcT4TWrMgqAMACAQTYAx8HsNpwDluO1alV2VSXZpJMi3UfTY4b1+M5nLU0zBpjwzZiWmx36b2wJOe4yUVEDyGfpZGhXJpL49MjRYQ2r4T749yWeztSoD4hNQ0tbWBgFidK3gWXfBebyS5rNrUpwaaoFIIBkmYJPpM4oeC8NNJKjGDULRcRCjaPSDqw13gWqyxI3E88tmzClAurUV8wIEx0BwLwX7TqrBiUFRhtYhnFxbeDhpz1wxs0aKUSLNprRYkAAmOkX/bC7i/K1R6bJTphYIKPF0BMGI9sa65NzwO8nzzRqrA10zaVfp0gdyd46/PG7mniKLl/MZZvhU9za/wCWJxI5/IZsUzT1UnMfGwhxpg279Ywp5kX+Fo0KusvVdhM3W0EmDsf98alJ0bhWx7y5xOgrMXaGBAWNtOmImN9zb0xY0ASdQBgi8Dax6ncwAMQ5qU3q0vuwXEOxy9/+5Ta8bA4sPFdqC+IW0ux8RSCCAQfLFoAF/fCtDJhPDMxDaFZT1YEy3ptYWw5XMrjn3DeXqeXYtSJfV5TDSYMkqP7nDFsmjXAzI6W2tbv6YCfg37PKXMi6gWBClQZ956fLDLKcYpNswAN/lhM+ey7WemQWGxXYAHf9cNOD5WkSfCiw80bX7YkdDDxmEY+VhbczjaKgIt1sMac1k1ZSoAFt4FsR9HgVXx4y2YqlVbzFoKjuB6+2HSEZb0gDUY/lAX63/tgkqAZHQ39jhTleHsqlhUaWM9D19cY5PjS1HdEqBitmBU2jcHGQGh8FBMH5HHi8PpFgNCgi9h9ML8jn9awCrFbSrTttg3KZrXMqVIP7e2KJkpJjRbYzCg4GpZobE43wNwcXTs52qMKy3H1xsBEXwNQzOqs6/lA/WTjfmqpCtpEsBYdzjA/AFnaq1G8FWIYiSV6ARv2nAw4Cq/GQ6sbhlBkm30HQYX8AoNTzJDEEtTkkdCTt6kwfphnks89WuysulUiAYnY3PaZGETvLHarCPMzyblX1E0Vl10sRYkdpGFtT7OMsGpsgZTTBCgGReTsd98VdSuFiepgYTLxV3zopARTVCTPUyAPlvh3RNWQ+S5QqlwlOvXQCoWYtMMpgadQMbdh19MMTyvm6bEroIB8ukmdPYyL/ALHFzXYB0Hc/sDgiMLsvkffXByzO1KlJ4fL6g3VCaZ+Y+E/LBdbMNp1MIVliGcMZ+XTF7meGo58yzaL/ANO2A25WR50kqL7wRJG8HthJablgdakY5JHgi5cODTol6hAUtuPkP3x5muUswaqkUiQG1ALAHUxBtvGGuf5iyXCKenWpqb3uT7Ktz84HrjnnH/tzr1CRQXSvd/8A4KY+rHDR0mxZavmDoFHlWomkvWSkSsOGe/6TN5OMuI8rUq+W8B8zA1A6kpsTAm0k33398cGzvPOdqm+YdQeiHQP/ANYwqqZ6o86qjMf5mJ/c46Fo1/v/AAg9Wz9McP5RytKPDrlbAWEbf3w0bl9vFNVaoKtEjURsIFwPeflj8mCow2Yj5nB+R5jzVEzSzNZCPyuw/ScMtBCvVZ+nMry7UWrUqOAd/DG4vcn9h8sCjMguRLB4ggESDFwDtAEEXnHGuD/bTn6UeIwrDufK31Wx+anHRuW/thyebhMwArGLVAoM+jfC36H0xKWlRSOpZT5nLKxUMs/86A/qD6frjnPNeWpValRCUWmqkrM2bYxHUaduxx0epy/Tamz0Sat5AZj5bibdo6YWvkaFWdelivkaDcdxAiDOIyjtyWjJMguTuMrlkY1KdUVD5V0U91EHVHSdsXHL/HFzSTRrh43RluLbE9L43Zjl5IJp1YaIXUJi3X5YiU5eGUdqlJmouSdLDzKwMdOgJOFb9GS8LGkoemNVNdbAmQNIUgwL/wBcaxnjT8niUk020xMfPEtnOa86KXmNJ7hdEEE9ZHbGLc40AYq5Gp4n4vfA23wNurktK9BXgQIPpuMEUcutMQigE9v3wMtca5PQRjfQzi7lhPviKOlgPH+HVqlPRSqBJ3tJPznGrhmTzNOmy1DTgCFCKR8zhuGDvY2X98Y56oZRRuWv7C5w1i9ma0ylNQOgAxF8pcUpUFreM2iq1V2ZWsb7R326Yual498asxlFPmIEgzMYK4oVrIt5dyfhU1YiDVln7y0sP3jDPOVBTovUJ+FST9CcecTH3ZA6wB8zj7NZFMzQNNpCsIMGPQjBXIrWCa5b4/XZsrTk1GdS9YH8Kn4TPfp64vKjgAkiwE/TEwnK4p16VWnUZCieH0IZegOD+M8W0U2Bi6k/IDFXJIjtbBOD8QatUdkLXe46QIA/bG7mDiD5VQXZqiu2nSBcCCZkX6Yn+Bca/hmFOAVKl2PXYEfLf6Yb5nmLKVgGdw3Ydm3geoGEXA0lk1vxvLVVpusB0ZTBs0DphrwnPKK1YndiB9ALD/O+EnEOW3qFa1BF1aIirOxmxAHr1OEfAErLXVapIZVJabgFZLARuYYGcOkxHXBacS4xNRCAwVJLGDCiDBPpv9MD5VVqu9Va5J+EMINhefqT9MLsq+aVXWvT1rVmQBcCwHeRF9rbYwq8LoQKtMEFkCoqjTtM+u/Xt74LbfAEklkpFzgNdELEt5gI9N/YW3w38E/mOJLlLOjZyGrRLsO2oxfpubYs6VRQmtjCjvisUyU6NNOqEDNVIAW5JsI7n0xx/wC0D7aWcmjkTC7Gt3//ABj/ANx+WFf2kfaaM9VehRkZZbEj/iEdTH4Ow6745/mOGkkBATOw3Nh+o9cXUURtgz5guxZmLMTJLEkn5nfGS0ySAtydh3/wYwFIr5iPMjQ6m3197g/Lvigo5qminTAg+LTHUgjVpiDN9SHaB3GHeARzyTtXKMpcEQUuQd4kD+owdR4VIU610kEk3tp0kja/xAW9e2MqmZSpVVaeqDTNOWABPxaNidvKJ9Me5TMsz0x4QVdPhn4og9d7GbyOpwXdASVmrN8JZKbMSuoGCBO2srM/8wwOuQaXi4QmYI6TNjc2BODkztV2CukanBLQRbXrjtGonA+VzCnyQyPUaHYAMSrHYCxHsN8ZWF1YF4ewNie4x4R0Pzw+SujBmYq6pbzHUdIBY/FB1OxC2FrxGE/8FLKgjWbmTFzsvv8A1PpgpitFJyb9o+Z4e6lWNSkN6bHp/Kfw/t6Y7nwqvlOM0jmMuwSvp0vtqEjZ1/Y/rj8xdYNowx4BzDWyVda+Xco69OjDqGHUHthXBMKm0dH5oy9fhpWkmaZneoPELagYMWgkgrv9cPH4rm1XV929HRNJLTNgNVh5Z/bFBkOI5bjuUWqqIMygsGE6HF49V6j/AM43jNOFIqUFhXCEFdk0BiZG4BnHHNHVCVkK+fzDhWfJ6vO2oUxpCx5dxJbr7YX53mUJUZf4aq0GJiZ+ZAkY6ll+EUWUtpKiCxYE31Ek272H+DCXPeH4jeev/wBIJEQIgjEml4XTfppqcyUKdQrr1NdjpBb9saclxIVaZCOrvqJM777Qdu2F2Y5VywAC1tBie0/SO2NNDk+vSqGpTYObfiMkes4hSo6rdjehTzFJmbwz5p8q7C9jvvG8d8NslXaq2zoUH4h1PbvtgChx2ug01KDE+nX5Y+p860lJ8Sm6X7f3jGM8Dx0qSPhIn2xnUqOQQV+hwtoc3ZZ488f8wIwyo8Vov8NRD7MMGhbBa+dk0pDACWNuw2t6nBGV4nT1xrHmuAbe++PcugNRiCDAgfvgrMZUESRt6YyA6M8xmFCkk4kuYgxHlYAEgGex7frh/m+HT5lAIjCOvlJqIBeNRO52gRf3xm2BJUSfjVUJIQvTMhZGqAQQQDvpP9MDZXLM2t6lACGXQy20soESttycVNGjUoV5ALUitl7Gb29BjI5Nc8rNRfwWO6/mgmCRbrN+2HjInKIvyvP+bSoFZNY3t2APcb/PB1biv8SHei4psQrEmZlSTEdBFiepGF+a5fzNOwU1GE6SkAehYE2v+xxp4M4pCqc2WR2IQQsmelhuZP64dW0I6sYHmLMoBTer4gKnWwQgoLAt2YQf0xhxnjjKSpdW0yBeDB7fQY+zfBacVCjMz6ZVmBhhG1vUC8emAqPKhdDcVmSmrXkbkyI+Xvt7YMGuxZJ9DD7Pq5fN1SZ8yiIFgATc9v64G+2TnQpSGUosR4l6hHRe3u37D1w24Zw0ZHLVKxVk8QS09FQEmP8AOuOJcX4s2YrPWefM097dB/THVCnhHNK1lgFM3E2B2btipaioSnLLIB80DS6kbmSJp9CouN8JxwyF1IdSkSQR5WAEmGBPmF99Jxsr5Q1UpqjeQGSDushfrtuN/TFnTJq0aa2Y11V0U2sulwxuR2YwNhYE3sD0xl/B06LanclgZUAX3tI/y9u+Ms9xMINFIyQIL9bevp39B2EJ9RmeuCkzNpDuvmnpLqWiqCYvBIMSJAuOpvgBuNVfzR8h0w04hxxKlJg4p1HZQQwpaGV7EktN+otvPTE9gRXqNN+MNHGavcH3A64ZV6lRJNWkp0xqKkSuodfyk7++E2TrKjhmXWo3WYn/ADfDyrxtHVCSS9JTLNANQgjwwQCdWkmZPrjNeIMXjLA6GTpMwamZIvoPfp8pgxfqO06aeYqLKlYIOpmFmK9ZaDbsfXrOG2T4SlSllphWcvLgwxgnTA6+/pvjWcmWTTUYQbiZ1RNpABE9d/7gb0HY+gWvlKbxp8qAGCBcx8TNP4RsB1OFDSACdjt64PqUjTWC+pZst9M9yOvtjJuHglxq8R4kEA27Ek+XTGGTEasO5H5pfIZlagJFNoWoB26MPVdx8x1x+maPGVq5Y1bGF80bbSCPQi+PySRchtxaP8647F9jvMXiUzlqlwo0EHrTadJ/6WlfYriGuq+X9Suk7wWHE+MMYWl5YSApPxmRsImxBE++FC8ZzNwlEaQSBDW8pI/ph7X4fW84R6auFbQoA8q9IkTfqcRzUcw19dJJ/CQZH0+uOX9nUWVfhdJrsim3bG2jS0j3xrq5zoVbubT+2Pk4jTJjVfsbfvjmOzIBnuGuNb06kMxmSJItEL2nGH8NmCshgZWdLASCYsbbb4Z1KwJUAi5/bBS+mCAms1lYUasorWMxHe3v3wOeE5dn8M0XRjYG5AN+p6WxUMxJW1pM4zzVZaaMxsFGMYmuE8sG7LVdDqPXcTAtbthlV4Zm0+CvI/mGGdIQy9iP2/w4MW+DyCybyHEc6qsDTDFTF7T7RNsBjmRxUY1cuylQASp+fUD0xV5htJDfI40cLreIpY7FjFugMD9sEVsUpxrLkSwdZ7iYn2nBOQzWV1SlSmDED8364dtlVYXUH5YHPBKL2ZBIva2GURG0a+I5phSJp6WeDF4B7bY5zUXN5nzLSpo6vLEgT9T9cdEPJ9EtIlbdDG/tgROA6dWis/l3DAH0w8VLwlJr0VZLhtePvqoZTfQP7++GjHQBoMTAAn19jjGhRrBoPhsOkgqT+sY+OfIrpTehCgmSL7W+knBVJ8Abb7EP2rcX05QU5kuQkHt8Tf0HzxyCiKZaSfDIIKkDY/2xcfbLnhUr0UpkBQrsfcsF+vlxD0shWsNSGRIVlMXEwG0xPzGO7TrbZxzu6Pc+5ZtGjTq3ekQdU9wCAR6G4wRmaZVaeXp3qVCASO1hPf8A2n56+D0w7a4I0iTBkfQi3e5OC+C5SpUqmsC3iM0U/Db7wdyqlYZRIBkr774LxgKzkVZjl9hLJ8Gg1FLQpZVMGwJgjsSMK9OLHmjiVVx/DMqVK+qGdaRSqVFxTdY3mG8pIMDEmUIMGxG4O+NFtrIJpJ4COD0kNemtT4GYKx7BvLqHqJn5Y84pwt8vWejUEPTYqfl1HoRB+eB4x0bm3g7Z/K5bOUKbNVNNEqhRJb4gGEbkMrA9YK4DlTRlG0c20YZcc4V/DmnSI+90B6noXuF+SxPqx7Yp/s95UL5wNmEZVpNOhlILOAWA0kbADUf+kdcZ5nh6tmKuYraatZ3L6JmnTE/jO1QgRb4R1LbAPUSdDLTtCHl/g1UlazN4VMTpYiWbcHw1O+581lB6k2wdxc0qYUWQ9FJLMZvqc9CT1t7Rgfi/M9yKZ1ud6p2HogPbofoBvidooHqDxH0gnzOQW9yQLk4yi5ZeAuSj8Y5GmlKrNT6jYj9Y6f58sfZCvOqjAUANubnYEXIUt1k7XjDLiOWXwFbLqgpUjK1CTrqMY1SCBaOl9sKuJOBFQIpLdTfp27+84MXaBJbTRxCmC00wWIkuQSw/7jue527YZ8i8V8HPUSTC1D4bR2ewPyaG+WA62VRmINfWAsgQReJEKAVI6QCDhZRPUTqBkH/PXDtKUaJ24ys/VAcaTUCgV2TSD67QfSb4g6eTqEf60XMj1kz7SZMdMVPD+YUXK+O5hQA5kdHRWgfM45zxP7QaZqsVy+kEyASQdheBa+/zx50U2juk0mWfHOa6eVP3gYswMAYT8I+0inUqhaqrTVvhYnr6yP1wFxfwuJQNR1LJURB7Hexv2wiq8AU6qboR0VjJ+vb9sTiopU+Tpe67XB1Sh4dVtS6WAESP9vlgwZaNiR88cu5Q4fWyLlpLo4+EExPft88XWS5ppsSHVqZH5tj7EYSSSeGOtzVtDVqLSIf6icA8b8QqlOAdTCbxYeY/tgz+JDMpBmx/pjJxqri/wLt/zf8Ag4CMYNm28s02EEbQf64LXPqNzHuCMfZ1fIfr9L4zQAiR1wQGjP5xWpPBB8p2PphWvH6eVo0xVkGIsJuN9sb+L0F0qoW9RgPluflAwPneBpU8jzoItc7j9NsawUOMjx6jV+CoregP9MMTeCDfHKOP8gIoLUKpDgbEwfkRF8KctzfnsiY1eOiwSGmY9Di8UnwyErXKO7UXnAS5kJUqsekYgcl9q+uClLcXUnbe89O22Kng3GKGcDFKoDEDUnVY3n52xSLrDIyXaHASpV0kgKov64wzdSr4jaNOkAb7yf8ABif4tzXlcqwD5hiR+EftvhBk/tCp5jMeGniDxHiZ740naBGJD/aZfNpb/hAekl2/vhRVTSHJR1VQY0tI2IAYKY3O/Xrij+13IinXoOQSGVlsQJKsD2PRhiOHDiiFzlqwUXJLgfp4e1xjo02nBMjNNSYXlqyrlajKpUNa7yeg6Adzvj3hnNz0qYoyfCM6ikCrpNyFqMDAm8ftj6qVbIEoCo1jykhov3gd+2J3D0pXYrbjVBnEs/4tVnuBYKJkhVACiepAAv3w84ZznYJnKKZult95/qqP5avxfIn6YmMZU0LEBQSTYACST6DrguKaoVSdnSMjy/wuvUpVMu7wXUNRqQQpJA8wJ1aR8VpUxEicbOK8SU5ipok01JVCQJhZAPz3tYTif4Lweplm11YVzH3e5WDMtFgf5d95jDbieTpiiXSqFqMwGmV0qCYDeb4hFyRcWGOKf2q7O2CqN8B2Vq1K2XqDU/3RX8RjRVOkqZMASoPr1wPW5TNZCa2ZXL5YXOlGKmNpepo1n2BHbG/JUgtECmdZdgzuWAlknTTWbETeT32xNcz8GzlVzUdqlaL6XEOo76Niv81OR3jA08vmg6mFxYPxHM8PoeXL03zLf/crMQnyRYLfOPnidzWYNRtRCj0VQoHsAIxgBj7HdFUcLlYxqcw1W06vDbQIUGmth6WtjflyDlSxUNoPUGOnUH164VVssyhWZSA4JUnZgCVJHe4Iw14UwGWrEgGDsZvb0xmklgaLbeRjwrMuaCkWAkQikxpM3l1VTf5gCcTtemFrOusMJPmEQevtgqjlGen4i0UYaisLrJsoYmxgCD1OBM5TKtpNNVMA2JNiJB3PQ40Uk2CTbSO7ZHKfxPAaKCA70VS9rrqAJ+g+mJQcsOnlqLlnZbFiSSe36Ri44WBQ4ZltXlApJN9vJqPz82A24gZtQaOkOhH648/c7dHcoqkaeGctUaASqzEmmmkEmAB1PzwuzfEfGrpRoA3Op3YQNPdZ3nacUua8OoNLgEdmFv1xqGRpLU1qAGa0g9BjnvtnZT6E+eBoOlJQalSp8KzsBuSTsMFZDJ1G1eKmmGgDeR3HpgvPcIL1kro+h1UrtIIODczUqeEfDAaoBAmwJwKQdzFfCsxRq1mVDDU5DWIg++3TDjI5tBUcM66piJEwBAt9cKeWuHHL0YqACodT1DvJmScLuCcvvXr1q9cDQ7FfDZb6V+G/Tcm3phlFZEcnSsuajA+2MMs0IATPTErzbnHApZagYqVWAkGCircnBXGONNlaSoqlqjsEp6juT1Y9hjbeAWsjOuNVdJ/AC31sP64LrrK+1xhPwinW8R2qsjeVRKiLiZEdr4xzXHSubXLhSxZdRII8omLjGoNjA5eQCPecC53g9NwfEUPPcYz4VxFaj1EGseG0Gdu9j1wbmaiyl9za+8YFUa7IPinIAWo1SlIFiADM3uCOvcYW5/hWYy7fcppcggOD8Sncmeotjqgyc9T9TjHM8FDgg9rYopSIuKOJ5bhNF2P8S706n86E6u5EdcdB5a4LkqelqbrUYCRqAkeotM4o8zw2mV89NWI8twDvAjGiry1SKx4antYW2sMaWo2hYwSJ77XMiTk6ddPio1A3yMD9DpxCcQpIEqBnVNSGXQUgWtIA8z1XVjH5cdlzXB1qZV8u9waZX2BEfpv8scFzear0CaTPTy/h+RtCqHYrYnyjUSR1JAOOjQe5UR1cZPckyVMtVRFK6RI1HUZ3+IAROnaIx7wblEv4dWqQMuwlmVoIuRpEqdT+U+UAxaSs4E4RnKSVAFDHVYuxj6KJi/Uk4a8R5kNNwj0/KoGjSYAXppXYD2MY6JbliJKKi0nIwblCkGkZkFR+FkdHPYAgOs+s4f0+JUMrS/8AT0xRWIeub1HPUKxuoPZYJ6xgKkdShosQD9ROJPmHMFq7CTCeUDtYT+s4nG9R02PLbpq0b+L8xmoClIaKZ3/M3ueg/lHznDutFDI0jU8zFSw1by/+mv8AyhRrI9u+JXheSNatTpj8bAfLqfkJOGPNvGRXrkJ/pU/Kg7xAJ+cAewGKuCtRXHJNTdOT/RQZRBm8gxHxqjIw/nT72m0fzAOvucI+Fc7ZvLwFqlkBkJUGtR7BvhPqIxu5B44Mtm1FT/SqkLU9L+Vvkf0Jwr47w05fM1qJ/wCG5X5Tb9IwFFJuL45NKbcVJfof8R5kyedvmcucvWP/ABsvBBPd6TET7hpxN18mBU0o4qjcMgbbr5SAQQNwf98C4dcrcHbMVSEzCZeoi61LFlmJJhl2IF/bD0oonmTKjh7ZSll9SNW4gAhL0mKpTpgA3amxLCOjL9cTorhcq9TQoFRyQmygEgQALkCME8ycPdBTVqmWr1KpIFSiTqIEA6yAqtJ6mTY3xq4zUVDSy6oKlgCLgljYQQQZN/S4t1KRRVsz4TlppKVo6SxLWBaRNiNNRagAgjY98KaeV/iM54dMt95UCLrkt5iFvN+vW+CnzhpnwpVSlglZEqBesCoAY37AYq/sf4C1bPvmKgBFLzarEF3kLBFu7fLDN7U2LzSOncdyTuqUqQUhU2awgWHQ9F7YmF4ZUFvBpfJxH7Yrsrmw71mFxsPQDb+/zxDVOGsSSDWAN4VgBe9gQD+mPMWT0OOCs8JyZLCOwH9Tgf8AhadRyCJ0/ub4nuVed1rIBUMNin4fTHmIM6m1f0xJpxdM6E7Vo3jIjoWEdjj00nGzj5jG9PfHsYxhdmq7fDAkwJHqf7Tg+lmyLFCB3t/fC5M/TeuVBBNO7/ym8fPfDYPItgguwWoKOsOyDUNmK3HzjC7ieWpV3852hlIMEFZuO2+HUYWcWywiYkwVj/mgY2TUjdwVCKKmSS3mk+t8Jjw2vRzlasqCqKqgL5tJSJttce2HlLIKsASIAFif2xtakZEMfnGCpNAcUxOlI5SgrNLsCWqaQSTquf1xP8Tz9V81TrVF0UqCeIeylp0j+Z4G3fFrVpuRB0kddxvhJw6qWp1NVLxPvCGFj8IgWPt+uGjKsiSjeBpyejjLh6pJeoS5npq2HsBAxp5w4pVTwko1NDPqueukAgYzoccVQF0MqwI8tuthHaMT/O9cVQjpr+6uSItMQw7x29Thk8iyjSMqPO1VdD1TTekKkOygggD8RHocdCoZlaihkIKsJBHUHHGM1WUI58M6mbSYFmBAkkSP8OLP7O88Uy5pNINNjE/la6/1wz4sm1nBX1Ggg45z9pvI9NqiZ0f6ZGmqAQt/wFmIOkfhLR2x0RqwYHGjK1VIalVAam4Ksp2g2OFhPbI0oXE4ZxXhS+GrrSpxTDMQA1PWo0xpka6iqb620lpIG2F9SqM1S6Cqk/Pv8jH9+rYo/tJ5VzWWqhPEJyjyUckhbGT4n5qg73JtHbEYlZlB8BW0JBd9Nz2LR8K9hPrvt6MVas45NX+BpxPmMIdNESRbURYewO598A5DgL5mCj6qrlvKQbkDURrNtUXva4vgh+HDMKGEJUImD1F7+1jB7A9hqa5Pmn+HSujU3o1Wplaar/ph4ClgNwxAAmTt2OB9VUVkP2fyeCZou+XZ5Uh9LUwfykwGgixOkxbvgLHQuX+EUapWi5BR6b5fLsIKmrpL1KnodUBT2A7YkeM8NWgtJCGFfTNVSRCyTpEbhoAJHqMPGabonKDSsV4Y8Y4n45RzPiCmqVD+YpKhvcrpn1B74X4suXchlKmWp1DWfK5lKhUVbskxqQuPwzcSLeU4MmlkEVeCOIixtir5M5lWl901LLlywNGrVpg6WnZmEMFP5r6T6bA85cM8LNvpdKgqHWPDcPdoJFr/ABExPSMEcK5eWnFXNEKs2Rj9NVjb0vsTBgBkk4uOR4xkpYGDuoepnHppTUCKdOmAFHSRb8TAkEjqd4JVdwsmqTmK1B2RDHiUhBUyPMYMsaYOoGCZjUcbK+azFfNMi6aYpq2pah8mi0l9wwPl7203gA4w4fxLSPul1KhLGmGIqUzaXo1BfQYEi+1wRfCpOh202Y8YSpoVGSk9SqSFemACVDgggKIJYmzb3YHbHZOB8FHC+HpQ/wCNV81Q9QSIP/avlHrOEX2c8oKHbiuaQU1nVRpxtaNZsL9rbkntgPjXNhzeaYIwAXykTeCCNI/v39sR1ZWtqKaUVutlLTz6iiWUlVkhYiXj8V9xb6DCOnRdwGUIVIsdTCQLAxNsfV8q4ov4gIHir4YJtpgL8gQSO+EfE64SqyhaYAj8DHoOvXHMkdLbJQ6spmTN1Jn0E/1x1LgfGQQBqDW6YS84cIBO0q9vY4iKWbqZKv5ZKHaTh2v5lff+Q3/C8/V/2O6oes4SZ/mJGDim06BLsNh6D+bAfAOZvFQSLG0jD1KCRZRcXtvjm4wy9XlEDkKDlEoKCtTNN4lUzfQDJnsIIA+eOkmotNPMQqqNzsMK8jwZDX8eCHKxudrnbbtjLivAvGJ1OSI8qkAqCesdSPXDuSkIouJv4RxcZg1CoOlG06j1PWPrgDjPHaa1VploKsrGx2Nhf1ODODcL/hsuKYhio6Wk/wBziOqcCzFTMGrVViKjHUoIOnTenftOClFtgbao6FTcaQSYnGdMzfEbzpnddFMulmqEeYzCgXJJ6HphlyoirSJVtRMawGLKCOgnA24sO63Q7zdYKjMdgCfphVkF8Bqf5aqwZ/Ncj63+gxnzBV+60fnKoP8AqIB/ScbuKZfVRgWKwy+63GAgsYNTBvAJG2PKmVQrDKD7jpgPJcQ8VFZRuvXpgXmDiPgUKj6hKqSJ2kDG7oD4syy/DqB1hEAF1Om3vt74zz3AdQBpuUZRAsD9e+JrlDmValR6ZqhjC6R3mSx9Te+LdXw0k06Yipq0CZfxwsQpjrsZwu402aLp4ajTuxDXNx0I2w8erHm6df748RgXPoAP3whmZK1OvRbL5lA9JxBB6eoPQjoRjnXMfJD5BQqanyrHT4iD4fEkM1UdXghFMaQJO+L3MU4uMEcO44AdDxGxm4+Yw+nrNfGQk9K/lE/PPF8uFzSpQJFQaVOlywV5iFc3IHlv0IMWAwY/HqRY06qeIgsHjcgbx0UmRa4Uj8ox1nmD7JMtXL1cmy5aqykRc0/NYlYuhIkWtfbENmOQK2Ty7pXy4YsG+9VQ/mZkSmEcfCF8znadjj0d0WkcVSTE9DgiCoGy9c06iEMqmJDAal9Zi3W49cY8W5azWYqvVZqbs5liCVnygzEdRhfzbwgUM0USp4mqDJJ1SbeaRYkgkb2IwU9CrWzlZKVXw1p7sXZVCpFMfCCewsOuCrrcmDF1RpTkrME/gHrq9J6A9MH0OXzSpslTNCnTcqXVbBoEiZiYF4jcjA3F8tWNN6hqhfBK0Xp631a1GgkeXSZ0k2O2FnFX1U8u5uTTKH3Rm/8AaUwcvs2I9DyvxHL5QDwaWp2UMHJ6HqG3tEWi+o9BgdqH8ZWoMzladTykW8lRVuizAGuF0k2ggfhwQvC6dbIIUU+KqOQ0sTqpuWqJEwFNN1dQALhu+DeUvs4zlZWFRPBoVB8VXy+YSVZF+JiD6XBInC2km7yF22l0badGlRpFVhKwRjRrkaWYoZNJxPkqi6Fb6gR0jFhyp9n61HTPZykKCrLClJ1OxYsWc7hZMBd4ttij4fwfK5JFeo3j10v4jqoIMASB+aABqMtAF8IeO85NmCyIGiNwLf5HXHLLU85OhQv8I08488CrWTL0/hB+EdB3/wBumILglcpm6wQfETc3CiT+s4Bp06iqK6Q7CoT7DqL7zOHXLXBkzdSs71BTZo0hDBHr/wCcO0op2BNtpIeZjj1PzCrqJUAAODpJAPmtsPQRhO2USqdZqOxa8g/7/LAnFspm6FRqJYsrWDlZkekfTBeV+zWqyAmswkbTidRircqK3JvEbLXN1tTsCuoIkx6n/wAYkeL8NlCpWRG4BtP+b4sOEXaq/UvH0sMM2pKQQQIO4jHPGSidMk5HGqHDqlAgpUJE3W+2KvhnNiBdLGorLY36xPX/ADfth7xHlqmZIt6ROJHNcHpmoAVHf9MXepDU+yIrSnD6susjzGrMACsaTJPSBbbphgeJMEDSp83aCVlRMTbfa52tjleboeB94jEbAjob9cVPL3H3HhowDazvER/vidJK0Pluirp8UJDMVAUKrAAyfMJubemNFLiukOSAbmYYeoEWuPLc2jBdOvINhbHmXphUUQNu2E3R8G2yrkH4dmg/kZAILLuDdQDtG0HB6UUprCgKOwwpybnxqyiw1A+t1E/thsqAbYEn4GKFeecvXooBEEuT7CB//X6YbiiIvf3wuo3zLE/hRQPmWJ/YYOqNeMBmQuyDeHVel+H409juPkf3xzrmKoK+Zbx6hXz6Vpz0BAFtr3MnFrzrmmo0DUpmHXyg+jWP9/ljleXpajrfzs7Nc9D0P+2OnRjzI59aVVEo+XauWy+Y1q11qFTb8JsY6WsfYY6itWfbfHIuT+GU3q0Aygjzk23I2nHUczTJpFQSsrAI6W3wmtW6h9K9tjHXbEzwnitYVKrMh8MmEAvNwpM+kfQHGzhFWoQqM4IAidME/qcMuH0Jy6jbyyPQ4nwNVgdXmbTq1rAVoMTMdwIvecBczu38MatI+vae2HtOGgkC4vhJz3WKZN9O0RH6YCpyRmqTJTl3nPMo8U6mq0kNdcdI4XzwSv3iNTMwSpt9D0xxijTKNRIYiAAIt8U798Xq1dKFIkqBLE3MicdGr8fqc+mlL7FXmcvkMyQ70stUaZ1Mmh5Gx1rB+uFQ5NyCs7JRZTUBVimYmZYNPnFrgYkMgGisC5IEL9bz/TBPDXNWkkki5FsK5zXYVpxkUHEuVMhVs65gednMVaYGpzLGwvsB7DGCcp8KRAppM4UlgKlZjcgA/DH5RiRy+ff+J8IkldRH9MMaKyKyEyFBgn0GC5TXZlCD6Kqlx7K5RNNCnToqb/doASe+oySfXCPiPP4lil3FizEk32ud74SZ/JCpQFSSCo0x0Mxe0RvgXLIB41hZR03ABMfpuLjAUU8ydmuuEbs/xiq41G/UgkgjoBp6yb2xi/Eq2hyraQQoUp1OxDA7H1ttvhaKhc0xJAYwLzpI6g9r7Y3ZE+HrqN528xPSY7j54rtSQu5tnjVqTka1NILcPTEgt3I26Y25dKbB6j6QyX1rKtbuMTz8TZqzKn3auIIF/p2xV5TldXy5ZnfUTDGdxaxw01tWQQe54D+QeZHrylU6ys6WIvhjm+eNDsvhPYxg7gPLFHLqCgvG+GFThqkyZ+pxySnFybXB1xhJRSbP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7414" name="Picture 6" descr="http://www.musee-olsommer.ch/fs/images/boussole%20car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9" y="1906751"/>
            <a:ext cx="2232248" cy="1584896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1691680" y="764704"/>
            <a:ext cx="54418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800" b="1" dirty="0" err="1"/>
              <a:t>Where</a:t>
            </a:r>
            <a:r>
              <a:rPr lang="fr-FR" sz="4800" b="1" dirty="0"/>
              <a:t> do </a:t>
            </a:r>
            <a:r>
              <a:rPr lang="fr-FR" sz="4800" b="1" dirty="0" err="1"/>
              <a:t>we</a:t>
            </a:r>
            <a:r>
              <a:rPr lang="fr-FR" sz="4800" b="1" dirty="0"/>
              <a:t> stand?</a:t>
            </a:r>
          </a:p>
          <a:p>
            <a:pPr algn="ctr"/>
            <a:r>
              <a:rPr lang="fr-FR" sz="1600" b="1" dirty="0"/>
              <a:t> No </a:t>
            </a:r>
            <a:r>
              <a:rPr lang="fr-FR" sz="1600" b="1" dirty="0" err="1"/>
              <a:t>prior</a:t>
            </a:r>
            <a:r>
              <a:rPr lang="fr-FR" sz="1600" b="1" dirty="0"/>
              <a:t> </a:t>
            </a:r>
            <a:r>
              <a:rPr lang="fr-FR" sz="1600" b="1" dirty="0" err="1"/>
              <a:t>standardization</a:t>
            </a:r>
            <a:endParaRPr lang="fr-FR" sz="1600" b="1" dirty="0"/>
          </a:p>
        </p:txBody>
      </p:sp>
      <p:grpSp>
        <p:nvGrpSpPr>
          <p:cNvPr id="92" name="Groupe 91"/>
          <p:cNvGrpSpPr/>
          <p:nvPr/>
        </p:nvGrpSpPr>
        <p:grpSpPr>
          <a:xfrm>
            <a:off x="1403648" y="1916832"/>
            <a:ext cx="7056784" cy="4757067"/>
            <a:chOff x="1403648" y="1916832"/>
            <a:chExt cx="7056784" cy="4757067"/>
          </a:xfrm>
        </p:grpSpPr>
        <p:cxnSp>
          <p:nvCxnSpPr>
            <p:cNvPr id="32" name="Connecteur droit 31"/>
            <p:cNvCxnSpPr>
              <a:stCxn id="17429" idx="2"/>
              <a:endCxn id="17418" idx="0"/>
            </p:cNvCxnSpPr>
            <p:nvPr/>
          </p:nvCxnSpPr>
          <p:spPr>
            <a:xfrm flipH="1">
              <a:off x="3743908" y="5354960"/>
              <a:ext cx="44373" cy="522312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oupe 88"/>
            <p:cNvGrpSpPr/>
            <p:nvPr/>
          </p:nvGrpSpPr>
          <p:grpSpPr>
            <a:xfrm>
              <a:off x="1403648" y="1916832"/>
              <a:ext cx="7056784" cy="4757067"/>
              <a:chOff x="1403648" y="1916832"/>
              <a:chExt cx="7056784" cy="4757067"/>
            </a:xfrm>
          </p:grpSpPr>
          <p:pic>
            <p:nvPicPr>
              <p:cNvPr id="17416" name="Picture 8" descr="http://www.u-picardie.fr/plateforme/icap/images/Orbitrap%20XL_ETD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79712" y="4725144"/>
                <a:ext cx="792088" cy="8686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18" name="Picture 10" descr="http://www.speciation.net/md/000/000/578/th_Waters_QTofPremier5new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275856" y="5877272"/>
                <a:ext cx="936104" cy="7376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20" name="Picture 12" descr="http://www.bruker.com/typo3temp/pics/m_3692e50816.jpg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31559" r="35447"/>
              <a:stretch>
                <a:fillRect/>
              </a:stretch>
            </p:blipFill>
            <p:spPr bwMode="auto">
              <a:xfrm>
                <a:off x="7668344" y="4941168"/>
                <a:ext cx="792088" cy="11160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22" name="Picture 14" descr="http://www.speciation.net/md/000/001/877/th_microtof.gif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1403648" y="5589240"/>
                <a:ext cx="504056" cy="9385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24" name="Picture 16" descr="IMG_1901copy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1907704" y="3429000"/>
                <a:ext cx="864096" cy="6480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29" name="Picture 2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3419872" y="4005064"/>
                <a:ext cx="736818" cy="13498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8" name="Picture 8" descr="http://www.u-picardie.fr/plateforme/icap/images/Orbitrap%20XL_ETD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5004048" y="3573016"/>
                <a:ext cx="792088" cy="8686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Picture 8" descr="http://www.u-picardie.fr/plateforme/icap/images/Orbitrap%20XL_ETD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6516216" y="5805264"/>
                <a:ext cx="792088" cy="86863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4" name="Connecteur droit 23"/>
              <p:cNvCxnSpPr>
                <a:stCxn id="17424" idx="3"/>
                <a:endCxn id="17429" idx="1"/>
              </p:cNvCxnSpPr>
              <p:nvPr/>
            </p:nvCxnSpPr>
            <p:spPr>
              <a:xfrm>
                <a:off x="2771800" y="3753036"/>
                <a:ext cx="648072" cy="926976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eur droit 25"/>
              <p:cNvCxnSpPr>
                <a:stCxn id="17422" idx="3"/>
                <a:endCxn id="17416" idx="2"/>
              </p:cNvCxnSpPr>
              <p:nvPr/>
            </p:nvCxnSpPr>
            <p:spPr>
              <a:xfrm flipV="1">
                <a:off x="1907704" y="5593779"/>
                <a:ext cx="468052" cy="46475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/>
              <p:cNvCxnSpPr>
                <a:stCxn id="17429" idx="1"/>
                <a:endCxn id="17416" idx="3"/>
              </p:cNvCxnSpPr>
              <p:nvPr/>
            </p:nvCxnSpPr>
            <p:spPr>
              <a:xfrm flipH="1">
                <a:off x="2771800" y="4680012"/>
                <a:ext cx="648072" cy="47945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/>
              <p:cNvCxnSpPr>
                <a:stCxn id="18" idx="1"/>
                <a:endCxn id="17429" idx="3"/>
              </p:cNvCxnSpPr>
              <p:nvPr/>
            </p:nvCxnSpPr>
            <p:spPr>
              <a:xfrm flipH="1">
                <a:off x="4156690" y="4007334"/>
                <a:ext cx="847358" cy="672678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eur droit 45"/>
              <p:cNvCxnSpPr>
                <a:stCxn id="20" idx="3"/>
                <a:endCxn id="17420" idx="2"/>
              </p:cNvCxnSpPr>
              <p:nvPr/>
            </p:nvCxnSpPr>
            <p:spPr>
              <a:xfrm flipV="1">
                <a:off x="7308304" y="6057250"/>
                <a:ext cx="756084" cy="18233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eur droit 49"/>
              <p:cNvCxnSpPr>
                <a:stCxn id="17418" idx="1"/>
              </p:cNvCxnSpPr>
              <p:nvPr/>
            </p:nvCxnSpPr>
            <p:spPr>
              <a:xfrm flipH="1" flipV="1">
                <a:off x="1979712" y="6093296"/>
                <a:ext cx="1296144" cy="152801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51"/>
              <p:cNvCxnSpPr>
                <a:stCxn id="17424" idx="3"/>
                <a:endCxn id="18" idx="1"/>
              </p:cNvCxnSpPr>
              <p:nvPr/>
            </p:nvCxnSpPr>
            <p:spPr>
              <a:xfrm>
                <a:off x="2771800" y="3753036"/>
                <a:ext cx="2232248" cy="254298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61"/>
              <p:cNvCxnSpPr>
                <a:stCxn id="17418" idx="3"/>
                <a:endCxn id="20" idx="1"/>
              </p:cNvCxnSpPr>
              <p:nvPr/>
            </p:nvCxnSpPr>
            <p:spPr>
              <a:xfrm flipV="1">
                <a:off x="4211960" y="6239582"/>
                <a:ext cx="2304256" cy="651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66"/>
              <p:cNvCxnSpPr>
                <a:stCxn id="17416" idx="0"/>
                <a:endCxn id="17424" idx="2"/>
              </p:cNvCxnSpPr>
              <p:nvPr/>
            </p:nvCxnSpPr>
            <p:spPr>
              <a:xfrm flipH="1" flipV="1">
                <a:off x="2339752" y="4077072"/>
                <a:ext cx="36004" cy="64807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ZoneTexte 81"/>
              <p:cNvSpPr txBox="1"/>
              <p:nvPr/>
            </p:nvSpPr>
            <p:spPr>
              <a:xfrm>
                <a:off x="6588224" y="1916832"/>
                <a:ext cx="13963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Between</a:t>
                </a:r>
                <a:r>
                  <a:rPr lang="fr-FR" b="1" dirty="0">
                    <a:solidFill>
                      <a:schemeClr val="accent6">
                        <a:lumMod val="75000"/>
                      </a:schemeClr>
                    </a:solidFill>
                  </a:rPr>
                  <a:t> MS</a:t>
                </a:r>
              </a:p>
            </p:txBody>
          </p:sp>
        </p:grpSp>
      </p:grpSp>
      <p:grpSp>
        <p:nvGrpSpPr>
          <p:cNvPr id="86" name="Groupe 85"/>
          <p:cNvGrpSpPr/>
          <p:nvPr/>
        </p:nvGrpSpPr>
        <p:grpSpPr>
          <a:xfrm>
            <a:off x="323528" y="2204864"/>
            <a:ext cx="7834165" cy="3888681"/>
            <a:chOff x="323528" y="2204864"/>
            <a:chExt cx="7834165" cy="3888681"/>
          </a:xfrm>
        </p:grpSpPr>
        <p:grpSp>
          <p:nvGrpSpPr>
            <p:cNvPr id="81" name="Groupe 80"/>
            <p:cNvGrpSpPr/>
            <p:nvPr/>
          </p:nvGrpSpPr>
          <p:grpSpPr>
            <a:xfrm>
              <a:off x="323528" y="3645024"/>
              <a:ext cx="7166720" cy="2448521"/>
              <a:chOff x="323528" y="3645024"/>
              <a:chExt cx="7166720" cy="2448521"/>
            </a:xfrm>
          </p:grpSpPr>
          <p:pic>
            <p:nvPicPr>
              <p:cNvPr id="17426" name="Picture 18" descr="http://chemistry.fas.nyu.edu/docs/IO/1311/ba600NMR.jpg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004048" y="5013176"/>
                <a:ext cx="758008" cy="10803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28" name="Picture 20" descr="http://www.utdallas.edu/chemistry/nmr/images/bruker.jpg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23528" y="4365104"/>
                <a:ext cx="891853" cy="11883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Picture 18" descr="http://chemistry.fas.nyu.edu/docs/IO/1311/ba600NMR.jpg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6732240" y="3645024"/>
                <a:ext cx="758008" cy="108036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3" name="Connecteur droit 72"/>
              <p:cNvCxnSpPr>
                <a:stCxn id="17426" idx="3"/>
                <a:endCxn id="19" idx="1"/>
              </p:cNvCxnSpPr>
              <p:nvPr/>
            </p:nvCxnSpPr>
            <p:spPr>
              <a:xfrm flipV="1">
                <a:off x="5762056" y="4185209"/>
                <a:ext cx="970184" cy="136815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eur droit 74"/>
              <p:cNvCxnSpPr>
                <a:stCxn id="17428" idx="3"/>
                <a:endCxn id="19" idx="1"/>
              </p:cNvCxnSpPr>
              <p:nvPr/>
            </p:nvCxnSpPr>
            <p:spPr>
              <a:xfrm flipV="1">
                <a:off x="1215381" y="4185209"/>
                <a:ext cx="5516859" cy="774092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ZoneTexte 82"/>
            <p:cNvSpPr txBox="1"/>
            <p:nvPr/>
          </p:nvSpPr>
          <p:spPr>
            <a:xfrm>
              <a:off x="6588224" y="2204864"/>
              <a:ext cx="1569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 err="1">
                  <a:solidFill>
                    <a:srgbClr val="00B050"/>
                  </a:solidFill>
                </a:rPr>
                <a:t>Between</a:t>
              </a:r>
              <a:r>
                <a:rPr lang="fr-FR" b="1" dirty="0">
                  <a:solidFill>
                    <a:srgbClr val="00B050"/>
                  </a:solidFill>
                </a:rPr>
                <a:t> NMR</a:t>
              </a:r>
            </a:p>
          </p:txBody>
        </p:sp>
      </p:grpSp>
      <p:grpSp>
        <p:nvGrpSpPr>
          <p:cNvPr id="93" name="Groupe 92"/>
          <p:cNvGrpSpPr/>
          <p:nvPr/>
        </p:nvGrpSpPr>
        <p:grpSpPr>
          <a:xfrm>
            <a:off x="1043608" y="2492896"/>
            <a:ext cx="7692768" cy="3746686"/>
            <a:chOff x="1043608" y="2492896"/>
            <a:chExt cx="7692768" cy="3746686"/>
          </a:xfrm>
        </p:grpSpPr>
        <p:cxnSp>
          <p:nvCxnSpPr>
            <p:cNvPr id="36" name="Connecteur droit 35"/>
            <p:cNvCxnSpPr>
              <a:endCxn id="18" idx="2"/>
            </p:cNvCxnSpPr>
            <p:nvPr/>
          </p:nvCxnSpPr>
          <p:spPr>
            <a:xfrm flipV="1">
              <a:off x="5364088" y="4441651"/>
              <a:ext cx="36004" cy="571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e 90"/>
            <p:cNvGrpSpPr/>
            <p:nvPr/>
          </p:nvGrpSpPr>
          <p:grpSpPr>
            <a:xfrm>
              <a:off x="1043608" y="2492896"/>
              <a:ext cx="7692768" cy="3746686"/>
              <a:chOff x="1043608" y="2492896"/>
              <a:chExt cx="7692768" cy="3746686"/>
            </a:xfrm>
          </p:grpSpPr>
          <p:grpSp>
            <p:nvGrpSpPr>
              <p:cNvPr id="90" name="Groupe 89"/>
              <p:cNvGrpSpPr/>
              <p:nvPr/>
            </p:nvGrpSpPr>
            <p:grpSpPr>
              <a:xfrm>
                <a:off x="1043608" y="3753036"/>
                <a:ext cx="6624736" cy="2486546"/>
                <a:chOff x="1043608" y="3753036"/>
                <a:chExt cx="6624736" cy="2486546"/>
              </a:xfrm>
            </p:grpSpPr>
            <p:cxnSp>
              <p:nvCxnSpPr>
                <p:cNvPr id="34" name="Connecteur droit 33"/>
                <p:cNvCxnSpPr>
                  <a:stCxn id="17426" idx="1"/>
                  <a:endCxn id="17429" idx="3"/>
                </p:cNvCxnSpPr>
                <p:nvPr/>
              </p:nvCxnSpPr>
              <p:spPr>
                <a:xfrm flipH="1" flipV="1">
                  <a:off x="4156690" y="4680012"/>
                  <a:ext cx="847358" cy="873349"/>
                </a:xfrm>
                <a:prstGeom prst="lin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9" name="Groupe 78"/>
                <p:cNvGrpSpPr/>
                <p:nvPr/>
              </p:nvGrpSpPr>
              <p:grpSpPr>
                <a:xfrm>
                  <a:off x="1043608" y="3753036"/>
                  <a:ext cx="6624736" cy="2486546"/>
                  <a:chOff x="1043608" y="3753036"/>
                  <a:chExt cx="6624736" cy="2486546"/>
                </a:xfrm>
              </p:grpSpPr>
              <p:cxnSp>
                <p:nvCxnSpPr>
                  <p:cNvPr id="22" name="Connecteur droit 21"/>
                  <p:cNvCxnSpPr>
                    <a:endCxn id="17424" idx="1"/>
                  </p:cNvCxnSpPr>
                  <p:nvPr/>
                </p:nvCxnSpPr>
                <p:spPr>
                  <a:xfrm flipV="1">
                    <a:off x="1043608" y="3753036"/>
                    <a:ext cx="864096" cy="54006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Connecteur droit 27"/>
                  <p:cNvCxnSpPr>
                    <a:endCxn id="17416" idx="1"/>
                  </p:cNvCxnSpPr>
                  <p:nvPr/>
                </p:nvCxnSpPr>
                <p:spPr>
                  <a:xfrm>
                    <a:off x="1259632" y="5085184"/>
                    <a:ext cx="720080" cy="7427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Connecteur droit 41"/>
                  <p:cNvCxnSpPr>
                    <a:stCxn id="20" idx="0"/>
                    <a:endCxn id="19" idx="2"/>
                  </p:cNvCxnSpPr>
                  <p:nvPr/>
                </p:nvCxnSpPr>
                <p:spPr>
                  <a:xfrm flipV="1">
                    <a:off x="6912260" y="4725393"/>
                    <a:ext cx="198984" cy="107987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Connecteur droit 43"/>
                  <p:cNvCxnSpPr>
                    <a:stCxn id="17420" idx="1"/>
                    <a:endCxn id="17426" idx="3"/>
                  </p:cNvCxnSpPr>
                  <p:nvPr/>
                </p:nvCxnSpPr>
                <p:spPr>
                  <a:xfrm flipH="1">
                    <a:off x="5762056" y="5499209"/>
                    <a:ext cx="1906288" cy="54152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Connecteur droit 47"/>
                  <p:cNvCxnSpPr>
                    <a:stCxn id="20" idx="1"/>
                    <a:endCxn id="17426" idx="3"/>
                  </p:cNvCxnSpPr>
                  <p:nvPr/>
                </p:nvCxnSpPr>
                <p:spPr>
                  <a:xfrm flipH="1" flipV="1">
                    <a:off x="5762056" y="5553361"/>
                    <a:ext cx="754160" cy="68622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4" name="ZoneTexte 83"/>
              <p:cNvSpPr txBox="1"/>
              <p:nvPr/>
            </p:nvSpPr>
            <p:spPr>
              <a:xfrm>
                <a:off x="6588224" y="2492896"/>
                <a:ext cx="2148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 err="1">
                    <a:solidFill>
                      <a:srgbClr val="0070C0"/>
                    </a:solidFill>
                  </a:rPr>
                  <a:t>Between</a:t>
                </a:r>
                <a:r>
                  <a:rPr lang="fr-FR" b="1" dirty="0">
                    <a:solidFill>
                      <a:srgbClr val="0070C0"/>
                    </a:solidFill>
                  </a:rPr>
                  <a:t> MS &amp; NMR</a:t>
                </a:r>
              </a:p>
            </p:txBody>
          </p:sp>
        </p:grpSp>
      </p:grpSp>
      <p:pic>
        <p:nvPicPr>
          <p:cNvPr id="94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Skills</a:t>
            </a:r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 &amp; </a:t>
            </a:r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Partners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sp>
        <p:nvSpPr>
          <p:cNvPr id="5" name="Étoile à 5 branches 4"/>
          <p:cNvSpPr/>
          <p:nvPr/>
        </p:nvSpPr>
        <p:spPr>
          <a:xfrm>
            <a:off x="5238750" y="5354638"/>
            <a:ext cx="269354" cy="306610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cxnSp>
        <p:nvCxnSpPr>
          <p:cNvPr id="7" name="Connecteur droit 6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7236296" y="5940881"/>
            <a:ext cx="1152128" cy="881731"/>
          </a:xfrm>
          <a:prstGeom prst="rect">
            <a:avLst/>
          </a:prstGeom>
        </p:spPr>
      </p:pic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611188" y="1052513"/>
            <a:ext cx="7740650" cy="5816599"/>
            <a:chOff x="385" y="663"/>
            <a:chExt cx="4876" cy="3664"/>
          </a:xfrm>
        </p:grpSpPr>
        <p:sp>
          <p:nvSpPr>
            <p:cNvPr id="10242" name="AutoShape 2"/>
            <p:cNvSpPr>
              <a:spLocks noChangeAspect="1" noChangeArrowheads="1" noTextEdit="1"/>
            </p:cNvSpPr>
            <p:nvPr/>
          </p:nvSpPr>
          <p:spPr bwMode="auto">
            <a:xfrm>
              <a:off x="385" y="663"/>
              <a:ext cx="4876" cy="3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385" y="663"/>
              <a:ext cx="4876" cy="36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2047" y="2110"/>
              <a:ext cx="20" cy="1149"/>
            </a:xfrm>
            <a:prstGeom prst="rect">
              <a:avLst/>
            </a:pr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3586" y="2110"/>
              <a:ext cx="13" cy="1149"/>
            </a:xfrm>
            <a:prstGeom prst="rect">
              <a:avLst/>
            </a:pr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7" name="Freeform 7"/>
            <p:cNvSpPr>
              <a:spLocks/>
            </p:cNvSpPr>
            <p:nvPr/>
          </p:nvSpPr>
          <p:spPr bwMode="auto">
            <a:xfrm>
              <a:off x="2053" y="1718"/>
              <a:ext cx="773" cy="398"/>
            </a:xfrm>
            <a:custGeom>
              <a:avLst/>
              <a:gdLst/>
              <a:ahLst/>
              <a:cxnLst>
                <a:cxn ang="0">
                  <a:pos x="0" y="385"/>
                </a:cxn>
                <a:cxn ang="0">
                  <a:pos x="767" y="0"/>
                </a:cxn>
                <a:cxn ang="0">
                  <a:pos x="773" y="13"/>
                </a:cxn>
                <a:cxn ang="0">
                  <a:pos x="7" y="398"/>
                </a:cxn>
                <a:cxn ang="0">
                  <a:pos x="0" y="385"/>
                </a:cxn>
              </a:cxnLst>
              <a:rect l="0" t="0" r="r" b="b"/>
              <a:pathLst>
                <a:path w="773" h="398">
                  <a:moveTo>
                    <a:pt x="0" y="385"/>
                  </a:moveTo>
                  <a:lnTo>
                    <a:pt x="767" y="0"/>
                  </a:lnTo>
                  <a:lnTo>
                    <a:pt x="773" y="13"/>
                  </a:lnTo>
                  <a:lnTo>
                    <a:pt x="7" y="398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8" name="Freeform 8"/>
            <p:cNvSpPr>
              <a:spLocks/>
            </p:cNvSpPr>
            <p:nvPr/>
          </p:nvSpPr>
          <p:spPr bwMode="auto">
            <a:xfrm>
              <a:off x="2820" y="1718"/>
              <a:ext cx="773" cy="3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773" y="385"/>
                </a:cxn>
                <a:cxn ang="0">
                  <a:pos x="766" y="398"/>
                </a:cxn>
                <a:cxn ang="0">
                  <a:pos x="0" y="13"/>
                </a:cxn>
                <a:cxn ang="0">
                  <a:pos x="6" y="0"/>
                </a:cxn>
              </a:cxnLst>
              <a:rect l="0" t="0" r="r" b="b"/>
              <a:pathLst>
                <a:path w="773" h="398">
                  <a:moveTo>
                    <a:pt x="6" y="0"/>
                  </a:moveTo>
                  <a:lnTo>
                    <a:pt x="773" y="385"/>
                  </a:lnTo>
                  <a:lnTo>
                    <a:pt x="766" y="398"/>
                  </a:lnTo>
                  <a:lnTo>
                    <a:pt x="0" y="1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49" name="Freeform 9"/>
            <p:cNvSpPr>
              <a:spLocks/>
            </p:cNvSpPr>
            <p:nvPr/>
          </p:nvSpPr>
          <p:spPr bwMode="auto">
            <a:xfrm>
              <a:off x="2053" y="3252"/>
              <a:ext cx="773" cy="39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773" y="385"/>
                </a:cxn>
                <a:cxn ang="0">
                  <a:pos x="767" y="399"/>
                </a:cxn>
                <a:cxn ang="0">
                  <a:pos x="0" y="13"/>
                </a:cxn>
                <a:cxn ang="0">
                  <a:pos x="7" y="0"/>
                </a:cxn>
              </a:cxnLst>
              <a:rect l="0" t="0" r="r" b="b"/>
              <a:pathLst>
                <a:path w="773" h="399">
                  <a:moveTo>
                    <a:pt x="7" y="0"/>
                  </a:moveTo>
                  <a:lnTo>
                    <a:pt x="773" y="385"/>
                  </a:lnTo>
                  <a:lnTo>
                    <a:pt x="767" y="399"/>
                  </a:lnTo>
                  <a:lnTo>
                    <a:pt x="0" y="1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0" name="Freeform 10"/>
            <p:cNvSpPr>
              <a:spLocks/>
            </p:cNvSpPr>
            <p:nvPr/>
          </p:nvSpPr>
          <p:spPr bwMode="auto">
            <a:xfrm>
              <a:off x="2820" y="3252"/>
              <a:ext cx="773" cy="399"/>
            </a:xfrm>
            <a:custGeom>
              <a:avLst/>
              <a:gdLst/>
              <a:ahLst/>
              <a:cxnLst>
                <a:cxn ang="0">
                  <a:pos x="773" y="13"/>
                </a:cxn>
                <a:cxn ang="0">
                  <a:pos x="6" y="399"/>
                </a:cxn>
                <a:cxn ang="0">
                  <a:pos x="0" y="385"/>
                </a:cxn>
                <a:cxn ang="0">
                  <a:pos x="766" y="0"/>
                </a:cxn>
                <a:cxn ang="0">
                  <a:pos x="773" y="13"/>
                </a:cxn>
              </a:cxnLst>
              <a:rect l="0" t="0" r="r" b="b"/>
              <a:pathLst>
                <a:path w="773" h="399">
                  <a:moveTo>
                    <a:pt x="773" y="13"/>
                  </a:moveTo>
                  <a:lnTo>
                    <a:pt x="6" y="399"/>
                  </a:lnTo>
                  <a:lnTo>
                    <a:pt x="0" y="385"/>
                  </a:lnTo>
                  <a:lnTo>
                    <a:pt x="766" y="0"/>
                  </a:lnTo>
                  <a:lnTo>
                    <a:pt x="773" y="13"/>
                  </a:lnTo>
                  <a:close/>
                </a:path>
              </a:pathLst>
            </a:custGeom>
            <a:solidFill>
              <a:srgbClr val="4A7EBB"/>
            </a:solidFill>
            <a:ln w="0">
              <a:solidFill>
                <a:srgbClr val="4A7EB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1" name="Freeform 11"/>
            <p:cNvSpPr>
              <a:spLocks/>
            </p:cNvSpPr>
            <p:nvPr/>
          </p:nvSpPr>
          <p:spPr bwMode="auto">
            <a:xfrm>
              <a:off x="2745" y="2224"/>
              <a:ext cx="156" cy="156"/>
            </a:xfrm>
            <a:custGeom>
              <a:avLst/>
              <a:gdLst/>
              <a:ahLst/>
              <a:cxnLst>
                <a:cxn ang="0">
                  <a:pos x="0" y="55"/>
                </a:cxn>
                <a:cxn ang="0">
                  <a:pos x="61" y="55"/>
                </a:cxn>
                <a:cxn ang="0">
                  <a:pos x="81" y="0"/>
                </a:cxn>
                <a:cxn ang="0">
                  <a:pos x="95" y="55"/>
                </a:cxn>
                <a:cxn ang="0">
                  <a:pos x="156" y="55"/>
                </a:cxn>
                <a:cxn ang="0">
                  <a:pos x="109" y="95"/>
                </a:cxn>
                <a:cxn ang="0">
                  <a:pos x="129" y="156"/>
                </a:cxn>
                <a:cxn ang="0">
                  <a:pos x="81" y="115"/>
                </a:cxn>
                <a:cxn ang="0">
                  <a:pos x="34" y="156"/>
                </a:cxn>
                <a:cxn ang="0">
                  <a:pos x="47" y="95"/>
                </a:cxn>
                <a:cxn ang="0">
                  <a:pos x="0" y="55"/>
                </a:cxn>
              </a:cxnLst>
              <a:rect l="0" t="0" r="r" b="b"/>
              <a:pathLst>
                <a:path w="156" h="156">
                  <a:moveTo>
                    <a:pt x="0" y="55"/>
                  </a:moveTo>
                  <a:lnTo>
                    <a:pt x="61" y="55"/>
                  </a:lnTo>
                  <a:lnTo>
                    <a:pt x="81" y="0"/>
                  </a:lnTo>
                  <a:lnTo>
                    <a:pt x="95" y="55"/>
                  </a:lnTo>
                  <a:lnTo>
                    <a:pt x="156" y="55"/>
                  </a:lnTo>
                  <a:lnTo>
                    <a:pt x="109" y="95"/>
                  </a:lnTo>
                  <a:lnTo>
                    <a:pt x="129" y="156"/>
                  </a:lnTo>
                  <a:lnTo>
                    <a:pt x="81" y="115"/>
                  </a:lnTo>
                  <a:lnTo>
                    <a:pt x="34" y="156"/>
                  </a:lnTo>
                  <a:lnTo>
                    <a:pt x="47" y="9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2" name="Freeform 12"/>
            <p:cNvSpPr>
              <a:spLocks noEditPoints="1"/>
            </p:cNvSpPr>
            <p:nvPr/>
          </p:nvSpPr>
          <p:spPr bwMode="auto">
            <a:xfrm>
              <a:off x="2725" y="2197"/>
              <a:ext cx="196" cy="196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81" y="75"/>
                </a:cxn>
                <a:cxn ang="0">
                  <a:pos x="74" y="82"/>
                </a:cxn>
                <a:cxn ang="0">
                  <a:pos x="101" y="0"/>
                </a:cxn>
                <a:cxn ang="0">
                  <a:pos x="122" y="82"/>
                </a:cxn>
                <a:cxn ang="0">
                  <a:pos x="115" y="75"/>
                </a:cxn>
                <a:cxn ang="0">
                  <a:pos x="196" y="75"/>
                </a:cxn>
                <a:cxn ang="0">
                  <a:pos x="135" y="129"/>
                </a:cxn>
                <a:cxn ang="0">
                  <a:pos x="135" y="122"/>
                </a:cxn>
                <a:cxn ang="0">
                  <a:pos x="162" y="196"/>
                </a:cxn>
                <a:cxn ang="0">
                  <a:pos x="95" y="149"/>
                </a:cxn>
                <a:cxn ang="0">
                  <a:pos x="101" y="149"/>
                </a:cxn>
                <a:cxn ang="0">
                  <a:pos x="40" y="196"/>
                </a:cxn>
                <a:cxn ang="0">
                  <a:pos x="61" y="122"/>
                </a:cxn>
                <a:cxn ang="0">
                  <a:pos x="67" y="129"/>
                </a:cxn>
                <a:cxn ang="0">
                  <a:pos x="0" y="75"/>
                </a:cxn>
                <a:cxn ang="0">
                  <a:pos x="74" y="115"/>
                </a:cxn>
                <a:cxn ang="0">
                  <a:pos x="61" y="183"/>
                </a:cxn>
                <a:cxn ang="0">
                  <a:pos x="47" y="176"/>
                </a:cxn>
                <a:cxn ang="0">
                  <a:pos x="101" y="136"/>
                </a:cxn>
                <a:cxn ang="0">
                  <a:pos x="149" y="176"/>
                </a:cxn>
                <a:cxn ang="0">
                  <a:pos x="142" y="183"/>
                </a:cxn>
                <a:cxn ang="0">
                  <a:pos x="122" y="115"/>
                </a:cxn>
                <a:cxn ang="0">
                  <a:pos x="169" y="82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7"/>
                </a:cxn>
                <a:cxn ang="0">
                  <a:pos x="108" y="27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82"/>
                </a:cxn>
                <a:cxn ang="0">
                  <a:pos x="74" y="115"/>
                </a:cxn>
              </a:cxnLst>
              <a:rect l="0" t="0" r="r" b="b"/>
              <a:pathLst>
                <a:path w="196" h="196">
                  <a:moveTo>
                    <a:pt x="0" y="75"/>
                  </a:moveTo>
                  <a:lnTo>
                    <a:pt x="81" y="75"/>
                  </a:lnTo>
                  <a:lnTo>
                    <a:pt x="74" y="82"/>
                  </a:lnTo>
                  <a:lnTo>
                    <a:pt x="101" y="0"/>
                  </a:lnTo>
                  <a:lnTo>
                    <a:pt x="122" y="82"/>
                  </a:lnTo>
                  <a:lnTo>
                    <a:pt x="115" y="75"/>
                  </a:lnTo>
                  <a:lnTo>
                    <a:pt x="196" y="75"/>
                  </a:lnTo>
                  <a:lnTo>
                    <a:pt x="135" y="129"/>
                  </a:lnTo>
                  <a:lnTo>
                    <a:pt x="135" y="122"/>
                  </a:lnTo>
                  <a:lnTo>
                    <a:pt x="162" y="196"/>
                  </a:lnTo>
                  <a:lnTo>
                    <a:pt x="95" y="149"/>
                  </a:lnTo>
                  <a:lnTo>
                    <a:pt x="101" y="149"/>
                  </a:lnTo>
                  <a:lnTo>
                    <a:pt x="40" y="196"/>
                  </a:lnTo>
                  <a:lnTo>
                    <a:pt x="61" y="122"/>
                  </a:lnTo>
                  <a:lnTo>
                    <a:pt x="67" y="129"/>
                  </a:lnTo>
                  <a:lnTo>
                    <a:pt x="0" y="75"/>
                  </a:lnTo>
                  <a:close/>
                  <a:moveTo>
                    <a:pt x="74" y="115"/>
                  </a:moveTo>
                  <a:lnTo>
                    <a:pt x="61" y="183"/>
                  </a:lnTo>
                  <a:lnTo>
                    <a:pt x="47" y="176"/>
                  </a:lnTo>
                  <a:lnTo>
                    <a:pt x="101" y="136"/>
                  </a:lnTo>
                  <a:lnTo>
                    <a:pt x="149" y="176"/>
                  </a:lnTo>
                  <a:lnTo>
                    <a:pt x="142" y="183"/>
                  </a:lnTo>
                  <a:lnTo>
                    <a:pt x="122" y="115"/>
                  </a:lnTo>
                  <a:lnTo>
                    <a:pt x="169" y="82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7"/>
                  </a:lnTo>
                  <a:lnTo>
                    <a:pt x="108" y="27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82"/>
                  </a:lnTo>
                  <a:lnTo>
                    <a:pt x="74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3" name="Freeform 13"/>
            <p:cNvSpPr>
              <a:spLocks/>
            </p:cNvSpPr>
            <p:nvPr/>
          </p:nvSpPr>
          <p:spPr bwMode="auto">
            <a:xfrm>
              <a:off x="2481" y="3144"/>
              <a:ext cx="149" cy="155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54" y="61"/>
                </a:cxn>
                <a:cxn ang="0">
                  <a:pos x="74" y="0"/>
                </a:cxn>
                <a:cxn ang="0">
                  <a:pos x="94" y="61"/>
                </a:cxn>
                <a:cxn ang="0">
                  <a:pos x="149" y="61"/>
                </a:cxn>
                <a:cxn ang="0">
                  <a:pos x="101" y="94"/>
                </a:cxn>
                <a:cxn ang="0">
                  <a:pos x="122" y="155"/>
                </a:cxn>
                <a:cxn ang="0">
                  <a:pos x="74" y="121"/>
                </a:cxn>
                <a:cxn ang="0">
                  <a:pos x="27" y="155"/>
                </a:cxn>
                <a:cxn ang="0">
                  <a:pos x="47" y="94"/>
                </a:cxn>
                <a:cxn ang="0">
                  <a:pos x="0" y="61"/>
                </a:cxn>
              </a:cxnLst>
              <a:rect l="0" t="0" r="r" b="b"/>
              <a:pathLst>
                <a:path w="149" h="155">
                  <a:moveTo>
                    <a:pt x="0" y="61"/>
                  </a:moveTo>
                  <a:lnTo>
                    <a:pt x="54" y="61"/>
                  </a:lnTo>
                  <a:lnTo>
                    <a:pt x="74" y="0"/>
                  </a:lnTo>
                  <a:lnTo>
                    <a:pt x="94" y="61"/>
                  </a:lnTo>
                  <a:lnTo>
                    <a:pt x="149" y="61"/>
                  </a:lnTo>
                  <a:lnTo>
                    <a:pt x="101" y="94"/>
                  </a:lnTo>
                  <a:lnTo>
                    <a:pt x="122" y="155"/>
                  </a:lnTo>
                  <a:lnTo>
                    <a:pt x="74" y="121"/>
                  </a:lnTo>
                  <a:lnTo>
                    <a:pt x="27" y="155"/>
                  </a:lnTo>
                  <a:lnTo>
                    <a:pt x="47" y="94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4" name="Freeform 14"/>
            <p:cNvSpPr>
              <a:spLocks noEditPoints="1"/>
            </p:cNvSpPr>
            <p:nvPr/>
          </p:nvSpPr>
          <p:spPr bwMode="auto">
            <a:xfrm>
              <a:off x="2460" y="3124"/>
              <a:ext cx="190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75" y="74"/>
                </a:cxn>
                <a:cxn ang="0">
                  <a:pos x="68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0" y="74"/>
                </a:cxn>
                <a:cxn ang="0">
                  <a:pos x="129" y="121"/>
                </a:cxn>
                <a:cxn ang="0">
                  <a:pos x="129" y="114"/>
                </a:cxn>
                <a:cxn ang="0">
                  <a:pos x="156" y="196"/>
                </a:cxn>
                <a:cxn ang="0">
                  <a:pos x="88" y="141"/>
                </a:cxn>
                <a:cxn ang="0">
                  <a:pos x="102" y="141"/>
                </a:cxn>
                <a:cxn ang="0">
                  <a:pos x="34" y="196"/>
                </a:cxn>
                <a:cxn ang="0">
                  <a:pos x="61" y="114"/>
                </a:cxn>
                <a:cxn ang="0">
                  <a:pos x="61" y="121"/>
                </a:cxn>
                <a:cxn ang="0">
                  <a:pos x="0" y="74"/>
                </a:cxn>
                <a:cxn ang="0">
                  <a:pos x="75" y="114"/>
                </a:cxn>
                <a:cxn ang="0">
                  <a:pos x="54" y="175"/>
                </a:cxn>
                <a:cxn ang="0">
                  <a:pos x="41" y="169"/>
                </a:cxn>
                <a:cxn ang="0">
                  <a:pos x="95" y="128"/>
                </a:cxn>
                <a:cxn ang="0">
                  <a:pos x="149" y="169"/>
                </a:cxn>
                <a:cxn ang="0">
                  <a:pos x="136" y="175"/>
                </a:cxn>
                <a:cxn ang="0">
                  <a:pos x="115" y="114"/>
                </a:cxn>
                <a:cxn ang="0">
                  <a:pos x="170" y="74"/>
                </a:cxn>
                <a:cxn ang="0">
                  <a:pos x="170" y="87"/>
                </a:cxn>
                <a:cxn ang="0">
                  <a:pos x="109" y="87"/>
                </a:cxn>
                <a:cxn ang="0">
                  <a:pos x="88" y="20"/>
                </a:cxn>
                <a:cxn ang="0">
                  <a:pos x="102" y="20"/>
                </a:cxn>
                <a:cxn ang="0">
                  <a:pos x="82" y="87"/>
                </a:cxn>
                <a:cxn ang="0">
                  <a:pos x="21" y="87"/>
                </a:cxn>
                <a:cxn ang="0">
                  <a:pos x="21" y="74"/>
                </a:cxn>
                <a:cxn ang="0">
                  <a:pos x="75" y="114"/>
                </a:cxn>
              </a:cxnLst>
              <a:rect l="0" t="0" r="r" b="b"/>
              <a:pathLst>
                <a:path w="190" h="196">
                  <a:moveTo>
                    <a:pt x="0" y="74"/>
                  </a:moveTo>
                  <a:lnTo>
                    <a:pt x="75" y="74"/>
                  </a:lnTo>
                  <a:lnTo>
                    <a:pt x="68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0" y="74"/>
                  </a:lnTo>
                  <a:lnTo>
                    <a:pt x="129" y="121"/>
                  </a:lnTo>
                  <a:lnTo>
                    <a:pt x="129" y="114"/>
                  </a:lnTo>
                  <a:lnTo>
                    <a:pt x="156" y="196"/>
                  </a:lnTo>
                  <a:lnTo>
                    <a:pt x="88" y="141"/>
                  </a:lnTo>
                  <a:lnTo>
                    <a:pt x="102" y="141"/>
                  </a:lnTo>
                  <a:lnTo>
                    <a:pt x="34" y="196"/>
                  </a:lnTo>
                  <a:lnTo>
                    <a:pt x="61" y="114"/>
                  </a:lnTo>
                  <a:lnTo>
                    <a:pt x="61" y="121"/>
                  </a:lnTo>
                  <a:lnTo>
                    <a:pt x="0" y="74"/>
                  </a:lnTo>
                  <a:close/>
                  <a:moveTo>
                    <a:pt x="75" y="114"/>
                  </a:moveTo>
                  <a:lnTo>
                    <a:pt x="54" y="175"/>
                  </a:lnTo>
                  <a:lnTo>
                    <a:pt x="41" y="169"/>
                  </a:lnTo>
                  <a:lnTo>
                    <a:pt x="95" y="128"/>
                  </a:lnTo>
                  <a:lnTo>
                    <a:pt x="149" y="169"/>
                  </a:lnTo>
                  <a:lnTo>
                    <a:pt x="136" y="175"/>
                  </a:lnTo>
                  <a:lnTo>
                    <a:pt x="115" y="114"/>
                  </a:lnTo>
                  <a:lnTo>
                    <a:pt x="170" y="74"/>
                  </a:lnTo>
                  <a:lnTo>
                    <a:pt x="170" y="87"/>
                  </a:lnTo>
                  <a:lnTo>
                    <a:pt x="109" y="87"/>
                  </a:lnTo>
                  <a:lnTo>
                    <a:pt x="88" y="20"/>
                  </a:lnTo>
                  <a:lnTo>
                    <a:pt x="102" y="20"/>
                  </a:lnTo>
                  <a:lnTo>
                    <a:pt x="82" y="87"/>
                  </a:lnTo>
                  <a:lnTo>
                    <a:pt x="21" y="87"/>
                  </a:lnTo>
                  <a:lnTo>
                    <a:pt x="21" y="74"/>
                  </a:lnTo>
                  <a:lnTo>
                    <a:pt x="75" y="114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5" name="Freeform 15"/>
            <p:cNvSpPr>
              <a:spLocks/>
            </p:cNvSpPr>
            <p:nvPr/>
          </p:nvSpPr>
          <p:spPr bwMode="auto">
            <a:xfrm>
              <a:off x="2860" y="2955"/>
              <a:ext cx="156" cy="15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61" y="54"/>
                </a:cxn>
                <a:cxn ang="0">
                  <a:pos x="82" y="0"/>
                </a:cxn>
                <a:cxn ang="0">
                  <a:pos x="95" y="54"/>
                </a:cxn>
                <a:cxn ang="0">
                  <a:pos x="156" y="54"/>
                </a:cxn>
                <a:cxn ang="0">
                  <a:pos x="109" y="94"/>
                </a:cxn>
                <a:cxn ang="0">
                  <a:pos x="129" y="155"/>
                </a:cxn>
                <a:cxn ang="0">
                  <a:pos x="82" y="114"/>
                </a:cxn>
                <a:cxn ang="0">
                  <a:pos x="34" y="155"/>
                </a:cxn>
                <a:cxn ang="0">
                  <a:pos x="48" y="94"/>
                </a:cxn>
                <a:cxn ang="0">
                  <a:pos x="0" y="54"/>
                </a:cxn>
              </a:cxnLst>
              <a:rect l="0" t="0" r="r" b="b"/>
              <a:pathLst>
                <a:path w="156" h="155">
                  <a:moveTo>
                    <a:pt x="0" y="54"/>
                  </a:moveTo>
                  <a:lnTo>
                    <a:pt x="61" y="54"/>
                  </a:lnTo>
                  <a:lnTo>
                    <a:pt x="82" y="0"/>
                  </a:lnTo>
                  <a:lnTo>
                    <a:pt x="95" y="54"/>
                  </a:lnTo>
                  <a:lnTo>
                    <a:pt x="156" y="54"/>
                  </a:lnTo>
                  <a:lnTo>
                    <a:pt x="109" y="94"/>
                  </a:lnTo>
                  <a:lnTo>
                    <a:pt x="129" y="155"/>
                  </a:lnTo>
                  <a:lnTo>
                    <a:pt x="82" y="114"/>
                  </a:lnTo>
                  <a:lnTo>
                    <a:pt x="34" y="155"/>
                  </a:lnTo>
                  <a:lnTo>
                    <a:pt x="48" y="9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6" name="Freeform 16"/>
            <p:cNvSpPr>
              <a:spLocks noEditPoints="1"/>
            </p:cNvSpPr>
            <p:nvPr/>
          </p:nvSpPr>
          <p:spPr bwMode="auto">
            <a:xfrm>
              <a:off x="2840" y="2928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81"/>
                </a:cxn>
                <a:cxn ang="0">
                  <a:pos x="102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36" y="128"/>
                </a:cxn>
                <a:cxn ang="0">
                  <a:pos x="136" y="121"/>
                </a:cxn>
                <a:cxn ang="0">
                  <a:pos x="163" y="196"/>
                </a:cxn>
                <a:cxn ang="0">
                  <a:pos x="95" y="148"/>
                </a:cxn>
                <a:cxn ang="0">
                  <a:pos x="102" y="148"/>
                </a:cxn>
                <a:cxn ang="0">
                  <a:pos x="41" y="196"/>
                </a:cxn>
                <a:cxn ang="0">
                  <a:pos x="61" y="121"/>
                </a:cxn>
                <a:cxn ang="0">
                  <a:pos x="68" y="128"/>
                </a:cxn>
                <a:cxn ang="0">
                  <a:pos x="0" y="74"/>
                </a:cxn>
                <a:cxn ang="0">
                  <a:pos x="75" y="114"/>
                </a:cxn>
                <a:cxn ang="0">
                  <a:pos x="61" y="182"/>
                </a:cxn>
                <a:cxn ang="0">
                  <a:pos x="47" y="175"/>
                </a:cxn>
                <a:cxn ang="0">
                  <a:pos x="102" y="135"/>
                </a:cxn>
                <a:cxn ang="0">
                  <a:pos x="149" y="175"/>
                </a:cxn>
                <a:cxn ang="0">
                  <a:pos x="142" y="182"/>
                </a:cxn>
                <a:cxn ang="0">
                  <a:pos x="122" y="114"/>
                </a:cxn>
                <a:cxn ang="0">
                  <a:pos x="169" y="81"/>
                </a:cxn>
                <a:cxn ang="0">
                  <a:pos x="176" y="87"/>
                </a:cxn>
                <a:cxn ang="0">
                  <a:pos x="115" y="87"/>
                </a:cxn>
                <a:cxn ang="0">
                  <a:pos x="95" y="27"/>
                </a:cxn>
                <a:cxn ang="0">
                  <a:pos x="108" y="27"/>
                </a:cxn>
                <a:cxn ang="0">
                  <a:pos x="88" y="87"/>
                </a:cxn>
                <a:cxn ang="0">
                  <a:pos x="20" y="87"/>
                </a:cxn>
                <a:cxn ang="0">
                  <a:pos x="27" y="81"/>
                </a:cxn>
                <a:cxn ang="0">
                  <a:pos x="75" y="114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1" y="74"/>
                  </a:lnTo>
                  <a:lnTo>
                    <a:pt x="75" y="81"/>
                  </a:lnTo>
                  <a:lnTo>
                    <a:pt x="102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36" y="128"/>
                  </a:lnTo>
                  <a:lnTo>
                    <a:pt x="136" y="121"/>
                  </a:lnTo>
                  <a:lnTo>
                    <a:pt x="163" y="196"/>
                  </a:lnTo>
                  <a:lnTo>
                    <a:pt x="95" y="148"/>
                  </a:lnTo>
                  <a:lnTo>
                    <a:pt x="102" y="148"/>
                  </a:lnTo>
                  <a:lnTo>
                    <a:pt x="41" y="196"/>
                  </a:lnTo>
                  <a:lnTo>
                    <a:pt x="61" y="121"/>
                  </a:lnTo>
                  <a:lnTo>
                    <a:pt x="68" y="128"/>
                  </a:lnTo>
                  <a:lnTo>
                    <a:pt x="0" y="74"/>
                  </a:lnTo>
                  <a:close/>
                  <a:moveTo>
                    <a:pt x="75" y="114"/>
                  </a:moveTo>
                  <a:lnTo>
                    <a:pt x="61" y="182"/>
                  </a:lnTo>
                  <a:lnTo>
                    <a:pt x="47" y="175"/>
                  </a:lnTo>
                  <a:lnTo>
                    <a:pt x="102" y="135"/>
                  </a:lnTo>
                  <a:lnTo>
                    <a:pt x="149" y="175"/>
                  </a:lnTo>
                  <a:lnTo>
                    <a:pt x="142" y="182"/>
                  </a:lnTo>
                  <a:lnTo>
                    <a:pt x="122" y="114"/>
                  </a:lnTo>
                  <a:lnTo>
                    <a:pt x="169" y="81"/>
                  </a:lnTo>
                  <a:lnTo>
                    <a:pt x="176" y="87"/>
                  </a:lnTo>
                  <a:lnTo>
                    <a:pt x="115" y="87"/>
                  </a:lnTo>
                  <a:lnTo>
                    <a:pt x="95" y="27"/>
                  </a:lnTo>
                  <a:lnTo>
                    <a:pt x="108" y="27"/>
                  </a:lnTo>
                  <a:lnTo>
                    <a:pt x="88" y="87"/>
                  </a:lnTo>
                  <a:lnTo>
                    <a:pt x="20" y="87"/>
                  </a:lnTo>
                  <a:lnTo>
                    <a:pt x="27" y="81"/>
                  </a:lnTo>
                  <a:lnTo>
                    <a:pt x="75" y="114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7" name="Freeform 17"/>
            <p:cNvSpPr>
              <a:spLocks/>
            </p:cNvSpPr>
            <p:nvPr/>
          </p:nvSpPr>
          <p:spPr bwMode="auto">
            <a:xfrm>
              <a:off x="3206" y="3299"/>
              <a:ext cx="156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61" y="61"/>
                </a:cxn>
                <a:cxn ang="0">
                  <a:pos x="82" y="0"/>
                </a:cxn>
                <a:cxn ang="0">
                  <a:pos x="95" y="61"/>
                </a:cxn>
                <a:cxn ang="0">
                  <a:pos x="156" y="61"/>
                </a:cxn>
                <a:cxn ang="0">
                  <a:pos x="109" y="95"/>
                </a:cxn>
                <a:cxn ang="0">
                  <a:pos x="129" y="156"/>
                </a:cxn>
                <a:cxn ang="0">
                  <a:pos x="82" y="115"/>
                </a:cxn>
                <a:cxn ang="0">
                  <a:pos x="34" y="156"/>
                </a:cxn>
                <a:cxn ang="0">
                  <a:pos x="48" y="95"/>
                </a:cxn>
                <a:cxn ang="0">
                  <a:pos x="0" y="61"/>
                </a:cxn>
              </a:cxnLst>
              <a:rect l="0" t="0" r="r" b="b"/>
              <a:pathLst>
                <a:path w="156" h="156">
                  <a:moveTo>
                    <a:pt x="0" y="61"/>
                  </a:moveTo>
                  <a:lnTo>
                    <a:pt x="61" y="61"/>
                  </a:lnTo>
                  <a:lnTo>
                    <a:pt x="82" y="0"/>
                  </a:lnTo>
                  <a:lnTo>
                    <a:pt x="95" y="61"/>
                  </a:lnTo>
                  <a:lnTo>
                    <a:pt x="156" y="61"/>
                  </a:lnTo>
                  <a:lnTo>
                    <a:pt x="109" y="95"/>
                  </a:lnTo>
                  <a:lnTo>
                    <a:pt x="129" y="156"/>
                  </a:lnTo>
                  <a:lnTo>
                    <a:pt x="82" y="115"/>
                  </a:lnTo>
                  <a:lnTo>
                    <a:pt x="34" y="156"/>
                  </a:lnTo>
                  <a:lnTo>
                    <a:pt x="48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8" name="Freeform 18"/>
            <p:cNvSpPr>
              <a:spLocks noEditPoints="1"/>
            </p:cNvSpPr>
            <p:nvPr/>
          </p:nvSpPr>
          <p:spPr bwMode="auto">
            <a:xfrm>
              <a:off x="3186" y="3279"/>
              <a:ext cx="196" cy="189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4" y="74"/>
                </a:cxn>
                <a:cxn ang="0">
                  <a:pos x="102" y="0"/>
                </a:cxn>
                <a:cxn ang="0">
                  <a:pos x="122" y="74"/>
                </a:cxn>
                <a:cxn ang="0">
                  <a:pos x="115" y="74"/>
                </a:cxn>
                <a:cxn ang="0">
                  <a:pos x="196" y="74"/>
                </a:cxn>
                <a:cxn ang="0">
                  <a:pos x="135" y="122"/>
                </a:cxn>
                <a:cxn ang="0">
                  <a:pos x="135" y="115"/>
                </a:cxn>
                <a:cxn ang="0">
                  <a:pos x="163" y="189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41" y="189"/>
                </a:cxn>
                <a:cxn ang="0">
                  <a:pos x="61" y="115"/>
                </a:cxn>
                <a:cxn ang="0">
                  <a:pos x="68" y="122"/>
                </a:cxn>
                <a:cxn ang="0">
                  <a:pos x="0" y="74"/>
                </a:cxn>
                <a:cxn ang="0">
                  <a:pos x="81" y="115"/>
                </a:cxn>
                <a:cxn ang="0">
                  <a:pos x="61" y="176"/>
                </a:cxn>
                <a:cxn ang="0">
                  <a:pos x="47" y="169"/>
                </a:cxn>
                <a:cxn ang="0">
                  <a:pos x="102" y="128"/>
                </a:cxn>
                <a:cxn ang="0">
                  <a:pos x="149" y="169"/>
                </a:cxn>
                <a:cxn ang="0">
                  <a:pos x="142" y="176"/>
                </a:cxn>
                <a:cxn ang="0">
                  <a:pos x="122" y="115"/>
                </a:cxn>
                <a:cxn ang="0">
                  <a:pos x="169" y="74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0"/>
                </a:cxn>
                <a:cxn ang="0">
                  <a:pos x="108" y="20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81" y="115"/>
                </a:cxn>
              </a:cxnLst>
              <a:rect l="0" t="0" r="r" b="b"/>
              <a:pathLst>
                <a:path w="196" h="189">
                  <a:moveTo>
                    <a:pt x="0" y="74"/>
                  </a:moveTo>
                  <a:lnTo>
                    <a:pt x="81" y="74"/>
                  </a:lnTo>
                  <a:lnTo>
                    <a:pt x="74" y="74"/>
                  </a:lnTo>
                  <a:lnTo>
                    <a:pt x="102" y="0"/>
                  </a:lnTo>
                  <a:lnTo>
                    <a:pt x="122" y="74"/>
                  </a:lnTo>
                  <a:lnTo>
                    <a:pt x="115" y="74"/>
                  </a:lnTo>
                  <a:lnTo>
                    <a:pt x="196" y="74"/>
                  </a:lnTo>
                  <a:lnTo>
                    <a:pt x="135" y="122"/>
                  </a:lnTo>
                  <a:lnTo>
                    <a:pt x="135" y="115"/>
                  </a:lnTo>
                  <a:lnTo>
                    <a:pt x="163" y="189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41" y="189"/>
                  </a:lnTo>
                  <a:lnTo>
                    <a:pt x="61" y="115"/>
                  </a:lnTo>
                  <a:lnTo>
                    <a:pt x="68" y="122"/>
                  </a:lnTo>
                  <a:lnTo>
                    <a:pt x="0" y="74"/>
                  </a:lnTo>
                  <a:close/>
                  <a:moveTo>
                    <a:pt x="81" y="115"/>
                  </a:moveTo>
                  <a:lnTo>
                    <a:pt x="61" y="176"/>
                  </a:lnTo>
                  <a:lnTo>
                    <a:pt x="47" y="169"/>
                  </a:lnTo>
                  <a:lnTo>
                    <a:pt x="102" y="128"/>
                  </a:lnTo>
                  <a:lnTo>
                    <a:pt x="149" y="169"/>
                  </a:lnTo>
                  <a:lnTo>
                    <a:pt x="142" y="176"/>
                  </a:lnTo>
                  <a:lnTo>
                    <a:pt x="122" y="115"/>
                  </a:lnTo>
                  <a:lnTo>
                    <a:pt x="169" y="74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0"/>
                  </a:lnTo>
                  <a:lnTo>
                    <a:pt x="108" y="20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59" name="Freeform 19"/>
            <p:cNvSpPr>
              <a:spLocks/>
            </p:cNvSpPr>
            <p:nvPr/>
          </p:nvSpPr>
          <p:spPr bwMode="auto">
            <a:xfrm>
              <a:off x="2053" y="2569"/>
              <a:ext cx="156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61" y="61"/>
                </a:cxn>
                <a:cxn ang="0">
                  <a:pos x="82" y="0"/>
                </a:cxn>
                <a:cxn ang="0">
                  <a:pos x="95" y="61"/>
                </a:cxn>
                <a:cxn ang="0">
                  <a:pos x="156" y="61"/>
                </a:cxn>
                <a:cxn ang="0">
                  <a:pos x="109" y="95"/>
                </a:cxn>
                <a:cxn ang="0">
                  <a:pos x="129" y="156"/>
                </a:cxn>
                <a:cxn ang="0">
                  <a:pos x="82" y="115"/>
                </a:cxn>
                <a:cxn ang="0">
                  <a:pos x="34" y="156"/>
                </a:cxn>
                <a:cxn ang="0">
                  <a:pos x="48" y="95"/>
                </a:cxn>
                <a:cxn ang="0">
                  <a:pos x="0" y="61"/>
                </a:cxn>
              </a:cxnLst>
              <a:rect l="0" t="0" r="r" b="b"/>
              <a:pathLst>
                <a:path w="156" h="156">
                  <a:moveTo>
                    <a:pt x="0" y="61"/>
                  </a:moveTo>
                  <a:lnTo>
                    <a:pt x="61" y="61"/>
                  </a:lnTo>
                  <a:lnTo>
                    <a:pt x="82" y="0"/>
                  </a:lnTo>
                  <a:lnTo>
                    <a:pt x="95" y="61"/>
                  </a:lnTo>
                  <a:lnTo>
                    <a:pt x="156" y="61"/>
                  </a:lnTo>
                  <a:lnTo>
                    <a:pt x="109" y="95"/>
                  </a:lnTo>
                  <a:lnTo>
                    <a:pt x="129" y="156"/>
                  </a:lnTo>
                  <a:lnTo>
                    <a:pt x="82" y="115"/>
                  </a:lnTo>
                  <a:lnTo>
                    <a:pt x="34" y="156"/>
                  </a:lnTo>
                  <a:lnTo>
                    <a:pt x="48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0" name="Freeform 20"/>
            <p:cNvSpPr>
              <a:spLocks noEditPoints="1"/>
            </p:cNvSpPr>
            <p:nvPr/>
          </p:nvSpPr>
          <p:spPr bwMode="auto">
            <a:xfrm>
              <a:off x="2033" y="2549"/>
              <a:ext cx="197" cy="189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74"/>
                </a:cxn>
                <a:cxn ang="0">
                  <a:pos x="102" y="0"/>
                </a:cxn>
                <a:cxn ang="0">
                  <a:pos x="122" y="74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36" y="122"/>
                </a:cxn>
                <a:cxn ang="0">
                  <a:pos x="136" y="115"/>
                </a:cxn>
                <a:cxn ang="0">
                  <a:pos x="163" y="189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41" y="189"/>
                </a:cxn>
                <a:cxn ang="0">
                  <a:pos x="61" y="115"/>
                </a:cxn>
                <a:cxn ang="0">
                  <a:pos x="68" y="122"/>
                </a:cxn>
                <a:cxn ang="0">
                  <a:pos x="0" y="74"/>
                </a:cxn>
                <a:cxn ang="0">
                  <a:pos x="81" y="115"/>
                </a:cxn>
                <a:cxn ang="0">
                  <a:pos x="61" y="176"/>
                </a:cxn>
                <a:cxn ang="0">
                  <a:pos x="47" y="169"/>
                </a:cxn>
                <a:cxn ang="0">
                  <a:pos x="102" y="128"/>
                </a:cxn>
                <a:cxn ang="0">
                  <a:pos x="149" y="169"/>
                </a:cxn>
                <a:cxn ang="0">
                  <a:pos x="142" y="176"/>
                </a:cxn>
                <a:cxn ang="0">
                  <a:pos x="122" y="115"/>
                </a:cxn>
                <a:cxn ang="0">
                  <a:pos x="169" y="74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0"/>
                </a:cxn>
                <a:cxn ang="0">
                  <a:pos x="108" y="20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81" y="115"/>
                </a:cxn>
              </a:cxnLst>
              <a:rect l="0" t="0" r="r" b="b"/>
              <a:pathLst>
                <a:path w="197" h="189">
                  <a:moveTo>
                    <a:pt x="0" y="74"/>
                  </a:moveTo>
                  <a:lnTo>
                    <a:pt x="81" y="74"/>
                  </a:lnTo>
                  <a:lnTo>
                    <a:pt x="75" y="74"/>
                  </a:lnTo>
                  <a:lnTo>
                    <a:pt x="102" y="0"/>
                  </a:lnTo>
                  <a:lnTo>
                    <a:pt x="122" y="74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36" y="122"/>
                  </a:lnTo>
                  <a:lnTo>
                    <a:pt x="136" y="115"/>
                  </a:lnTo>
                  <a:lnTo>
                    <a:pt x="163" y="189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41" y="189"/>
                  </a:lnTo>
                  <a:lnTo>
                    <a:pt x="61" y="115"/>
                  </a:lnTo>
                  <a:lnTo>
                    <a:pt x="68" y="122"/>
                  </a:lnTo>
                  <a:lnTo>
                    <a:pt x="0" y="74"/>
                  </a:lnTo>
                  <a:close/>
                  <a:moveTo>
                    <a:pt x="81" y="115"/>
                  </a:moveTo>
                  <a:lnTo>
                    <a:pt x="61" y="176"/>
                  </a:lnTo>
                  <a:lnTo>
                    <a:pt x="47" y="169"/>
                  </a:lnTo>
                  <a:lnTo>
                    <a:pt x="102" y="128"/>
                  </a:lnTo>
                  <a:lnTo>
                    <a:pt x="149" y="169"/>
                  </a:lnTo>
                  <a:lnTo>
                    <a:pt x="142" y="176"/>
                  </a:lnTo>
                  <a:lnTo>
                    <a:pt x="122" y="115"/>
                  </a:lnTo>
                  <a:lnTo>
                    <a:pt x="169" y="74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0"/>
                  </a:lnTo>
                  <a:lnTo>
                    <a:pt x="108" y="20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1" name="Freeform 21"/>
            <p:cNvSpPr>
              <a:spLocks noEditPoints="1"/>
            </p:cNvSpPr>
            <p:nvPr/>
          </p:nvSpPr>
          <p:spPr bwMode="auto">
            <a:xfrm>
              <a:off x="1796" y="677"/>
              <a:ext cx="820" cy="1095"/>
            </a:xfrm>
            <a:custGeom>
              <a:avLst/>
              <a:gdLst/>
              <a:ahLst/>
              <a:cxnLst>
                <a:cxn ang="0">
                  <a:pos x="6" y="1095"/>
                </a:cxn>
                <a:cxn ang="0">
                  <a:pos x="6" y="1095"/>
                </a:cxn>
                <a:cxn ang="0">
                  <a:pos x="0" y="1088"/>
                </a:cxn>
                <a:cxn ang="0">
                  <a:pos x="0" y="1088"/>
                </a:cxn>
                <a:cxn ang="0">
                  <a:pos x="0" y="1088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0"/>
                </a:cxn>
                <a:cxn ang="0">
                  <a:pos x="13" y="6"/>
                </a:cxn>
                <a:cxn ang="0">
                  <a:pos x="820" y="1081"/>
                </a:cxn>
                <a:cxn ang="0">
                  <a:pos x="820" y="1081"/>
                </a:cxn>
                <a:cxn ang="0">
                  <a:pos x="820" y="1088"/>
                </a:cxn>
                <a:cxn ang="0">
                  <a:pos x="813" y="1088"/>
                </a:cxn>
                <a:cxn ang="0">
                  <a:pos x="813" y="1095"/>
                </a:cxn>
                <a:cxn ang="0">
                  <a:pos x="6" y="1095"/>
                </a:cxn>
                <a:cxn ang="0">
                  <a:pos x="813" y="1081"/>
                </a:cxn>
                <a:cxn ang="0">
                  <a:pos x="807" y="1088"/>
                </a:cxn>
                <a:cxn ang="0">
                  <a:pos x="0" y="13"/>
                </a:cxn>
                <a:cxn ang="0">
                  <a:pos x="13" y="6"/>
                </a:cxn>
                <a:cxn ang="0">
                  <a:pos x="13" y="1088"/>
                </a:cxn>
                <a:cxn ang="0">
                  <a:pos x="6" y="1081"/>
                </a:cxn>
                <a:cxn ang="0">
                  <a:pos x="813" y="1081"/>
                </a:cxn>
              </a:cxnLst>
              <a:rect l="0" t="0" r="r" b="b"/>
              <a:pathLst>
                <a:path w="820" h="1095">
                  <a:moveTo>
                    <a:pt x="6" y="1095"/>
                  </a:moveTo>
                  <a:lnTo>
                    <a:pt x="6" y="1095"/>
                  </a:lnTo>
                  <a:lnTo>
                    <a:pt x="0" y="1088"/>
                  </a:lnTo>
                  <a:lnTo>
                    <a:pt x="0" y="1088"/>
                  </a:lnTo>
                  <a:lnTo>
                    <a:pt x="0" y="1088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13" y="6"/>
                  </a:lnTo>
                  <a:lnTo>
                    <a:pt x="820" y="1081"/>
                  </a:lnTo>
                  <a:lnTo>
                    <a:pt x="820" y="1081"/>
                  </a:lnTo>
                  <a:lnTo>
                    <a:pt x="820" y="1088"/>
                  </a:lnTo>
                  <a:lnTo>
                    <a:pt x="813" y="1088"/>
                  </a:lnTo>
                  <a:lnTo>
                    <a:pt x="813" y="1095"/>
                  </a:lnTo>
                  <a:lnTo>
                    <a:pt x="6" y="1095"/>
                  </a:lnTo>
                  <a:close/>
                  <a:moveTo>
                    <a:pt x="813" y="1081"/>
                  </a:moveTo>
                  <a:lnTo>
                    <a:pt x="807" y="1088"/>
                  </a:lnTo>
                  <a:lnTo>
                    <a:pt x="0" y="13"/>
                  </a:lnTo>
                  <a:lnTo>
                    <a:pt x="13" y="6"/>
                  </a:lnTo>
                  <a:lnTo>
                    <a:pt x="13" y="1088"/>
                  </a:lnTo>
                  <a:lnTo>
                    <a:pt x="6" y="1081"/>
                  </a:lnTo>
                  <a:lnTo>
                    <a:pt x="813" y="1081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2" name="Freeform 22"/>
            <p:cNvSpPr>
              <a:spLocks noEditPoints="1"/>
            </p:cNvSpPr>
            <p:nvPr/>
          </p:nvSpPr>
          <p:spPr bwMode="auto">
            <a:xfrm>
              <a:off x="3464" y="3009"/>
              <a:ext cx="1363" cy="1318"/>
            </a:xfrm>
            <a:custGeom>
              <a:avLst/>
              <a:gdLst/>
              <a:ahLst/>
              <a:cxnLst>
                <a:cxn ang="0">
                  <a:pos x="915" y="0"/>
                </a:cxn>
                <a:cxn ang="0">
                  <a:pos x="922" y="0"/>
                </a:cxn>
                <a:cxn ang="0">
                  <a:pos x="922" y="0"/>
                </a:cxn>
                <a:cxn ang="0">
                  <a:pos x="922" y="0"/>
                </a:cxn>
                <a:cxn ang="0">
                  <a:pos x="929" y="6"/>
                </a:cxn>
                <a:cxn ang="0">
                  <a:pos x="1363" y="1311"/>
                </a:cxn>
                <a:cxn ang="0">
                  <a:pos x="1363" y="1318"/>
                </a:cxn>
                <a:cxn ang="0">
                  <a:pos x="1363" y="1318"/>
                </a:cxn>
                <a:cxn ang="0">
                  <a:pos x="1356" y="1318"/>
                </a:cxn>
                <a:cxn ang="0">
                  <a:pos x="1356" y="1318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0" y="311"/>
                </a:cxn>
                <a:cxn ang="0">
                  <a:pos x="0" y="311"/>
                </a:cxn>
                <a:cxn ang="0">
                  <a:pos x="0" y="311"/>
                </a:cxn>
                <a:cxn ang="0">
                  <a:pos x="915" y="0"/>
                </a:cxn>
                <a:cxn ang="0">
                  <a:pos x="7" y="317"/>
                </a:cxn>
                <a:cxn ang="0">
                  <a:pos x="7" y="311"/>
                </a:cxn>
                <a:cxn ang="0">
                  <a:pos x="1363" y="1304"/>
                </a:cxn>
                <a:cxn ang="0">
                  <a:pos x="1349" y="1318"/>
                </a:cxn>
                <a:cxn ang="0">
                  <a:pos x="915" y="6"/>
                </a:cxn>
                <a:cxn ang="0">
                  <a:pos x="922" y="13"/>
                </a:cxn>
                <a:cxn ang="0">
                  <a:pos x="7" y="317"/>
                </a:cxn>
              </a:cxnLst>
              <a:rect l="0" t="0" r="r" b="b"/>
              <a:pathLst>
                <a:path w="1363" h="1318">
                  <a:moveTo>
                    <a:pt x="915" y="0"/>
                  </a:moveTo>
                  <a:lnTo>
                    <a:pt x="922" y="0"/>
                  </a:lnTo>
                  <a:lnTo>
                    <a:pt x="922" y="0"/>
                  </a:lnTo>
                  <a:lnTo>
                    <a:pt x="922" y="0"/>
                  </a:lnTo>
                  <a:lnTo>
                    <a:pt x="929" y="6"/>
                  </a:lnTo>
                  <a:lnTo>
                    <a:pt x="1363" y="1311"/>
                  </a:lnTo>
                  <a:lnTo>
                    <a:pt x="1363" y="1318"/>
                  </a:lnTo>
                  <a:lnTo>
                    <a:pt x="1363" y="1318"/>
                  </a:lnTo>
                  <a:lnTo>
                    <a:pt x="1356" y="1318"/>
                  </a:lnTo>
                  <a:lnTo>
                    <a:pt x="1356" y="1318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0" y="311"/>
                  </a:lnTo>
                  <a:lnTo>
                    <a:pt x="0" y="311"/>
                  </a:lnTo>
                  <a:lnTo>
                    <a:pt x="0" y="311"/>
                  </a:lnTo>
                  <a:lnTo>
                    <a:pt x="915" y="0"/>
                  </a:lnTo>
                  <a:close/>
                  <a:moveTo>
                    <a:pt x="7" y="317"/>
                  </a:moveTo>
                  <a:lnTo>
                    <a:pt x="7" y="311"/>
                  </a:lnTo>
                  <a:lnTo>
                    <a:pt x="1363" y="1304"/>
                  </a:lnTo>
                  <a:lnTo>
                    <a:pt x="1349" y="1318"/>
                  </a:lnTo>
                  <a:lnTo>
                    <a:pt x="915" y="6"/>
                  </a:lnTo>
                  <a:lnTo>
                    <a:pt x="922" y="13"/>
                  </a:lnTo>
                  <a:lnTo>
                    <a:pt x="7" y="317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3" name="Freeform 23"/>
            <p:cNvSpPr>
              <a:spLocks/>
            </p:cNvSpPr>
            <p:nvPr/>
          </p:nvSpPr>
          <p:spPr bwMode="auto">
            <a:xfrm>
              <a:off x="2074" y="1224"/>
              <a:ext cx="149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54" y="61"/>
                </a:cxn>
                <a:cxn ang="0">
                  <a:pos x="74" y="0"/>
                </a:cxn>
                <a:cxn ang="0">
                  <a:pos x="95" y="61"/>
                </a:cxn>
                <a:cxn ang="0">
                  <a:pos x="149" y="61"/>
                </a:cxn>
                <a:cxn ang="0">
                  <a:pos x="101" y="95"/>
                </a:cxn>
                <a:cxn ang="0">
                  <a:pos x="122" y="156"/>
                </a:cxn>
                <a:cxn ang="0">
                  <a:pos x="74" y="115"/>
                </a:cxn>
                <a:cxn ang="0">
                  <a:pos x="27" y="156"/>
                </a:cxn>
                <a:cxn ang="0">
                  <a:pos x="47" y="95"/>
                </a:cxn>
                <a:cxn ang="0">
                  <a:pos x="0" y="61"/>
                </a:cxn>
              </a:cxnLst>
              <a:rect l="0" t="0" r="r" b="b"/>
              <a:pathLst>
                <a:path w="149" h="156">
                  <a:moveTo>
                    <a:pt x="0" y="61"/>
                  </a:moveTo>
                  <a:lnTo>
                    <a:pt x="54" y="61"/>
                  </a:lnTo>
                  <a:lnTo>
                    <a:pt x="74" y="0"/>
                  </a:lnTo>
                  <a:lnTo>
                    <a:pt x="95" y="61"/>
                  </a:lnTo>
                  <a:lnTo>
                    <a:pt x="149" y="61"/>
                  </a:lnTo>
                  <a:lnTo>
                    <a:pt x="101" y="95"/>
                  </a:lnTo>
                  <a:lnTo>
                    <a:pt x="122" y="156"/>
                  </a:lnTo>
                  <a:lnTo>
                    <a:pt x="74" y="115"/>
                  </a:lnTo>
                  <a:lnTo>
                    <a:pt x="27" y="156"/>
                  </a:lnTo>
                  <a:lnTo>
                    <a:pt x="47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4" name="Freeform 24"/>
            <p:cNvSpPr>
              <a:spLocks noEditPoints="1"/>
            </p:cNvSpPr>
            <p:nvPr/>
          </p:nvSpPr>
          <p:spPr bwMode="auto">
            <a:xfrm>
              <a:off x="2053" y="1204"/>
              <a:ext cx="190" cy="189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75" y="74"/>
                </a:cxn>
                <a:cxn ang="0">
                  <a:pos x="68" y="74"/>
                </a:cxn>
                <a:cxn ang="0">
                  <a:pos x="95" y="0"/>
                </a:cxn>
                <a:cxn ang="0">
                  <a:pos x="122" y="74"/>
                </a:cxn>
                <a:cxn ang="0">
                  <a:pos x="116" y="74"/>
                </a:cxn>
                <a:cxn ang="0">
                  <a:pos x="190" y="74"/>
                </a:cxn>
                <a:cxn ang="0">
                  <a:pos x="129" y="121"/>
                </a:cxn>
                <a:cxn ang="0">
                  <a:pos x="129" y="115"/>
                </a:cxn>
                <a:cxn ang="0">
                  <a:pos x="156" y="189"/>
                </a:cxn>
                <a:cxn ang="0">
                  <a:pos x="88" y="142"/>
                </a:cxn>
                <a:cxn ang="0">
                  <a:pos x="95" y="142"/>
                </a:cxn>
                <a:cxn ang="0">
                  <a:pos x="34" y="189"/>
                </a:cxn>
                <a:cxn ang="0">
                  <a:pos x="61" y="115"/>
                </a:cxn>
                <a:cxn ang="0">
                  <a:pos x="61" y="121"/>
                </a:cxn>
                <a:cxn ang="0">
                  <a:pos x="0" y="74"/>
                </a:cxn>
                <a:cxn ang="0">
                  <a:pos x="75" y="115"/>
                </a:cxn>
                <a:cxn ang="0">
                  <a:pos x="55" y="176"/>
                </a:cxn>
                <a:cxn ang="0">
                  <a:pos x="41" y="169"/>
                </a:cxn>
                <a:cxn ang="0">
                  <a:pos x="95" y="128"/>
                </a:cxn>
                <a:cxn ang="0">
                  <a:pos x="149" y="169"/>
                </a:cxn>
                <a:cxn ang="0">
                  <a:pos x="136" y="176"/>
                </a:cxn>
                <a:cxn ang="0">
                  <a:pos x="116" y="115"/>
                </a:cxn>
                <a:cxn ang="0">
                  <a:pos x="170" y="74"/>
                </a:cxn>
                <a:cxn ang="0">
                  <a:pos x="170" y="88"/>
                </a:cxn>
                <a:cxn ang="0">
                  <a:pos x="109" y="88"/>
                </a:cxn>
                <a:cxn ang="0">
                  <a:pos x="88" y="20"/>
                </a:cxn>
                <a:cxn ang="0">
                  <a:pos x="102" y="20"/>
                </a:cxn>
                <a:cxn ang="0">
                  <a:pos x="82" y="88"/>
                </a:cxn>
                <a:cxn ang="0">
                  <a:pos x="21" y="88"/>
                </a:cxn>
                <a:cxn ang="0">
                  <a:pos x="21" y="74"/>
                </a:cxn>
                <a:cxn ang="0">
                  <a:pos x="75" y="115"/>
                </a:cxn>
              </a:cxnLst>
              <a:rect l="0" t="0" r="r" b="b"/>
              <a:pathLst>
                <a:path w="190" h="189">
                  <a:moveTo>
                    <a:pt x="0" y="74"/>
                  </a:moveTo>
                  <a:lnTo>
                    <a:pt x="75" y="74"/>
                  </a:lnTo>
                  <a:lnTo>
                    <a:pt x="68" y="74"/>
                  </a:lnTo>
                  <a:lnTo>
                    <a:pt x="95" y="0"/>
                  </a:lnTo>
                  <a:lnTo>
                    <a:pt x="122" y="74"/>
                  </a:lnTo>
                  <a:lnTo>
                    <a:pt x="116" y="74"/>
                  </a:lnTo>
                  <a:lnTo>
                    <a:pt x="190" y="74"/>
                  </a:lnTo>
                  <a:lnTo>
                    <a:pt x="129" y="121"/>
                  </a:lnTo>
                  <a:lnTo>
                    <a:pt x="129" y="115"/>
                  </a:lnTo>
                  <a:lnTo>
                    <a:pt x="156" y="189"/>
                  </a:lnTo>
                  <a:lnTo>
                    <a:pt x="88" y="142"/>
                  </a:lnTo>
                  <a:lnTo>
                    <a:pt x="95" y="142"/>
                  </a:lnTo>
                  <a:lnTo>
                    <a:pt x="34" y="189"/>
                  </a:lnTo>
                  <a:lnTo>
                    <a:pt x="61" y="115"/>
                  </a:lnTo>
                  <a:lnTo>
                    <a:pt x="61" y="121"/>
                  </a:lnTo>
                  <a:lnTo>
                    <a:pt x="0" y="74"/>
                  </a:lnTo>
                  <a:close/>
                  <a:moveTo>
                    <a:pt x="75" y="115"/>
                  </a:moveTo>
                  <a:lnTo>
                    <a:pt x="55" y="176"/>
                  </a:lnTo>
                  <a:lnTo>
                    <a:pt x="41" y="169"/>
                  </a:lnTo>
                  <a:lnTo>
                    <a:pt x="95" y="128"/>
                  </a:lnTo>
                  <a:lnTo>
                    <a:pt x="149" y="169"/>
                  </a:lnTo>
                  <a:lnTo>
                    <a:pt x="136" y="176"/>
                  </a:lnTo>
                  <a:lnTo>
                    <a:pt x="116" y="115"/>
                  </a:lnTo>
                  <a:lnTo>
                    <a:pt x="170" y="74"/>
                  </a:lnTo>
                  <a:lnTo>
                    <a:pt x="170" y="88"/>
                  </a:lnTo>
                  <a:lnTo>
                    <a:pt x="109" y="88"/>
                  </a:lnTo>
                  <a:lnTo>
                    <a:pt x="88" y="20"/>
                  </a:lnTo>
                  <a:lnTo>
                    <a:pt x="102" y="20"/>
                  </a:lnTo>
                  <a:lnTo>
                    <a:pt x="82" y="88"/>
                  </a:lnTo>
                  <a:lnTo>
                    <a:pt x="21" y="88"/>
                  </a:lnTo>
                  <a:lnTo>
                    <a:pt x="21" y="74"/>
                  </a:lnTo>
                  <a:lnTo>
                    <a:pt x="75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5" name="Freeform 25"/>
            <p:cNvSpPr>
              <a:spLocks/>
            </p:cNvSpPr>
            <p:nvPr/>
          </p:nvSpPr>
          <p:spPr bwMode="auto">
            <a:xfrm>
              <a:off x="3939" y="3414"/>
              <a:ext cx="156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61" y="61"/>
                </a:cxn>
                <a:cxn ang="0">
                  <a:pos x="74" y="0"/>
                </a:cxn>
                <a:cxn ang="0">
                  <a:pos x="95" y="61"/>
                </a:cxn>
                <a:cxn ang="0">
                  <a:pos x="156" y="61"/>
                </a:cxn>
                <a:cxn ang="0">
                  <a:pos x="108" y="95"/>
                </a:cxn>
                <a:cxn ang="0">
                  <a:pos x="122" y="156"/>
                </a:cxn>
                <a:cxn ang="0">
                  <a:pos x="74" y="115"/>
                </a:cxn>
                <a:cxn ang="0">
                  <a:pos x="27" y="156"/>
                </a:cxn>
                <a:cxn ang="0">
                  <a:pos x="47" y="95"/>
                </a:cxn>
                <a:cxn ang="0">
                  <a:pos x="0" y="61"/>
                </a:cxn>
              </a:cxnLst>
              <a:rect l="0" t="0" r="r" b="b"/>
              <a:pathLst>
                <a:path w="156" h="156">
                  <a:moveTo>
                    <a:pt x="0" y="61"/>
                  </a:moveTo>
                  <a:lnTo>
                    <a:pt x="61" y="61"/>
                  </a:lnTo>
                  <a:lnTo>
                    <a:pt x="74" y="0"/>
                  </a:lnTo>
                  <a:lnTo>
                    <a:pt x="95" y="61"/>
                  </a:lnTo>
                  <a:lnTo>
                    <a:pt x="156" y="61"/>
                  </a:lnTo>
                  <a:lnTo>
                    <a:pt x="108" y="95"/>
                  </a:lnTo>
                  <a:lnTo>
                    <a:pt x="122" y="156"/>
                  </a:lnTo>
                  <a:lnTo>
                    <a:pt x="74" y="115"/>
                  </a:lnTo>
                  <a:lnTo>
                    <a:pt x="27" y="156"/>
                  </a:lnTo>
                  <a:lnTo>
                    <a:pt x="47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6" name="Freeform 26"/>
            <p:cNvSpPr>
              <a:spLocks noEditPoints="1"/>
            </p:cNvSpPr>
            <p:nvPr/>
          </p:nvSpPr>
          <p:spPr bwMode="auto">
            <a:xfrm>
              <a:off x="3918" y="3394"/>
              <a:ext cx="197" cy="189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2" y="74"/>
                </a:cxn>
                <a:cxn ang="0">
                  <a:pos x="75" y="74"/>
                </a:cxn>
                <a:cxn ang="0">
                  <a:pos x="95" y="0"/>
                </a:cxn>
                <a:cxn ang="0">
                  <a:pos x="122" y="74"/>
                </a:cxn>
                <a:cxn ang="0">
                  <a:pos x="116" y="74"/>
                </a:cxn>
                <a:cxn ang="0">
                  <a:pos x="197" y="74"/>
                </a:cxn>
                <a:cxn ang="0">
                  <a:pos x="129" y="122"/>
                </a:cxn>
                <a:cxn ang="0">
                  <a:pos x="136" y="115"/>
                </a:cxn>
                <a:cxn ang="0">
                  <a:pos x="156" y="189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34" y="189"/>
                </a:cxn>
                <a:cxn ang="0">
                  <a:pos x="61" y="115"/>
                </a:cxn>
                <a:cxn ang="0">
                  <a:pos x="61" y="122"/>
                </a:cxn>
                <a:cxn ang="0">
                  <a:pos x="0" y="74"/>
                </a:cxn>
                <a:cxn ang="0">
                  <a:pos x="75" y="115"/>
                </a:cxn>
                <a:cxn ang="0">
                  <a:pos x="54" y="176"/>
                </a:cxn>
                <a:cxn ang="0">
                  <a:pos x="48" y="169"/>
                </a:cxn>
                <a:cxn ang="0">
                  <a:pos x="95" y="128"/>
                </a:cxn>
                <a:cxn ang="0">
                  <a:pos x="149" y="169"/>
                </a:cxn>
                <a:cxn ang="0">
                  <a:pos x="136" y="176"/>
                </a:cxn>
                <a:cxn ang="0">
                  <a:pos x="116" y="115"/>
                </a:cxn>
                <a:cxn ang="0">
                  <a:pos x="170" y="74"/>
                </a:cxn>
                <a:cxn ang="0">
                  <a:pos x="177" y="88"/>
                </a:cxn>
                <a:cxn ang="0">
                  <a:pos x="109" y="88"/>
                </a:cxn>
                <a:cxn ang="0">
                  <a:pos x="88" y="20"/>
                </a:cxn>
                <a:cxn ang="0">
                  <a:pos x="102" y="20"/>
                </a:cxn>
                <a:cxn ang="0">
                  <a:pos x="82" y="88"/>
                </a:cxn>
                <a:cxn ang="0">
                  <a:pos x="21" y="88"/>
                </a:cxn>
                <a:cxn ang="0">
                  <a:pos x="27" y="74"/>
                </a:cxn>
                <a:cxn ang="0">
                  <a:pos x="75" y="115"/>
                </a:cxn>
              </a:cxnLst>
              <a:rect l="0" t="0" r="r" b="b"/>
              <a:pathLst>
                <a:path w="197" h="189">
                  <a:moveTo>
                    <a:pt x="0" y="74"/>
                  </a:moveTo>
                  <a:lnTo>
                    <a:pt x="82" y="74"/>
                  </a:lnTo>
                  <a:lnTo>
                    <a:pt x="75" y="74"/>
                  </a:lnTo>
                  <a:lnTo>
                    <a:pt x="95" y="0"/>
                  </a:lnTo>
                  <a:lnTo>
                    <a:pt x="122" y="74"/>
                  </a:lnTo>
                  <a:lnTo>
                    <a:pt x="116" y="74"/>
                  </a:lnTo>
                  <a:lnTo>
                    <a:pt x="197" y="74"/>
                  </a:lnTo>
                  <a:lnTo>
                    <a:pt x="129" y="122"/>
                  </a:lnTo>
                  <a:lnTo>
                    <a:pt x="136" y="115"/>
                  </a:lnTo>
                  <a:lnTo>
                    <a:pt x="156" y="189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34" y="189"/>
                  </a:lnTo>
                  <a:lnTo>
                    <a:pt x="61" y="115"/>
                  </a:lnTo>
                  <a:lnTo>
                    <a:pt x="61" y="122"/>
                  </a:lnTo>
                  <a:lnTo>
                    <a:pt x="0" y="74"/>
                  </a:lnTo>
                  <a:close/>
                  <a:moveTo>
                    <a:pt x="75" y="115"/>
                  </a:moveTo>
                  <a:lnTo>
                    <a:pt x="54" y="176"/>
                  </a:lnTo>
                  <a:lnTo>
                    <a:pt x="48" y="169"/>
                  </a:lnTo>
                  <a:lnTo>
                    <a:pt x="95" y="128"/>
                  </a:lnTo>
                  <a:lnTo>
                    <a:pt x="149" y="169"/>
                  </a:lnTo>
                  <a:lnTo>
                    <a:pt x="136" y="176"/>
                  </a:lnTo>
                  <a:lnTo>
                    <a:pt x="116" y="115"/>
                  </a:lnTo>
                  <a:lnTo>
                    <a:pt x="170" y="74"/>
                  </a:lnTo>
                  <a:lnTo>
                    <a:pt x="177" y="88"/>
                  </a:lnTo>
                  <a:lnTo>
                    <a:pt x="109" y="88"/>
                  </a:lnTo>
                  <a:lnTo>
                    <a:pt x="88" y="20"/>
                  </a:lnTo>
                  <a:lnTo>
                    <a:pt x="102" y="20"/>
                  </a:lnTo>
                  <a:lnTo>
                    <a:pt x="82" y="88"/>
                  </a:lnTo>
                  <a:lnTo>
                    <a:pt x="21" y="88"/>
                  </a:lnTo>
                  <a:lnTo>
                    <a:pt x="27" y="74"/>
                  </a:lnTo>
                  <a:lnTo>
                    <a:pt x="75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67" name="Rectangle 27"/>
            <p:cNvSpPr>
              <a:spLocks noChangeArrowheads="1"/>
            </p:cNvSpPr>
            <p:nvPr/>
          </p:nvSpPr>
          <p:spPr bwMode="auto">
            <a:xfrm>
              <a:off x="3030" y="2130"/>
              <a:ext cx="141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N Stojilkocic_LCH Verrière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68" name="Rectangle 28"/>
            <p:cNvSpPr>
              <a:spLocks noChangeArrowheads="1"/>
            </p:cNvSpPr>
            <p:nvPr/>
          </p:nvSpPr>
          <p:spPr bwMode="auto">
            <a:xfrm>
              <a:off x="3030" y="2278"/>
              <a:ext cx="1065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C Junot_CEA Saclay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69" name="Rectangle 29"/>
            <p:cNvSpPr>
              <a:spLocks noChangeArrowheads="1"/>
            </p:cNvSpPr>
            <p:nvPr/>
          </p:nvSpPr>
          <p:spPr bwMode="auto">
            <a:xfrm>
              <a:off x="3030" y="2427"/>
              <a:ext cx="90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M </a:t>
              </a:r>
              <a:r>
                <a:rPr kumimoji="0" lang="fr-FR" sz="1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Triba_UParisXIII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70" name="Freeform 30"/>
            <p:cNvSpPr>
              <a:spLocks/>
            </p:cNvSpPr>
            <p:nvPr/>
          </p:nvSpPr>
          <p:spPr bwMode="auto">
            <a:xfrm>
              <a:off x="3288" y="3385"/>
              <a:ext cx="156" cy="149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61" y="54"/>
                </a:cxn>
                <a:cxn ang="0">
                  <a:pos x="74" y="0"/>
                </a:cxn>
                <a:cxn ang="0">
                  <a:pos x="95" y="54"/>
                </a:cxn>
                <a:cxn ang="0">
                  <a:pos x="156" y="54"/>
                </a:cxn>
                <a:cxn ang="0">
                  <a:pos x="108" y="94"/>
                </a:cxn>
                <a:cxn ang="0">
                  <a:pos x="122" y="149"/>
                </a:cxn>
                <a:cxn ang="0">
                  <a:pos x="74" y="115"/>
                </a:cxn>
                <a:cxn ang="0">
                  <a:pos x="27" y="149"/>
                </a:cxn>
                <a:cxn ang="0">
                  <a:pos x="47" y="94"/>
                </a:cxn>
                <a:cxn ang="0">
                  <a:pos x="0" y="54"/>
                </a:cxn>
              </a:cxnLst>
              <a:rect l="0" t="0" r="r" b="b"/>
              <a:pathLst>
                <a:path w="156" h="149">
                  <a:moveTo>
                    <a:pt x="0" y="54"/>
                  </a:moveTo>
                  <a:lnTo>
                    <a:pt x="61" y="54"/>
                  </a:lnTo>
                  <a:lnTo>
                    <a:pt x="74" y="0"/>
                  </a:lnTo>
                  <a:lnTo>
                    <a:pt x="95" y="54"/>
                  </a:lnTo>
                  <a:lnTo>
                    <a:pt x="156" y="54"/>
                  </a:lnTo>
                  <a:lnTo>
                    <a:pt x="108" y="94"/>
                  </a:lnTo>
                  <a:lnTo>
                    <a:pt x="122" y="149"/>
                  </a:lnTo>
                  <a:lnTo>
                    <a:pt x="74" y="115"/>
                  </a:lnTo>
                  <a:lnTo>
                    <a:pt x="27" y="149"/>
                  </a:lnTo>
                  <a:lnTo>
                    <a:pt x="47" y="9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1" name="Freeform 31"/>
            <p:cNvSpPr>
              <a:spLocks noEditPoints="1"/>
            </p:cNvSpPr>
            <p:nvPr/>
          </p:nvSpPr>
          <p:spPr bwMode="auto">
            <a:xfrm>
              <a:off x="3274" y="3354"/>
              <a:ext cx="196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4" y="81"/>
                </a:cxn>
                <a:cxn ang="0">
                  <a:pos x="94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6" y="74"/>
                </a:cxn>
                <a:cxn ang="0">
                  <a:pos x="128" y="121"/>
                </a:cxn>
                <a:cxn ang="0">
                  <a:pos x="135" y="115"/>
                </a:cxn>
                <a:cxn ang="0">
                  <a:pos x="155" y="196"/>
                </a:cxn>
                <a:cxn ang="0">
                  <a:pos x="94" y="149"/>
                </a:cxn>
                <a:cxn ang="0">
                  <a:pos x="101" y="149"/>
                </a:cxn>
                <a:cxn ang="0">
                  <a:pos x="33" y="196"/>
                </a:cxn>
                <a:cxn ang="0">
                  <a:pos x="61" y="115"/>
                </a:cxn>
                <a:cxn ang="0">
                  <a:pos x="61" y="121"/>
                </a:cxn>
                <a:cxn ang="0">
                  <a:pos x="0" y="74"/>
                </a:cxn>
                <a:cxn ang="0">
                  <a:pos x="74" y="115"/>
                </a:cxn>
                <a:cxn ang="0">
                  <a:pos x="54" y="182"/>
                </a:cxn>
                <a:cxn ang="0">
                  <a:pos x="47" y="176"/>
                </a:cxn>
                <a:cxn ang="0">
                  <a:pos x="94" y="135"/>
                </a:cxn>
                <a:cxn ang="0">
                  <a:pos x="149" y="176"/>
                </a:cxn>
                <a:cxn ang="0">
                  <a:pos x="135" y="182"/>
                </a:cxn>
                <a:cxn ang="0">
                  <a:pos x="115" y="115"/>
                </a:cxn>
                <a:cxn ang="0">
                  <a:pos x="169" y="81"/>
                </a:cxn>
                <a:cxn ang="0">
                  <a:pos x="176" y="88"/>
                </a:cxn>
                <a:cxn ang="0">
                  <a:pos x="108" y="88"/>
                </a:cxn>
                <a:cxn ang="0">
                  <a:pos x="88" y="27"/>
                </a:cxn>
                <a:cxn ang="0">
                  <a:pos x="101" y="27"/>
                </a:cxn>
                <a:cxn ang="0">
                  <a:pos x="81" y="88"/>
                </a:cxn>
                <a:cxn ang="0">
                  <a:pos x="20" y="88"/>
                </a:cxn>
                <a:cxn ang="0">
                  <a:pos x="27" y="81"/>
                </a:cxn>
                <a:cxn ang="0">
                  <a:pos x="74" y="115"/>
                </a:cxn>
              </a:cxnLst>
              <a:rect l="0" t="0" r="r" b="b"/>
              <a:pathLst>
                <a:path w="196" h="196">
                  <a:moveTo>
                    <a:pt x="0" y="74"/>
                  </a:moveTo>
                  <a:lnTo>
                    <a:pt x="81" y="74"/>
                  </a:lnTo>
                  <a:lnTo>
                    <a:pt x="74" y="81"/>
                  </a:lnTo>
                  <a:lnTo>
                    <a:pt x="94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6" y="74"/>
                  </a:lnTo>
                  <a:lnTo>
                    <a:pt x="128" y="121"/>
                  </a:lnTo>
                  <a:lnTo>
                    <a:pt x="135" y="115"/>
                  </a:lnTo>
                  <a:lnTo>
                    <a:pt x="155" y="196"/>
                  </a:lnTo>
                  <a:lnTo>
                    <a:pt x="94" y="149"/>
                  </a:lnTo>
                  <a:lnTo>
                    <a:pt x="101" y="149"/>
                  </a:lnTo>
                  <a:lnTo>
                    <a:pt x="33" y="196"/>
                  </a:lnTo>
                  <a:lnTo>
                    <a:pt x="61" y="115"/>
                  </a:lnTo>
                  <a:lnTo>
                    <a:pt x="61" y="121"/>
                  </a:lnTo>
                  <a:lnTo>
                    <a:pt x="0" y="74"/>
                  </a:lnTo>
                  <a:close/>
                  <a:moveTo>
                    <a:pt x="74" y="115"/>
                  </a:moveTo>
                  <a:lnTo>
                    <a:pt x="54" y="182"/>
                  </a:lnTo>
                  <a:lnTo>
                    <a:pt x="47" y="176"/>
                  </a:lnTo>
                  <a:lnTo>
                    <a:pt x="94" y="135"/>
                  </a:lnTo>
                  <a:lnTo>
                    <a:pt x="149" y="176"/>
                  </a:lnTo>
                  <a:lnTo>
                    <a:pt x="135" y="182"/>
                  </a:lnTo>
                  <a:lnTo>
                    <a:pt x="115" y="115"/>
                  </a:lnTo>
                  <a:lnTo>
                    <a:pt x="169" y="81"/>
                  </a:lnTo>
                  <a:lnTo>
                    <a:pt x="176" y="88"/>
                  </a:lnTo>
                  <a:lnTo>
                    <a:pt x="108" y="88"/>
                  </a:lnTo>
                  <a:lnTo>
                    <a:pt x="88" y="27"/>
                  </a:lnTo>
                  <a:lnTo>
                    <a:pt x="101" y="27"/>
                  </a:lnTo>
                  <a:lnTo>
                    <a:pt x="81" y="88"/>
                  </a:lnTo>
                  <a:lnTo>
                    <a:pt x="20" y="88"/>
                  </a:lnTo>
                  <a:lnTo>
                    <a:pt x="27" y="81"/>
                  </a:lnTo>
                  <a:lnTo>
                    <a:pt x="74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2" name="Freeform 32"/>
            <p:cNvSpPr>
              <a:spLocks/>
            </p:cNvSpPr>
            <p:nvPr/>
          </p:nvSpPr>
          <p:spPr bwMode="auto">
            <a:xfrm>
              <a:off x="2786" y="2265"/>
              <a:ext cx="156" cy="149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61" y="54"/>
                </a:cxn>
                <a:cxn ang="0">
                  <a:pos x="74" y="0"/>
                </a:cxn>
                <a:cxn ang="0">
                  <a:pos x="95" y="54"/>
                </a:cxn>
                <a:cxn ang="0">
                  <a:pos x="156" y="54"/>
                </a:cxn>
                <a:cxn ang="0">
                  <a:pos x="108" y="95"/>
                </a:cxn>
                <a:cxn ang="0">
                  <a:pos x="122" y="149"/>
                </a:cxn>
                <a:cxn ang="0">
                  <a:pos x="74" y="115"/>
                </a:cxn>
                <a:cxn ang="0">
                  <a:pos x="27" y="149"/>
                </a:cxn>
                <a:cxn ang="0">
                  <a:pos x="47" y="95"/>
                </a:cxn>
                <a:cxn ang="0">
                  <a:pos x="0" y="54"/>
                </a:cxn>
              </a:cxnLst>
              <a:rect l="0" t="0" r="r" b="b"/>
              <a:pathLst>
                <a:path w="156" h="149">
                  <a:moveTo>
                    <a:pt x="0" y="54"/>
                  </a:moveTo>
                  <a:lnTo>
                    <a:pt x="61" y="54"/>
                  </a:lnTo>
                  <a:lnTo>
                    <a:pt x="74" y="0"/>
                  </a:lnTo>
                  <a:lnTo>
                    <a:pt x="95" y="54"/>
                  </a:lnTo>
                  <a:lnTo>
                    <a:pt x="156" y="54"/>
                  </a:lnTo>
                  <a:lnTo>
                    <a:pt x="108" y="95"/>
                  </a:lnTo>
                  <a:lnTo>
                    <a:pt x="122" y="149"/>
                  </a:lnTo>
                  <a:lnTo>
                    <a:pt x="74" y="115"/>
                  </a:lnTo>
                  <a:lnTo>
                    <a:pt x="27" y="149"/>
                  </a:lnTo>
                  <a:lnTo>
                    <a:pt x="47" y="95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3" name="Freeform 33"/>
            <p:cNvSpPr>
              <a:spLocks noEditPoints="1"/>
            </p:cNvSpPr>
            <p:nvPr/>
          </p:nvSpPr>
          <p:spPr bwMode="auto">
            <a:xfrm>
              <a:off x="2765" y="2238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2" y="74"/>
                </a:cxn>
                <a:cxn ang="0">
                  <a:pos x="75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6" y="74"/>
                </a:cxn>
                <a:cxn ang="0">
                  <a:pos x="197" y="74"/>
                </a:cxn>
                <a:cxn ang="0">
                  <a:pos x="129" y="122"/>
                </a:cxn>
                <a:cxn ang="0">
                  <a:pos x="136" y="115"/>
                </a:cxn>
                <a:cxn ang="0">
                  <a:pos x="156" y="196"/>
                </a:cxn>
                <a:cxn ang="0">
                  <a:pos x="95" y="149"/>
                </a:cxn>
                <a:cxn ang="0">
                  <a:pos x="102" y="149"/>
                </a:cxn>
                <a:cxn ang="0">
                  <a:pos x="34" y="196"/>
                </a:cxn>
                <a:cxn ang="0">
                  <a:pos x="61" y="115"/>
                </a:cxn>
                <a:cxn ang="0">
                  <a:pos x="61" y="122"/>
                </a:cxn>
                <a:cxn ang="0">
                  <a:pos x="0" y="74"/>
                </a:cxn>
                <a:cxn ang="0">
                  <a:pos x="75" y="115"/>
                </a:cxn>
                <a:cxn ang="0">
                  <a:pos x="55" y="176"/>
                </a:cxn>
                <a:cxn ang="0">
                  <a:pos x="48" y="169"/>
                </a:cxn>
                <a:cxn ang="0">
                  <a:pos x="95" y="135"/>
                </a:cxn>
                <a:cxn ang="0">
                  <a:pos x="150" y="169"/>
                </a:cxn>
                <a:cxn ang="0">
                  <a:pos x="136" y="176"/>
                </a:cxn>
                <a:cxn ang="0">
                  <a:pos x="122" y="115"/>
                </a:cxn>
                <a:cxn ang="0">
                  <a:pos x="170" y="74"/>
                </a:cxn>
                <a:cxn ang="0">
                  <a:pos x="177" y="88"/>
                </a:cxn>
                <a:cxn ang="0">
                  <a:pos x="109" y="88"/>
                </a:cxn>
                <a:cxn ang="0">
                  <a:pos x="89" y="27"/>
                </a:cxn>
                <a:cxn ang="0">
                  <a:pos x="102" y="27"/>
                </a:cxn>
                <a:cxn ang="0">
                  <a:pos x="82" y="88"/>
                </a:cxn>
                <a:cxn ang="0">
                  <a:pos x="21" y="88"/>
                </a:cxn>
                <a:cxn ang="0">
                  <a:pos x="27" y="74"/>
                </a:cxn>
                <a:cxn ang="0">
                  <a:pos x="75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2" y="74"/>
                  </a:lnTo>
                  <a:lnTo>
                    <a:pt x="75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6" y="74"/>
                  </a:lnTo>
                  <a:lnTo>
                    <a:pt x="197" y="74"/>
                  </a:lnTo>
                  <a:lnTo>
                    <a:pt x="129" y="122"/>
                  </a:lnTo>
                  <a:lnTo>
                    <a:pt x="136" y="115"/>
                  </a:lnTo>
                  <a:lnTo>
                    <a:pt x="156" y="196"/>
                  </a:lnTo>
                  <a:lnTo>
                    <a:pt x="95" y="149"/>
                  </a:lnTo>
                  <a:lnTo>
                    <a:pt x="102" y="149"/>
                  </a:lnTo>
                  <a:lnTo>
                    <a:pt x="34" y="196"/>
                  </a:lnTo>
                  <a:lnTo>
                    <a:pt x="61" y="115"/>
                  </a:lnTo>
                  <a:lnTo>
                    <a:pt x="61" y="122"/>
                  </a:lnTo>
                  <a:lnTo>
                    <a:pt x="0" y="74"/>
                  </a:lnTo>
                  <a:close/>
                  <a:moveTo>
                    <a:pt x="75" y="115"/>
                  </a:moveTo>
                  <a:lnTo>
                    <a:pt x="55" y="176"/>
                  </a:lnTo>
                  <a:lnTo>
                    <a:pt x="48" y="169"/>
                  </a:lnTo>
                  <a:lnTo>
                    <a:pt x="95" y="135"/>
                  </a:lnTo>
                  <a:lnTo>
                    <a:pt x="150" y="169"/>
                  </a:lnTo>
                  <a:lnTo>
                    <a:pt x="136" y="176"/>
                  </a:lnTo>
                  <a:lnTo>
                    <a:pt x="122" y="115"/>
                  </a:lnTo>
                  <a:lnTo>
                    <a:pt x="170" y="74"/>
                  </a:lnTo>
                  <a:lnTo>
                    <a:pt x="177" y="88"/>
                  </a:lnTo>
                  <a:lnTo>
                    <a:pt x="109" y="88"/>
                  </a:lnTo>
                  <a:lnTo>
                    <a:pt x="89" y="27"/>
                  </a:lnTo>
                  <a:lnTo>
                    <a:pt x="102" y="27"/>
                  </a:lnTo>
                  <a:lnTo>
                    <a:pt x="82" y="88"/>
                  </a:lnTo>
                  <a:lnTo>
                    <a:pt x="21" y="88"/>
                  </a:lnTo>
                  <a:lnTo>
                    <a:pt x="27" y="74"/>
                  </a:lnTo>
                  <a:lnTo>
                    <a:pt x="75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4" name="Freeform 34"/>
            <p:cNvSpPr>
              <a:spLocks/>
            </p:cNvSpPr>
            <p:nvPr/>
          </p:nvSpPr>
          <p:spPr bwMode="auto">
            <a:xfrm>
              <a:off x="2108" y="1265"/>
              <a:ext cx="156" cy="148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61" y="54"/>
                </a:cxn>
                <a:cxn ang="0">
                  <a:pos x="74" y="0"/>
                </a:cxn>
                <a:cxn ang="0">
                  <a:pos x="94" y="54"/>
                </a:cxn>
                <a:cxn ang="0">
                  <a:pos x="156" y="54"/>
                </a:cxn>
                <a:cxn ang="0">
                  <a:pos x="108" y="94"/>
                </a:cxn>
                <a:cxn ang="0">
                  <a:pos x="128" y="148"/>
                </a:cxn>
                <a:cxn ang="0">
                  <a:pos x="74" y="115"/>
                </a:cxn>
                <a:cxn ang="0">
                  <a:pos x="27" y="148"/>
                </a:cxn>
                <a:cxn ang="0">
                  <a:pos x="47" y="94"/>
                </a:cxn>
                <a:cxn ang="0">
                  <a:pos x="0" y="54"/>
                </a:cxn>
              </a:cxnLst>
              <a:rect l="0" t="0" r="r" b="b"/>
              <a:pathLst>
                <a:path w="156" h="148">
                  <a:moveTo>
                    <a:pt x="0" y="54"/>
                  </a:moveTo>
                  <a:lnTo>
                    <a:pt x="61" y="54"/>
                  </a:lnTo>
                  <a:lnTo>
                    <a:pt x="74" y="0"/>
                  </a:lnTo>
                  <a:lnTo>
                    <a:pt x="94" y="54"/>
                  </a:lnTo>
                  <a:lnTo>
                    <a:pt x="156" y="54"/>
                  </a:lnTo>
                  <a:lnTo>
                    <a:pt x="108" y="94"/>
                  </a:lnTo>
                  <a:lnTo>
                    <a:pt x="128" y="148"/>
                  </a:lnTo>
                  <a:lnTo>
                    <a:pt x="74" y="115"/>
                  </a:lnTo>
                  <a:lnTo>
                    <a:pt x="27" y="148"/>
                  </a:lnTo>
                  <a:lnTo>
                    <a:pt x="47" y="9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5" name="Freeform 35"/>
            <p:cNvSpPr>
              <a:spLocks noEditPoints="1"/>
            </p:cNvSpPr>
            <p:nvPr/>
          </p:nvSpPr>
          <p:spPr bwMode="auto">
            <a:xfrm>
              <a:off x="2087" y="1238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2" y="74"/>
                </a:cxn>
                <a:cxn ang="0">
                  <a:pos x="75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29" y="128"/>
                </a:cxn>
                <a:cxn ang="0">
                  <a:pos x="136" y="114"/>
                </a:cxn>
                <a:cxn ang="0">
                  <a:pos x="156" y="196"/>
                </a:cxn>
                <a:cxn ang="0">
                  <a:pos x="95" y="148"/>
                </a:cxn>
                <a:cxn ang="0">
                  <a:pos x="102" y="148"/>
                </a:cxn>
                <a:cxn ang="0">
                  <a:pos x="41" y="196"/>
                </a:cxn>
                <a:cxn ang="0">
                  <a:pos x="61" y="114"/>
                </a:cxn>
                <a:cxn ang="0">
                  <a:pos x="68" y="128"/>
                </a:cxn>
                <a:cxn ang="0">
                  <a:pos x="0" y="74"/>
                </a:cxn>
                <a:cxn ang="0">
                  <a:pos x="75" y="114"/>
                </a:cxn>
                <a:cxn ang="0">
                  <a:pos x="54" y="182"/>
                </a:cxn>
                <a:cxn ang="0">
                  <a:pos x="48" y="175"/>
                </a:cxn>
                <a:cxn ang="0">
                  <a:pos x="95" y="135"/>
                </a:cxn>
                <a:cxn ang="0">
                  <a:pos x="149" y="175"/>
                </a:cxn>
                <a:cxn ang="0">
                  <a:pos x="143" y="182"/>
                </a:cxn>
                <a:cxn ang="0">
                  <a:pos x="122" y="114"/>
                </a:cxn>
                <a:cxn ang="0">
                  <a:pos x="170" y="81"/>
                </a:cxn>
                <a:cxn ang="0">
                  <a:pos x="177" y="87"/>
                </a:cxn>
                <a:cxn ang="0">
                  <a:pos x="109" y="87"/>
                </a:cxn>
                <a:cxn ang="0">
                  <a:pos x="95" y="27"/>
                </a:cxn>
                <a:cxn ang="0">
                  <a:pos x="102" y="27"/>
                </a:cxn>
                <a:cxn ang="0">
                  <a:pos x="88" y="87"/>
                </a:cxn>
                <a:cxn ang="0">
                  <a:pos x="21" y="87"/>
                </a:cxn>
                <a:cxn ang="0">
                  <a:pos x="27" y="81"/>
                </a:cxn>
                <a:cxn ang="0">
                  <a:pos x="75" y="114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2" y="74"/>
                  </a:lnTo>
                  <a:lnTo>
                    <a:pt x="75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29" y="128"/>
                  </a:lnTo>
                  <a:lnTo>
                    <a:pt x="136" y="114"/>
                  </a:lnTo>
                  <a:lnTo>
                    <a:pt x="156" y="196"/>
                  </a:lnTo>
                  <a:lnTo>
                    <a:pt x="95" y="148"/>
                  </a:lnTo>
                  <a:lnTo>
                    <a:pt x="102" y="148"/>
                  </a:lnTo>
                  <a:lnTo>
                    <a:pt x="41" y="196"/>
                  </a:lnTo>
                  <a:lnTo>
                    <a:pt x="61" y="114"/>
                  </a:lnTo>
                  <a:lnTo>
                    <a:pt x="68" y="128"/>
                  </a:lnTo>
                  <a:lnTo>
                    <a:pt x="0" y="74"/>
                  </a:lnTo>
                  <a:close/>
                  <a:moveTo>
                    <a:pt x="75" y="114"/>
                  </a:moveTo>
                  <a:lnTo>
                    <a:pt x="54" y="182"/>
                  </a:lnTo>
                  <a:lnTo>
                    <a:pt x="48" y="175"/>
                  </a:lnTo>
                  <a:lnTo>
                    <a:pt x="95" y="135"/>
                  </a:lnTo>
                  <a:lnTo>
                    <a:pt x="149" y="175"/>
                  </a:lnTo>
                  <a:lnTo>
                    <a:pt x="143" y="182"/>
                  </a:lnTo>
                  <a:lnTo>
                    <a:pt x="122" y="114"/>
                  </a:lnTo>
                  <a:lnTo>
                    <a:pt x="170" y="81"/>
                  </a:lnTo>
                  <a:lnTo>
                    <a:pt x="177" y="87"/>
                  </a:lnTo>
                  <a:lnTo>
                    <a:pt x="109" y="87"/>
                  </a:lnTo>
                  <a:lnTo>
                    <a:pt x="95" y="27"/>
                  </a:lnTo>
                  <a:lnTo>
                    <a:pt x="102" y="27"/>
                  </a:lnTo>
                  <a:lnTo>
                    <a:pt x="88" y="87"/>
                  </a:lnTo>
                  <a:lnTo>
                    <a:pt x="21" y="87"/>
                  </a:lnTo>
                  <a:lnTo>
                    <a:pt x="27" y="81"/>
                  </a:lnTo>
                  <a:lnTo>
                    <a:pt x="75" y="114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6" name="Freeform 36"/>
            <p:cNvSpPr>
              <a:spLocks/>
            </p:cNvSpPr>
            <p:nvPr/>
          </p:nvSpPr>
          <p:spPr bwMode="auto">
            <a:xfrm>
              <a:off x="439" y="1035"/>
              <a:ext cx="156" cy="148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61" y="54"/>
                </a:cxn>
                <a:cxn ang="0">
                  <a:pos x="82" y="0"/>
                </a:cxn>
                <a:cxn ang="0">
                  <a:pos x="95" y="54"/>
                </a:cxn>
                <a:cxn ang="0">
                  <a:pos x="156" y="54"/>
                </a:cxn>
                <a:cxn ang="0">
                  <a:pos x="109" y="94"/>
                </a:cxn>
                <a:cxn ang="0">
                  <a:pos x="129" y="148"/>
                </a:cxn>
                <a:cxn ang="0">
                  <a:pos x="82" y="115"/>
                </a:cxn>
                <a:cxn ang="0">
                  <a:pos x="34" y="148"/>
                </a:cxn>
                <a:cxn ang="0">
                  <a:pos x="48" y="94"/>
                </a:cxn>
                <a:cxn ang="0">
                  <a:pos x="0" y="54"/>
                </a:cxn>
              </a:cxnLst>
              <a:rect l="0" t="0" r="r" b="b"/>
              <a:pathLst>
                <a:path w="156" h="148">
                  <a:moveTo>
                    <a:pt x="0" y="54"/>
                  </a:moveTo>
                  <a:lnTo>
                    <a:pt x="61" y="54"/>
                  </a:lnTo>
                  <a:lnTo>
                    <a:pt x="82" y="0"/>
                  </a:lnTo>
                  <a:lnTo>
                    <a:pt x="95" y="54"/>
                  </a:lnTo>
                  <a:lnTo>
                    <a:pt x="156" y="54"/>
                  </a:lnTo>
                  <a:lnTo>
                    <a:pt x="109" y="94"/>
                  </a:lnTo>
                  <a:lnTo>
                    <a:pt x="129" y="148"/>
                  </a:lnTo>
                  <a:lnTo>
                    <a:pt x="82" y="115"/>
                  </a:lnTo>
                  <a:lnTo>
                    <a:pt x="34" y="148"/>
                  </a:lnTo>
                  <a:lnTo>
                    <a:pt x="48" y="9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7" name="Freeform 37"/>
            <p:cNvSpPr>
              <a:spLocks noEditPoints="1"/>
            </p:cNvSpPr>
            <p:nvPr/>
          </p:nvSpPr>
          <p:spPr bwMode="auto">
            <a:xfrm>
              <a:off x="419" y="1008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81"/>
                </a:cxn>
                <a:cxn ang="0">
                  <a:pos x="102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36" y="128"/>
                </a:cxn>
                <a:cxn ang="0">
                  <a:pos x="136" y="115"/>
                </a:cxn>
                <a:cxn ang="0">
                  <a:pos x="163" y="196"/>
                </a:cxn>
                <a:cxn ang="0">
                  <a:pos x="95" y="148"/>
                </a:cxn>
                <a:cxn ang="0">
                  <a:pos x="102" y="148"/>
                </a:cxn>
                <a:cxn ang="0">
                  <a:pos x="41" y="196"/>
                </a:cxn>
                <a:cxn ang="0">
                  <a:pos x="61" y="115"/>
                </a:cxn>
                <a:cxn ang="0">
                  <a:pos x="68" y="128"/>
                </a:cxn>
                <a:cxn ang="0">
                  <a:pos x="0" y="74"/>
                </a:cxn>
                <a:cxn ang="0">
                  <a:pos x="81" y="115"/>
                </a:cxn>
                <a:cxn ang="0">
                  <a:pos x="61" y="182"/>
                </a:cxn>
                <a:cxn ang="0">
                  <a:pos x="47" y="175"/>
                </a:cxn>
                <a:cxn ang="0">
                  <a:pos x="102" y="135"/>
                </a:cxn>
                <a:cxn ang="0">
                  <a:pos x="149" y="175"/>
                </a:cxn>
                <a:cxn ang="0">
                  <a:pos x="142" y="182"/>
                </a:cxn>
                <a:cxn ang="0">
                  <a:pos x="122" y="115"/>
                </a:cxn>
                <a:cxn ang="0">
                  <a:pos x="176" y="81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7"/>
                </a:cxn>
                <a:cxn ang="0">
                  <a:pos x="108" y="27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81"/>
                </a:cxn>
                <a:cxn ang="0">
                  <a:pos x="81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1" y="74"/>
                  </a:lnTo>
                  <a:lnTo>
                    <a:pt x="75" y="81"/>
                  </a:lnTo>
                  <a:lnTo>
                    <a:pt x="102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36" y="128"/>
                  </a:lnTo>
                  <a:lnTo>
                    <a:pt x="136" y="115"/>
                  </a:lnTo>
                  <a:lnTo>
                    <a:pt x="163" y="196"/>
                  </a:lnTo>
                  <a:lnTo>
                    <a:pt x="95" y="148"/>
                  </a:lnTo>
                  <a:lnTo>
                    <a:pt x="102" y="148"/>
                  </a:lnTo>
                  <a:lnTo>
                    <a:pt x="41" y="196"/>
                  </a:lnTo>
                  <a:lnTo>
                    <a:pt x="61" y="115"/>
                  </a:lnTo>
                  <a:lnTo>
                    <a:pt x="68" y="128"/>
                  </a:lnTo>
                  <a:lnTo>
                    <a:pt x="0" y="74"/>
                  </a:lnTo>
                  <a:close/>
                  <a:moveTo>
                    <a:pt x="81" y="115"/>
                  </a:moveTo>
                  <a:lnTo>
                    <a:pt x="61" y="182"/>
                  </a:lnTo>
                  <a:lnTo>
                    <a:pt x="47" y="175"/>
                  </a:lnTo>
                  <a:lnTo>
                    <a:pt x="102" y="135"/>
                  </a:lnTo>
                  <a:lnTo>
                    <a:pt x="149" y="175"/>
                  </a:lnTo>
                  <a:lnTo>
                    <a:pt x="142" y="182"/>
                  </a:lnTo>
                  <a:lnTo>
                    <a:pt x="122" y="115"/>
                  </a:lnTo>
                  <a:lnTo>
                    <a:pt x="176" y="81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7"/>
                  </a:lnTo>
                  <a:lnTo>
                    <a:pt x="108" y="27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81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8" name="Freeform 38"/>
            <p:cNvSpPr>
              <a:spLocks/>
            </p:cNvSpPr>
            <p:nvPr/>
          </p:nvSpPr>
          <p:spPr bwMode="auto">
            <a:xfrm>
              <a:off x="439" y="1224"/>
              <a:ext cx="156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61" y="61"/>
                </a:cxn>
                <a:cxn ang="0">
                  <a:pos x="82" y="0"/>
                </a:cxn>
                <a:cxn ang="0">
                  <a:pos x="95" y="61"/>
                </a:cxn>
                <a:cxn ang="0">
                  <a:pos x="156" y="61"/>
                </a:cxn>
                <a:cxn ang="0">
                  <a:pos x="109" y="95"/>
                </a:cxn>
                <a:cxn ang="0">
                  <a:pos x="129" y="156"/>
                </a:cxn>
                <a:cxn ang="0">
                  <a:pos x="82" y="115"/>
                </a:cxn>
                <a:cxn ang="0">
                  <a:pos x="34" y="156"/>
                </a:cxn>
                <a:cxn ang="0">
                  <a:pos x="48" y="95"/>
                </a:cxn>
                <a:cxn ang="0">
                  <a:pos x="0" y="61"/>
                </a:cxn>
              </a:cxnLst>
              <a:rect l="0" t="0" r="r" b="b"/>
              <a:pathLst>
                <a:path w="156" h="156">
                  <a:moveTo>
                    <a:pt x="0" y="61"/>
                  </a:moveTo>
                  <a:lnTo>
                    <a:pt x="61" y="61"/>
                  </a:lnTo>
                  <a:lnTo>
                    <a:pt x="82" y="0"/>
                  </a:lnTo>
                  <a:lnTo>
                    <a:pt x="95" y="61"/>
                  </a:lnTo>
                  <a:lnTo>
                    <a:pt x="156" y="61"/>
                  </a:lnTo>
                  <a:lnTo>
                    <a:pt x="109" y="95"/>
                  </a:lnTo>
                  <a:lnTo>
                    <a:pt x="129" y="156"/>
                  </a:lnTo>
                  <a:lnTo>
                    <a:pt x="82" y="115"/>
                  </a:lnTo>
                  <a:lnTo>
                    <a:pt x="34" y="156"/>
                  </a:lnTo>
                  <a:lnTo>
                    <a:pt x="48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79" name="Freeform 39"/>
            <p:cNvSpPr>
              <a:spLocks noEditPoints="1"/>
            </p:cNvSpPr>
            <p:nvPr/>
          </p:nvSpPr>
          <p:spPr bwMode="auto">
            <a:xfrm>
              <a:off x="419" y="1204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74"/>
                </a:cxn>
                <a:cxn ang="0">
                  <a:pos x="102" y="0"/>
                </a:cxn>
                <a:cxn ang="0">
                  <a:pos x="122" y="74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36" y="121"/>
                </a:cxn>
                <a:cxn ang="0">
                  <a:pos x="136" y="115"/>
                </a:cxn>
                <a:cxn ang="0">
                  <a:pos x="163" y="196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41" y="196"/>
                </a:cxn>
                <a:cxn ang="0">
                  <a:pos x="61" y="115"/>
                </a:cxn>
                <a:cxn ang="0">
                  <a:pos x="68" y="121"/>
                </a:cxn>
                <a:cxn ang="0">
                  <a:pos x="0" y="74"/>
                </a:cxn>
                <a:cxn ang="0">
                  <a:pos x="81" y="115"/>
                </a:cxn>
                <a:cxn ang="0">
                  <a:pos x="61" y="176"/>
                </a:cxn>
                <a:cxn ang="0">
                  <a:pos x="47" y="169"/>
                </a:cxn>
                <a:cxn ang="0">
                  <a:pos x="102" y="128"/>
                </a:cxn>
                <a:cxn ang="0">
                  <a:pos x="149" y="169"/>
                </a:cxn>
                <a:cxn ang="0">
                  <a:pos x="142" y="176"/>
                </a:cxn>
                <a:cxn ang="0">
                  <a:pos x="122" y="115"/>
                </a:cxn>
                <a:cxn ang="0">
                  <a:pos x="176" y="74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0"/>
                </a:cxn>
                <a:cxn ang="0">
                  <a:pos x="108" y="20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81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1" y="74"/>
                  </a:lnTo>
                  <a:lnTo>
                    <a:pt x="75" y="74"/>
                  </a:lnTo>
                  <a:lnTo>
                    <a:pt x="102" y="0"/>
                  </a:lnTo>
                  <a:lnTo>
                    <a:pt x="122" y="74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36" y="121"/>
                  </a:lnTo>
                  <a:lnTo>
                    <a:pt x="136" y="115"/>
                  </a:lnTo>
                  <a:lnTo>
                    <a:pt x="163" y="196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41" y="196"/>
                  </a:lnTo>
                  <a:lnTo>
                    <a:pt x="61" y="115"/>
                  </a:lnTo>
                  <a:lnTo>
                    <a:pt x="68" y="121"/>
                  </a:lnTo>
                  <a:lnTo>
                    <a:pt x="0" y="74"/>
                  </a:lnTo>
                  <a:close/>
                  <a:moveTo>
                    <a:pt x="81" y="115"/>
                  </a:moveTo>
                  <a:lnTo>
                    <a:pt x="61" y="176"/>
                  </a:lnTo>
                  <a:lnTo>
                    <a:pt x="47" y="169"/>
                  </a:lnTo>
                  <a:lnTo>
                    <a:pt x="102" y="128"/>
                  </a:lnTo>
                  <a:lnTo>
                    <a:pt x="149" y="169"/>
                  </a:lnTo>
                  <a:lnTo>
                    <a:pt x="142" y="176"/>
                  </a:lnTo>
                  <a:lnTo>
                    <a:pt x="122" y="115"/>
                  </a:lnTo>
                  <a:lnTo>
                    <a:pt x="176" y="74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0"/>
                  </a:lnTo>
                  <a:lnTo>
                    <a:pt x="108" y="20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80" name="Rectangle 40"/>
            <p:cNvSpPr>
              <a:spLocks noChangeArrowheads="1"/>
            </p:cNvSpPr>
            <p:nvPr/>
          </p:nvSpPr>
          <p:spPr bwMode="auto">
            <a:xfrm>
              <a:off x="724" y="1055"/>
              <a:ext cx="38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LCMS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1" name="Rectangle 41"/>
            <p:cNvSpPr>
              <a:spLocks noChangeArrowheads="1"/>
            </p:cNvSpPr>
            <p:nvPr/>
          </p:nvSpPr>
          <p:spPr bwMode="auto">
            <a:xfrm>
              <a:off x="1022" y="1055"/>
              <a:ext cx="21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(9)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2" name="Rectangle 42"/>
            <p:cNvSpPr>
              <a:spLocks noChangeArrowheads="1"/>
            </p:cNvSpPr>
            <p:nvPr/>
          </p:nvSpPr>
          <p:spPr bwMode="auto">
            <a:xfrm>
              <a:off x="724" y="1244"/>
              <a:ext cx="247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NMR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3" name="Rectangle 43"/>
            <p:cNvSpPr>
              <a:spLocks noChangeArrowheads="1"/>
            </p:cNvSpPr>
            <p:nvPr/>
          </p:nvSpPr>
          <p:spPr bwMode="auto">
            <a:xfrm>
              <a:off x="995" y="1244"/>
              <a:ext cx="21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(5)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4" name="Rectangle 44"/>
            <p:cNvSpPr>
              <a:spLocks noChangeArrowheads="1"/>
            </p:cNvSpPr>
            <p:nvPr/>
          </p:nvSpPr>
          <p:spPr bwMode="auto">
            <a:xfrm>
              <a:off x="2311" y="1170"/>
              <a:ext cx="1702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Gwenaelle Le Gall _IFR Norwich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5" name="Rectangle 45"/>
            <p:cNvSpPr>
              <a:spLocks noChangeArrowheads="1"/>
            </p:cNvSpPr>
            <p:nvPr/>
          </p:nvSpPr>
          <p:spPr bwMode="auto">
            <a:xfrm>
              <a:off x="1565" y="2400"/>
              <a:ext cx="1153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JP Antignac_Laberca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6" name="Rectangle 46"/>
            <p:cNvSpPr>
              <a:spLocks noChangeArrowheads="1"/>
            </p:cNvSpPr>
            <p:nvPr/>
          </p:nvSpPr>
          <p:spPr bwMode="auto">
            <a:xfrm>
              <a:off x="1565" y="2549"/>
              <a:ext cx="434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Nantes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7" name="Rectangle 47"/>
            <p:cNvSpPr>
              <a:spLocks noChangeArrowheads="1"/>
            </p:cNvSpPr>
            <p:nvPr/>
          </p:nvSpPr>
          <p:spPr bwMode="auto">
            <a:xfrm>
              <a:off x="3050" y="2826"/>
              <a:ext cx="1343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E Pujos_JF Martin, INRA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8" name="Rectangle 48"/>
            <p:cNvSpPr>
              <a:spLocks noChangeArrowheads="1"/>
            </p:cNvSpPr>
            <p:nvPr/>
          </p:nvSpPr>
          <p:spPr bwMode="auto">
            <a:xfrm>
              <a:off x="3050" y="2968"/>
              <a:ext cx="549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Clermont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9" name="Rectangle 49"/>
            <p:cNvSpPr>
              <a:spLocks noChangeArrowheads="1"/>
            </p:cNvSpPr>
            <p:nvPr/>
          </p:nvSpPr>
          <p:spPr bwMode="auto">
            <a:xfrm>
              <a:off x="1185" y="3205"/>
              <a:ext cx="1411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C Canlet, F Jourdan_INRA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0" name="Rectangle 50"/>
            <p:cNvSpPr>
              <a:spLocks noChangeArrowheads="1"/>
            </p:cNvSpPr>
            <p:nvPr/>
          </p:nvSpPr>
          <p:spPr bwMode="auto">
            <a:xfrm>
              <a:off x="1185" y="3353"/>
              <a:ext cx="543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Toulouse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3104" y="3556"/>
              <a:ext cx="763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JC Martin AMU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2" name="Rectangle 52"/>
            <p:cNvSpPr>
              <a:spLocks noChangeArrowheads="1"/>
            </p:cNvSpPr>
            <p:nvPr/>
          </p:nvSpPr>
          <p:spPr bwMode="auto">
            <a:xfrm>
              <a:off x="3104" y="3678"/>
              <a:ext cx="760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93" name="Rectangle 53"/>
            <p:cNvSpPr>
              <a:spLocks noChangeArrowheads="1"/>
            </p:cNvSpPr>
            <p:nvPr/>
          </p:nvSpPr>
          <p:spPr bwMode="auto">
            <a:xfrm>
              <a:off x="3104" y="3698"/>
              <a:ext cx="854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L Shintu U Med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4" name="Rectangle 54"/>
            <p:cNvSpPr>
              <a:spLocks noChangeArrowheads="1"/>
            </p:cNvSpPr>
            <p:nvPr/>
          </p:nvSpPr>
          <p:spPr bwMode="auto">
            <a:xfrm>
              <a:off x="3104" y="3847"/>
              <a:ext cx="543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Marseille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5" name="Rectangle 55"/>
            <p:cNvSpPr>
              <a:spLocks noChangeArrowheads="1"/>
            </p:cNvSpPr>
            <p:nvPr/>
          </p:nvSpPr>
          <p:spPr bwMode="auto">
            <a:xfrm>
              <a:off x="3640" y="3245"/>
              <a:ext cx="1112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C Guillou_IHC, Ispra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6" name="Freeform 56"/>
            <p:cNvSpPr>
              <a:spLocks/>
            </p:cNvSpPr>
            <p:nvPr/>
          </p:nvSpPr>
          <p:spPr bwMode="auto">
            <a:xfrm>
              <a:off x="2670" y="2143"/>
              <a:ext cx="156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61" y="61"/>
                </a:cxn>
                <a:cxn ang="0">
                  <a:pos x="75" y="0"/>
                </a:cxn>
                <a:cxn ang="0">
                  <a:pos x="95" y="61"/>
                </a:cxn>
                <a:cxn ang="0">
                  <a:pos x="156" y="61"/>
                </a:cxn>
                <a:cxn ang="0">
                  <a:pos x="109" y="102"/>
                </a:cxn>
                <a:cxn ang="0">
                  <a:pos x="122" y="156"/>
                </a:cxn>
                <a:cxn ang="0">
                  <a:pos x="75" y="122"/>
                </a:cxn>
                <a:cxn ang="0">
                  <a:pos x="28" y="156"/>
                </a:cxn>
                <a:cxn ang="0">
                  <a:pos x="48" y="102"/>
                </a:cxn>
                <a:cxn ang="0">
                  <a:pos x="0" y="61"/>
                </a:cxn>
              </a:cxnLst>
              <a:rect l="0" t="0" r="r" b="b"/>
              <a:pathLst>
                <a:path w="156" h="156">
                  <a:moveTo>
                    <a:pt x="0" y="61"/>
                  </a:moveTo>
                  <a:lnTo>
                    <a:pt x="61" y="61"/>
                  </a:lnTo>
                  <a:lnTo>
                    <a:pt x="75" y="0"/>
                  </a:lnTo>
                  <a:lnTo>
                    <a:pt x="95" y="61"/>
                  </a:lnTo>
                  <a:lnTo>
                    <a:pt x="156" y="61"/>
                  </a:lnTo>
                  <a:lnTo>
                    <a:pt x="109" y="102"/>
                  </a:lnTo>
                  <a:lnTo>
                    <a:pt x="122" y="156"/>
                  </a:lnTo>
                  <a:lnTo>
                    <a:pt x="75" y="122"/>
                  </a:lnTo>
                  <a:lnTo>
                    <a:pt x="28" y="156"/>
                  </a:lnTo>
                  <a:lnTo>
                    <a:pt x="48" y="102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97" name="Freeform 57"/>
            <p:cNvSpPr>
              <a:spLocks noEditPoints="1"/>
            </p:cNvSpPr>
            <p:nvPr/>
          </p:nvSpPr>
          <p:spPr bwMode="auto">
            <a:xfrm>
              <a:off x="2650" y="2123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29" y="122"/>
                </a:cxn>
                <a:cxn ang="0">
                  <a:pos x="136" y="115"/>
                </a:cxn>
                <a:cxn ang="0">
                  <a:pos x="156" y="196"/>
                </a:cxn>
                <a:cxn ang="0">
                  <a:pos x="95" y="149"/>
                </a:cxn>
                <a:cxn ang="0">
                  <a:pos x="102" y="149"/>
                </a:cxn>
                <a:cxn ang="0">
                  <a:pos x="41" y="196"/>
                </a:cxn>
                <a:cxn ang="0">
                  <a:pos x="61" y="115"/>
                </a:cxn>
                <a:cxn ang="0">
                  <a:pos x="61" y="122"/>
                </a:cxn>
                <a:cxn ang="0">
                  <a:pos x="0" y="74"/>
                </a:cxn>
                <a:cxn ang="0">
                  <a:pos x="75" y="115"/>
                </a:cxn>
                <a:cxn ang="0">
                  <a:pos x="54" y="183"/>
                </a:cxn>
                <a:cxn ang="0">
                  <a:pos x="48" y="169"/>
                </a:cxn>
                <a:cxn ang="0">
                  <a:pos x="95" y="135"/>
                </a:cxn>
                <a:cxn ang="0">
                  <a:pos x="149" y="169"/>
                </a:cxn>
                <a:cxn ang="0">
                  <a:pos x="142" y="183"/>
                </a:cxn>
                <a:cxn ang="0">
                  <a:pos x="122" y="115"/>
                </a:cxn>
                <a:cxn ang="0">
                  <a:pos x="170" y="74"/>
                </a:cxn>
                <a:cxn ang="0">
                  <a:pos x="176" y="88"/>
                </a:cxn>
                <a:cxn ang="0">
                  <a:pos x="109" y="88"/>
                </a:cxn>
                <a:cxn ang="0">
                  <a:pos x="88" y="27"/>
                </a:cxn>
                <a:cxn ang="0">
                  <a:pos x="102" y="27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75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1" y="74"/>
                  </a:lnTo>
                  <a:lnTo>
                    <a:pt x="75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29" y="122"/>
                  </a:lnTo>
                  <a:lnTo>
                    <a:pt x="136" y="115"/>
                  </a:lnTo>
                  <a:lnTo>
                    <a:pt x="156" y="196"/>
                  </a:lnTo>
                  <a:lnTo>
                    <a:pt x="95" y="149"/>
                  </a:lnTo>
                  <a:lnTo>
                    <a:pt x="102" y="149"/>
                  </a:lnTo>
                  <a:lnTo>
                    <a:pt x="41" y="196"/>
                  </a:lnTo>
                  <a:lnTo>
                    <a:pt x="61" y="115"/>
                  </a:lnTo>
                  <a:lnTo>
                    <a:pt x="61" y="122"/>
                  </a:lnTo>
                  <a:lnTo>
                    <a:pt x="0" y="74"/>
                  </a:lnTo>
                  <a:close/>
                  <a:moveTo>
                    <a:pt x="75" y="115"/>
                  </a:moveTo>
                  <a:lnTo>
                    <a:pt x="54" y="183"/>
                  </a:lnTo>
                  <a:lnTo>
                    <a:pt x="48" y="169"/>
                  </a:lnTo>
                  <a:lnTo>
                    <a:pt x="95" y="135"/>
                  </a:lnTo>
                  <a:lnTo>
                    <a:pt x="149" y="169"/>
                  </a:lnTo>
                  <a:lnTo>
                    <a:pt x="142" y="183"/>
                  </a:lnTo>
                  <a:lnTo>
                    <a:pt x="122" y="115"/>
                  </a:lnTo>
                  <a:lnTo>
                    <a:pt x="170" y="74"/>
                  </a:lnTo>
                  <a:lnTo>
                    <a:pt x="176" y="88"/>
                  </a:lnTo>
                  <a:lnTo>
                    <a:pt x="109" y="88"/>
                  </a:lnTo>
                  <a:lnTo>
                    <a:pt x="88" y="27"/>
                  </a:lnTo>
                  <a:lnTo>
                    <a:pt x="102" y="27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75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98" name="Freeform 58"/>
            <p:cNvSpPr>
              <a:spLocks noEditPoints="1"/>
            </p:cNvSpPr>
            <p:nvPr/>
          </p:nvSpPr>
          <p:spPr bwMode="auto">
            <a:xfrm>
              <a:off x="2148" y="2894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2" y="74"/>
                </a:cxn>
                <a:cxn ang="0">
                  <a:pos x="75" y="81"/>
                </a:cxn>
                <a:cxn ang="0">
                  <a:pos x="102" y="0"/>
                </a:cxn>
                <a:cxn ang="0">
                  <a:pos x="122" y="81"/>
                </a:cxn>
                <a:cxn ang="0">
                  <a:pos x="116" y="74"/>
                </a:cxn>
                <a:cxn ang="0">
                  <a:pos x="197" y="74"/>
                </a:cxn>
                <a:cxn ang="0">
                  <a:pos x="136" y="121"/>
                </a:cxn>
                <a:cxn ang="0">
                  <a:pos x="136" y="115"/>
                </a:cxn>
                <a:cxn ang="0">
                  <a:pos x="163" y="196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41" y="196"/>
                </a:cxn>
                <a:cxn ang="0">
                  <a:pos x="61" y="115"/>
                </a:cxn>
                <a:cxn ang="0">
                  <a:pos x="68" y="121"/>
                </a:cxn>
                <a:cxn ang="0">
                  <a:pos x="0" y="74"/>
                </a:cxn>
                <a:cxn ang="0">
                  <a:pos x="82" y="115"/>
                </a:cxn>
                <a:cxn ang="0">
                  <a:pos x="61" y="175"/>
                </a:cxn>
                <a:cxn ang="0">
                  <a:pos x="48" y="169"/>
                </a:cxn>
                <a:cxn ang="0">
                  <a:pos x="102" y="128"/>
                </a:cxn>
                <a:cxn ang="0">
                  <a:pos x="149" y="169"/>
                </a:cxn>
                <a:cxn ang="0">
                  <a:pos x="143" y="175"/>
                </a:cxn>
                <a:cxn ang="0">
                  <a:pos x="122" y="115"/>
                </a:cxn>
                <a:cxn ang="0">
                  <a:pos x="177" y="74"/>
                </a:cxn>
                <a:cxn ang="0">
                  <a:pos x="177" y="88"/>
                </a:cxn>
                <a:cxn ang="0">
                  <a:pos x="116" y="88"/>
                </a:cxn>
                <a:cxn ang="0">
                  <a:pos x="95" y="20"/>
                </a:cxn>
                <a:cxn ang="0">
                  <a:pos x="109" y="20"/>
                </a:cxn>
                <a:cxn ang="0">
                  <a:pos x="88" y="88"/>
                </a:cxn>
                <a:cxn ang="0">
                  <a:pos x="21" y="88"/>
                </a:cxn>
                <a:cxn ang="0">
                  <a:pos x="27" y="74"/>
                </a:cxn>
                <a:cxn ang="0">
                  <a:pos x="82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2" y="74"/>
                  </a:lnTo>
                  <a:lnTo>
                    <a:pt x="75" y="81"/>
                  </a:lnTo>
                  <a:lnTo>
                    <a:pt x="102" y="0"/>
                  </a:lnTo>
                  <a:lnTo>
                    <a:pt x="122" y="81"/>
                  </a:lnTo>
                  <a:lnTo>
                    <a:pt x="116" y="74"/>
                  </a:lnTo>
                  <a:lnTo>
                    <a:pt x="197" y="74"/>
                  </a:lnTo>
                  <a:lnTo>
                    <a:pt x="136" y="121"/>
                  </a:lnTo>
                  <a:lnTo>
                    <a:pt x="136" y="115"/>
                  </a:lnTo>
                  <a:lnTo>
                    <a:pt x="163" y="196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41" y="196"/>
                  </a:lnTo>
                  <a:lnTo>
                    <a:pt x="61" y="115"/>
                  </a:lnTo>
                  <a:lnTo>
                    <a:pt x="68" y="121"/>
                  </a:lnTo>
                  <a:lnTo>
                    <a:pt x="0" y="74"/>
                  </a:lnTo>
                  <a:close/>
                  <a:moveTo>
                    <a:pt x="82" y="115"/>
                  </a:moveTo>
                  <a:lnTo>
                    <a:pt x="61" y="175"/>
                  </a:lnTo>
                  <a:lnTo>
                    <a:pt x="48" y="169"/>
                  </a:lnTo>
                  <a:lnTo>
                    <a:pt x="102" y="128"/>
                  </a:lnTo>
                  <a:lnTo>
                    <a:pt x="149" y="169"/>
                  </a:lnTo>
                  <a:lnTo>
                    <a:pt x="143" y="175"/>
                  </a:lnTo>
                  <a:lnTo>
                    <a:pt x="122" y="115"/>
                  </a:lnTo>
                  <a:lnTo>
                    <a:pt x="177" y="74"/>
                  </a:lnTo>
                  <a:lnTo>
                    <a:pt x="177" y="88"/>
                  </a:lnTo>
                  <a:lnTo>
                    <a:pt x="116" y="88"/>
                  </a:lnTo>
                  <a:lnTo>
                    <a:pt x="95" y="20"/>
                  </a:lnTo>
                  <a:lnTo>
                    <a:pt x="109" y="20"/>
                  </a:lnTo>
                  <a:lnTo>
                    <a:pt x="88" y="88"/>
                  </a:lnTo>
                  <a:lnTo>
                    <a:pt x="21" y="88"/>
                  </a:lnTo>
                  <a:lnTo>
                    <a:pt x="27" y="74"/>
                  </a:lnTo>
                  <a:lnTo>
                    <a:pt x="82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299" name="Rectangle 59"/>
            <p:cNvSpPr>
              <a:spLocks noChangeArrowheads="1"/>
            </p:cNvSpPr>
            <p:nvPr/>
          </p:nvSpPr>
          <p:spPr bwMode="auto">
            <a:xfrm>
              <a:off x="697" y="1467"/>
              <a:ext cx="877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Data </a:t>
              </a:r>
              <a:r>
                <a:rPr kumimoji="0" lang="fr-FR" sz="1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processing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1" name="Freeform 61"/>
            <p:cNvSpPr>
              <a:spLocks noEditPoints="1"/>
            </p:cNvSpPr>
            <p:nvPr/>
          </p:nvSpPr>
          <p:spPr bwMode="auto">
            <a:xfrm>
              <a:off x="2765" y="2083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2" y="74"/>
                </a:cxn>
                <a:cxn ang="0">
                  <a:pos x="75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6" y="74"/>
                </a:cxn>
                <a:cxn ang="0">
                  <a:pos x="197" y="74"/>
                </a:cxn>
                <a:cxn ang="0">
                  <a:pos x="129" y="128"/>
                </a:cxn>
                <a:cxn ang="0">
                  <a:pos x="136" y="121"/>
                </a:cxn>
                <a:cxn ang="0">
                  <a:pos x="156" y="196"/>
                </a:cxn>
                <a:cxn ang="0">
                  <a:pos x="95" y="148"/>
                </a:cxn>
                <a:cxn ang="0">
                  <a:pos x="102" y="148"/>
                </a:cxn>
                <a:cxn ang="0">
                  <a:pos x="41" y="196"/>
                </a:cxn>
                <a:cxn ang="0">
                  <a:pos x="61" y="121"/>
                </a:cxn>
                <a:cxn ang="0">
                  <a:pos x="61" y="128"/>
                </a:cxn>
                <a:cxn ang="0">
                  <a:pos x="0" y="74"/>
                </a:cxn>
                <a:cxn ang="0">
                  <a:pos x="75" y="114"/>
                </a:cxn>
                <a:cxn ang="0">
                  <a:pos x="55" y="182"/>
                </a:cxn>
                <a:cxn ang="0">
                  <a:pos x="48" y="175"/>
                </a:cxn>
                <a:cxn ang="0">
                  <a:pos x="95" y="135"/>
                </a:cxn>
                <a:cxn ang="0">
                  <a:pos x="150" y="175"/>
                </a:cxn>
                <a:cxn ang="0">
                  <a:pos x="143" y="182"/>
                </a:cxn>
                <a:cxn ang="0">
                  <a:pos x="122" y="114"/>
                </a:cxn>
                <a:cxn ang="0">
                  <a:pos x="170" y="81"/>
                </a:cxn>
                <a:cxn ang="0">
                  <a:pos x="177" y="87"/>
                </a:cxn>
                <a:cxn ang="0">
                  <a:pos x="109" y="87"/>
                </a:cxn>
                <a:cxn ang="0">
                  <a:pos x="89" y="27"/>
                </a:cxn>
                <a:cxn ang="0">
                  <a:pos x="102" y="27"/>
                </a:cxn>
                <a:cxn ang="0">
                  <a:pos x="82" y="87"/>
                </a:cxn>
                <a:cxn ang="0">
                  <a:pos x="21" y="87"/>
                </a:cxn>
                <a:cxn ang="0">
                  <a:pos x="27" y="81"/>
                </a:cxn>
                <a:cxn ang="0">
                  <a:pos x="75" y="114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2" y="74"/>
                  </a:lnTo>
                  <a:lnTo>
                    <a:pt x="75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6" y="74"/>
                  </a:lnTo>
                  <a:lnTo>
                    <a:pt x="197" y="74"/>
                  </a:lnTo>
                  <a:lnTo>
                    <a:pt x="129" y="128"/>
                  </a:lnTo>
                  <a:lnTo>
                    <a:pt x="136" y="121"/>
                  </a:lnTo>
                  <a:lnTo>
                    <a:pt x="156" y="196"/>
                  </a:lnTo>
                  <a:lnTo>
                    <a:pt x="95" y="148"/>
                  </a:lnTo>
                  <a:lnTo>
                    <a:pt x="102" y="148"/>
                  </a:lnTo>
                  <a:lnTo>
                    <a:pt x="41" y="196"/>
                  </a:lnTo>
                  <a:lnTo>
                    <a:pt x="61" y="121"/>
                  </a:lnTo>
                  <a:lnTo>
                    <a:pt x="61" y="128"/>
                  </a:lnTo>
                  <a:lnTo>
                    <a:pt x="0" y="74"/>
                  </a:lnTo>
                  <a:close/>
                  <a:moveTo>
                    <a:pt x="75" y="114"/>
                  </a:moveTo>
                  <a:lnTo>
                    <a:pt x="55" y="182"/>
                  </a:lnTo>
                  <a:lnTo>
                    <a:pt x="48" y="175"/>
                  </a:lnTo>
                  <a:lnTo>
                    <a:pt x="95" y="135"/>
                  </a:lnTo>
                  <a:lnTo>
                    <a:pt x="150" y="175"/>
                  </a:lnTo>
                  <a:lnTo>
                    <a:pt x="143" y="182"/>
                  </a:lnTo>
                  <a:lnTo>
                    <a:pt x="122" y="114"/>
                  </a:lnTo>
                  <a:lnTo>
                    <a:pt x="170" y="81"/>
                  </a:lnTo>
                  <a:lnTo>
                    <a:pt x="177" y="87"/>
                  </a:lnTo>
                  <a:lnTo>
                    <a:pt x="109" y="87"/>
                  </a:lnTo>
                  <a:lnTo>
                    <a:pt x="89" y="27"/>
                  </a:lnTo>
                  <a:lnTo>
                    <a:pt x="102" y="27"/>
                  </a:lnTo>
                  <a:lnTo>
                    <a:pt x="82" y="87"/>
                  </a:lnTo>
                  <a:lnTo>
                    <a:pt x="21" y="87"/>
                  </a:lnTo>
                  <a:lnTo>
                    <a:pt x="27" y="81"/>
                  </a:lnTo>
                  <a:lnTo>
                    <a:pt x="75" y="114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02" name="Freeform 62"/>
            <p:cNvSpPr>
              <a:spLocks noEditPoints="1"/>
            </p:cNvSpPr>
            <p:nvPr/>
          </p:nvSpPr>
          <p:spPr bwMode="auto">
            <a:xfrm>
              <a:off x="426" y="1420"/>
              <a:ext cx="196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4" y="81"/>
                </a:cxn>
                <a:cxn ang="0">
                  <a:pos x="95" y="0"/>
                </a:cxn>
                <a:cxn ang="0">
                  <a:pos x="122" y="81"/>
                </a:cxn>
                <a:cxn ang="0">
                  <a:pos x="115" y="74"/>
                </a:cxn>
                <a:cxn ang="0">
                  <a:pos x="196" y="74"/>
                </a:cxn>
                <a:cxn ang="0">
                  <a:pos x="129" y="122"/>
                </a:cxn>
                <a:cxn ang="0">
                  <a:pos x="135" y="115"/>
                </a:cxn>
                <a:cxn ang="0">
                  <a:pos x="156" y="196"/>
                </a:cxn>
                <a:cxn ang="0">
                  <a:pos x="95" y="142"/>
                </a:cxn>
                <a:cxn ang="0">
                  <a:pos x="101" y="142"/>
                </a:cxn>
                <a:cxn ang="0">
                  <a:pos x="40" y="196"/>
                </a:cxn>
                <a:cxn ang="0">
                  <a:pos x="61" y="115"/>
                </a:cxn>
                <a:cxn ang="0">
                  <a:pos x="61" y="122"/>
                </a:cxn>
                <a:cxn ang="0">
                  <a:pos x="0" y="74"/>
                </a:cxn>
                <a:cxn ang="0">
                  <a:pos x="74" y="115"/>
                </a:cxn>
                <a:cxn ang="0">
                  <a:pos x="54" y="176"/>
                </a:cxn>
                <a:cxn ang="0">
                  <a:pos x="47" y="169"/>
                </a:cxn>
                <a:cxn ang="0">
                  <a:pos x="95" y="129"/>
                </a:cxn>
                <a:cxn ang="0">
                  <a:pos x="149" y="169"/>
                </a:cxn>
                <a:cxn ang="0">
                  <a:pos x="135" y="176"/>
                </a:cxn>
                <a:cxn ang="0">
                  <a:pos x="122" y="115"/>
                </a:cxn>
                <a:cxn ang="0">
                  <a:pos x="169" y="74"/>
                </a:cxn>
                <a:cxn ang="0">
                  <a:pos x="176" y="88"/>
                </a:cxn>
                <a:cxn ang="0">
                  <a:pos x="108" y="88"/>
                </a:cxn>
                <a:cxn ang="0">
                  <a:pos x="88" y="20"/>
                </a:cxn>
                <a:cxn ang="0">
                  <a:pos x="101" y="20"/>
                </a:cxn>
                <a:cxn ang="0">
                  <a:pos x="81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74" y="115"/>
                </a:cxn>
              </a:cxnLst>
              <a:rect l="0" t="0" r="r" b="b"/>
              <a:pathLst>
                <a:path w="196" h="196">
                  <a:moveTo>
                    <a:pt x="0" y="74"/>
                  </a:moveTo>
                  <a:lnTo>
                    <a:pt x="81" y="74"/>
                  </a:lnTo>
                  <a:lnTo>
                    <a:pt x="74" y="81"/>
                  </a:lnTo>
                  <a:lnTo>
                    <a:pt x="95" y="0"/>
                  </a:lnTo>
                  <a:lnTo>
                    <a:pt x="122" y="81"/>
                  </a:lnTo>
                  <a:lnTo>
                    <a:pt x="115" y="74"/>
                  </a:lnTo>
                  <a:lnTo>
                    <a:pt x="196" y="74"/>
                  </a:lnTo>
                  <a:lnTo>
                    <a:pt x="129" y="122"/>
                  </a:lnTo>
                  <a:lnTo>
                    <a:pt x="135" y="115"/>
                  </a:lnTo>
                  <a:lnTo>
                    <a:pt x="156" y="196"/>
                  </a:lnTo>
                  <a:lnTo>
                    <a:pt x="95" y="142"/>
                  </a:lnTo>
                  <a:lnTo>
                    <a:pt x="101" y="142"/>
                  </a:lnTo>
                  <a:lnTo>
                    <a:pt x="40" y="196"/>
                  </a:lnTo>
                  <a:lnTo>
                    <a:pt x="61" y="115"/>
                  </a:lnTo>
                  <a:lnTo>
                    <a:pt x="61" y="122"/>
                  </a:lnTo>
                  <a:lnTo>
                    <a:pt x="0" y="74"/>
                  </a:lnTo>
                  <a:close/>
                  <a:moveTo>
                    <a:pt x="74" y="115"/>
                  </a:moveTo>
                  <a:lnTo>
                    <a:pt x="54" y="176"/>
                  </a:lnTo>
                  <a:lnTo>
                    <a:pt x="47" y="169"/>
                  </a:lnTo>
                  <a:lnTo>
                    <a:pt x="95" y="129"/>
                  </a:lnTo>
                  <a:lnTo>
                    <a:pt x="149" y="169"/>
                  </a:lnTo>
                  <a:lnTo>
                    <a:pt x="135" y="176"/>
                  </a:lnTo>
                  <a:lnTo>
                    <a:pt x="122" y="115"/>
                  </a:lnTo>
                  <a:lnTo>
                    <a:pt x="169" y="74"/>
                  </a:lnTo>
                  <a:lnTo>
                    <a:pt x="176" y="88"/>
                  </a:lnTo>
                  <a:lnTo>
                    <a:pt x="108" y="88"/>
                  </a:lnTo>
                  <a:lnTo>
                    <a:pt x="88" y="20"/>
                  </a:lnTo>
                  <a:lnTo>
                    <a:pt x="101" y="20"/>
                  </a:lnTo>
                  <a:lnTo>
                    <a:pt x="81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74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03" name="Rectangle 63"/>
            <p:cNvSpPr>
              <a:spLocks noChangeArrowheads="1"/>
            </p:cNvSpPr>
            <p:nvPr/>
          </p:nvSpPr>
          <p:spPr bwMode="auto">
            <a:xfrm>
              <a:off x="2915" y="2015"/>
              <a:ext cx="1031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D Rutledge, IAQA,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4" name="Rectangle 64"/>
            <p:cNvSpPr>
              <a:spLocks noChangeArrowheads="1"/>
            </p:cNvSpPr>
            <p:nvPr/>
          </p:nvSpPr>
          <p:spPr bwMode="auto">
            <a:xfrm>
              <a:off x="3823" y="2015"/>
              <a:ext cx="78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agroparistech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1450" y="2826"/>
              <a:ext cx="529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D Jacob,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6" name="Rectangle 66"/>
            <p:cNvSpPr>
              <a:spLocks noChangeArrowheads="1"/>
            </p:cNvSpPr>
            <p:nvPr/>
          </p:nvSpPr>
          <p:spPr bwMode="auto">
            <a:xfrm>
              <a:off x="1891" y="2826"/>
              <a:ext cx="298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CBiB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07" name="Rectangle 67"/>
            <p:cNvSpPr>
              <a:spLocks noChangeArrowheads="1"/>
            </p:cNvSpPr>
            <p:nvPr/>
          </p:nvSpPr>
          <p:spPr bwMode="auto">
            <a:xfrm>
              <a:off x="1477" y="2968"/>
              <a:ext cx="563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Bordeaux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311" name="Picture 7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15" y="3840"/>
              <a:ext cx="739" cy="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2" name="Freeform 72"/>
            <p:cNvSpPr>
              <a:spLocks/>
            </p:cNvSpPr>
            <p:nvPr/>
          </p:nvSpPr>
          <p:spPr bwMode="auto">
            <a:xfrm>
              <a:off x="2284" y="1914"/>
              <a:ext cx="156" cy="155"/>
            </a:xfrm>
            <a:custGeom>
              <a:avLst/>
              <a:gdLst/>
              <a:ahLst/>
              <a:cxnLst>
                <a:cxn ang="0">
                  <a:pos x="0" y="60"/>
                </a:cxn>
                <a:cxn ang="0">
                  <a:pos x="61" y="60"/>
                </a:cxn>
                <a:cxn ang="0">
                  <a:pos x="81" y="0"/>
                </a:cxn>
                <a:cxn ang="0">
                  <a:pos x="95" y="60"/>
                </a:cxn>
                <a:cxn ang="0">
                  <a:pos x="156" y="60"/>
                </a:cxn>
                <a:cxn ang="0">
                  <a:pos x="108" y="94"/>
                </a:cxn>
                <a:cxn ang="0">
                  <a:pos x="129" y="155"/>
                </a:cxn>
                <a:cxn ang="0">
                  <a:pos x="81" y="121"/>
                </a:cxn>
                <a:cxn ang="0">
                  <a:pos x="34" y="155"/>
                </a:cxn>
                <a:cxn ang="0">
                  <a:pos x="47" y="94"/>
                </a:cxn>
                <a:cxn ang="0">
                  <a:pos x="0" y="60"/>
                </a:cxn>
              </a:cxnLst>
              <a:rect l="0" t="0" r="r" b="b"/>
              <a:pathLst>
                <a:path w="156" h="155">
                  <a:moveTo>
                    <a:pt x="0" y="60"/>
                  </a:moveTo>
                  <a:lnTo>
                    <a:pt x="61" y="60"/>
                  </a:lnTo>
                  <a:lnTo>
                    <a:pt x="81" y="0"/>
                  </a:lnTo>
                  <a:lnTo>
                    <a:pt x="95" y="60"/>
                  </a:lnTo>
                  <a:lnTo>
                    <a:pt x="156" y="60"/>
                  </a:lnTo>
                  <a:lnTo>
                    <a:pt x="108" y="94"/>
                  </a:lnTo>
                  <a:lnTo>
                    <a:pt x="129" y="155"/>
                  </a:lnTo>
                  <a:lnTo>
                    <a:pt x="81" y="121"/>
                  </a:lnTo>
                  <a:lnTo>
                    <a:pt x="34" y="155"/>
                  </a:lnTo>
                  <a:lnTo>
                    <a:pt x="47" y="9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4F81B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13" name="Freeform 73"/>
            <p:cNvSpPr>
              <a:spLocks noEditPoints="1"/>
            </p:cNvSpPr>
            <p:nvPr/>
          </p:nvSpPr>
          <p:spPr bwMode="auto">
            <a:xfrm>
              <a:off x="2264" y="1893"/>
              <a:ext cx="196" cy="196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81" y="75"/>
                </a:cxn>
                <a:cxn ang="0">
                  <a:pos x="74" y="81"/>
                </a:cxn>
                <a:cxn ang="0">
                  <a:pos x="101" y="0"/>
                </a:cxn>
                <a:cxn ang="0">
                  <a:pos x="122" y="81"/>
                </a:cxn>
                <a:cxn ang="0">
                  <a:pos x="115" y="75"/>
                </a:cxn>
                <a:cxn ang="0">
                  <a:pos x="196" y="75"/>
                </a:cxn>
                <a:cxn ang="0">
                  <a:pos x="135" y="122"/>
                </a:cxn>
                <a:cxn ang="0">
                  <a:pos x="135" y="115"/>
                </a:cxn>
                <a:cxn ang="0">
                  <a:pos x="162" y="196"/>
                </a:cxn>
                <a:cxn ang="0">
                  <a:pos x="94" y="149"/>
                </a:cxn>
                <a:cxn ang="0">
                  <a:pos x="101" y="149"/>
                </a:cxn>
                <a:cxn ang="0">
                  <a:pos x="40" y="196"/>
                </a:cxn>
                <a:cxn ang="0">
                  <a:pos x="61" y="115"/>
                </a:cxn>
                <a:cxn ang="0">
                  <a:pos x="67" y="122"/>
                </a:cxn>
                <a:cxn ang="0">
                  <a:pos x="0" y="75"/>
                </a:cxn>
                <a:cxn ang="0">
                  <a:pos x="81" y="115"/>
                </a:cxn>
                <a:cxn ang="0">
                  <a:pos x="61" y="176"/>
                </a:cxn>
                <a:cxn ang="0">
                  <a:pos x="47" y="169"/>
                </a:cxn>
                <a:cxn ang="0">
                  <a:pos x="101" y="129"/>
                </a:cxn>
                <a:cxn ang="0">
                  <a:pos x="149" y="169"/>
                </a:cxn>
                <a:cxn ang="0">
                  <a:pos x="142" y="176"/>
                </a:cxn>
                <a:cxn ang="0">
                  <a:pos x="122" y="115"/>
                </a:cxn>
                <a:cxn ang="0">
                  <a:pos x="169" y="75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4" y="27"/>
                </a:cxn>
                <a:cxn ang="0">
                  <a:pos x="108" y="27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5"/>
                </a:cxn>
                <a:cxn ang="0">
                  <a:pos x="81" y="115"/>
                </a:cxn>
              </a:cxnLst>
              <a:rect l="0" t="0" r="r" b="b"/>
              <a:pathLst>
                <a:path w="196" h="196">
                  <a:moveTo>
                    <a:pt x="0" y="75"/>
                  </a:moveTo>
                  <a:lnTo>
                    <a:pt x="81" y="75"/>
                  </a:lnTo>
                  <a:lnTo>
                    <a:pt x="74" y="81"/>
                  </a:lnTo>
                  <a:lnTo>
                    <a:pt x="101" y="0"/>
                  </a:lnTo>
                  <a:lnTo>
                    <a:pt x="122" y="81"/>
                  </a:lnTo>
                  <a:lnTo>
                    <a:pt x="115" y="75"/>
                  </a:lnTo>
                  <a:lnTo>
                    <a:pt x="196" y="75"/>
                  </a:lnTo>
                  <a:lnTo>
                    <a:pt x="135" y="122"/>
                  </a:lnTo>
                  <a:lnTo>
                    <a:pt x="135" y="115"/>
                  </a:lnTo>
                  <a:lnTo>
                    <a:pt x="162" y="196"/>
                  </a:lnTo>
                  <a:lnTo>
                    <a:pt x="94" y="149"/>
                  </a:lnTo>
                  <a:lnTo>
                    <a:pt x="101" y="149"/>
                  </a:lnTo>
                  <a:lnTo>
                    <a:pt x="40" y="196"/>
                  </a:lnTo>
                  <a:lnTo>
                    <a:pt x="61" y="115"/>
                  </a:lnTo>
                  <a:lnTo>
                    <a:pt x="67" y="122"/>
                  </a:lnTo>
                  <a:lnTo>
                    <a:pt x="0" y="75"/>
                  </a:lnTo>
                  <a:close/>
                  <a:moveTo>
                    <a:pt x="81" y="115"/>
                  </a:moveTo>
                  <a:lnTo>
                    <a:pt x="61" y="176"/>
                  </a:lnTo>
                  <a:lnTo>
                    <a:pt x="47" y="169"/>
                  </a:lnTo>
                  <a:lnTo>
                    <a:pt x="101" y="129"/>
                  </a:lnTo>
                  <a:lnTo>
                    <a:pt x="149" y="169"/>
                  </a:lnTo>
                  <a:lnTo>
                    <a:pt x="142" y="176"/>
                  </a:lnTo>
                  <a:lnTo>
                    <a:pt x="122" y="115"/>
                  </a:lnTo>
                  <a:lnTo>
                    <a:pt x="169" y="75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4" y="27"/>
                  </a:lnTo>
                  <a:lnTo>
                    <a:pt x="108" y="27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5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14" name="Rectangle 74"/>
            <p:cNvSpPr>
              <a:spLocks noChangeArrowheads="1"/>
            </p:cNvSpPr>
            <p:nvPr/>
          </p:nvSpPr>
          <p:spPr bwMode="auto">
            <a:xfrm>
              <a:off x="1070" y="1819"/>
              <a:ext cx="190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S.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5" name="Rectangle 75"/>
            <p:cNvSpPr>
              <a:spLocks noChangeArrowheads="1"/>
            </p:cNvSpPr>
            <p:nvPr/>
          </p:nvSpPr>
          <p:spPr bwMode="auto">
            <a:xfrm>
              <a:off x="1178" y="1819"/>
              <a:ext cx="624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Goulitquer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6" name="Rectangle 76"/>
            <p:cNvSpPr>
              <a:spLocks noChangeArrowheads="1"/>
            </p:cNvSpPr>
            <p:nvPr/>
          </p:nvSpPr>
          <p:spPr bwMode="auto">
            <a:xfrm>
              <a:off x="1701" y="1819"/>
              <a:ext cx="129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,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7" name="Rectangle 77"/>
            <p:cNvSpPr>
              <a:spLocks noChangeArrowheads="1"/>
            </p:cNvSpPr>
            <p:nvPr/>
          </p:nvSpPr>
          <p:spPr bwMode="auto">
            <a:xfrm>
              <a:off x="1762" y="1819"/>
              <a:ext cx="685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Metabomer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8" name="Freeform 78"/>
            <p:cNvSpPr>
              <a:spLocks/>
            </p:cNvSpPr>
            <p:nvPr/>
          </p:nvSpPr>
          <p:spPr bwMode="auto">
            <a:xfrm>
              <a:off x="2711" y="1954"/>
              <a:ext cx="149" cy="156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54" y="61"/>
                </a:cxn>
                <a:cxn ang="0">
                  <a:pos x="75" y="0"/>
                </a:cxn>
                <a:cxn ang="0">
                  <a:pos x="95" y="61"/>
                </a:cxn>
                <a:cxn ang="0">
                  <a:pos x="149" y="61"/>
                </a:cxn>
                <a:cxn ang="0">
                  <a:pos x="102" y="95"/>
                </a:cxn>
                <a:cxn ang="0">
                  <a:pos x="122" y="156"/>
                </a:cxn>
                <a:cxn ang="0">
                  <a:pos x="75" y="115"/>
                </a:cxn>
                <a:cxn ang="0">
                  <a:pos x="27" y="156"/>
                </a:cxn>
                <a:cxn ang="0">
                  <a:pos x="48" y="95"/>
                </a:cxn>
                <a:cxn ang="0">
                  <a:pos x="0" y="61"/>
                </a:cxn>
              </a:cxnLst>
              <a:rect l="0" t="0" r="r" b="b"/>
              <a:pathLst>
                <a:path w="149" h="156">
                  <a:moveTo>
                    <a:pt x="0" y="61"/>
                  </a:moveTo>
                  <a:lnTo>
                    <a:pt x="54" y="61"/>
                  </a:lnTo>
                  <a:lnTo>
                    <a:pt x="75" y="0"/>
                  </a:lnTo>
                  <a:lnTo>
                    <a:pt x="95" y="61"/>
                  </a:lnTo>
                  <a:lnTo>
                    <a:pt x="149" y="61"/>
                  </a:lnTo>
                  <a:lnTo>
                    <a:pt x="102" y="95"/>
                  </a:lnTo>
                  <a:lnTo>
                    <a:pt x="122" y="156"/>
                  </a:lnTo>
                  <a:lnTo>
                    <a:pt x="75" y="115"/>
                  </a:lnTo>
                  <a:lnTo>
                    <a:pt x="27" y="156"/>
                  </a:lnTo>
                  <a:lnTo>
                    <a:pt x="48" y="95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19" name="Freeform 79"/>
            <p:cNvSpPr>
              <a:spLocks noEditPoints="1"/>
            </p:cNvSpPr>
            <p:nvPr/>
          </p:nvSpPr>
          <p:spPr bwMode="auto">
            <a:xfrm>
              <a:off x="2691" y="1934"/>
              <a:ext cx="190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74" y="74"/>
                </a:cxn>
                <a:cxn ang="0">
                  <a:pos x="68" y="74"/>
                </a:cxn>
                <a:cxn ang="0">
                  <a:pos x="95" y="0"/>
                </a:cxn>
                <a:cxn ang="0">
                  <a:pos x="122" y="74"/>
                </a:cxn>
                <a:cxn ang="0">
                  <a:pos x="115" y="74"/>
                </a:cxn>
                <a:cxn ang="0">
                  <a:pos x="190" y="74"/>
                </a:cxn>
                <a:cxn ang="0">
                  <a:pos x="129" y="121"/>
                </a:cxn>
                <a:cxn ang="0">
                  <a:pos x="129" y="115"/>
                </a:cxn>
                <a:cxn ang="0">
                  <a:pos x="156" y="196"/>
                </a:cxn>
                <a:cxn ang="0">
                  <a:pos x="88" y="142"/>
                </a:cxn>
                <a:cxn ang="0">
                  <a:pos x="101" y="142"/>
                </a:cxn>
                <a:cxn ang="0">
                  <a:pos x="34" y="196"/>
                </a:cxn>
                <a:cxn ang="0">
                  <a:pos x="61" y="115"/>
                </a:cxn>
                <a:cxn ang="0">
                  <a:pos x="61" y="121"/>
                </a:cxn>
                <a:cxn ang="0">
                  <a:pos x="0" y="74"/>
                </a:cxn>
                <a:cxn ang="0">
                  <a:pos x="74" y="115"/>
                </a:cxn>
                <a:cxn ang="0">
                  <a:pos x="54" y="176"/>
                </a:cxn>
                <a:cxn ang="0">
                  <a:pos x="40" y="169"/>
                </a:cxn>
                <a:cxn ang="0">
                  <a:pos x="95" y="128"/>
                </a:cxn>
                <a:cxn ang="0">
                  <a:pos x="149" y="169"/>
                </a:cxn>
                <a:cxn ang="0">
                  <a:pos x="135" y="176"/>
                </a:cxn>
                <a:cxn ang="0">
                  <a:pos x="115" y="115"/>
                </a:cxn>
                <a:cxn ang="0">
                  <a:pos x="169" y="74"/>
                </a:cxn>
                <a:cxn ang="0">
                  <a:pos x="169" y="88"/>
                </a:cxn>
                <a:cxn ang="0">
                  <a:pos x="108" y="88"/>
                </a:cxn>
                <a:cxn ang="0">
                  <a:pos x="88" y="20"/>
                </a:cxn>
                <a:cxn ang="0">
                  <a:pos x="101" y="20"/>
                </a:cxn>
                <a:cxn ang="0">
                  <a:pos x="81" y="88"/>
                </a:cxn>
                <a:cxn ang="0">
                  <a:pos x="20" y="88"/>
                </a:cxn>
                <a:cxn ang="0">
                  <a:pos x="20" y="74"/>
                </a:cxn>
                <a:cxn ang="0">
                  <a:pos x="74" y="115"/>
                </a:cxn>
              </a:cxnLst>
              <a:rect l="0" t="0" r="r" b="b"/>
              <a:pathLst>
                <a:path w="190" h="196">
                  <a:moveTo>
                    <a:pt x="0" y="74"/>
                  </a:moveTo>
                  <a:lnTo>
                    <a:pt x="74" y="74"/>
                  </a:lnTo>
                  <a:lnTo>
                    <a:pt x="68" y="74"/>
                  </a:lnTo>
                  <a:lnTo>
                    <a:pt x="95" y="0"/>
                  </a:lnTo>
                  <a:lnTo>
                    <a:pt x="122" y="74"/>
                  </a:lnTo>
                  <a:lnTo>
                    <a:pt x="115" y="74"/>
                  </a:lnTo>
                  <a:lnTo>
                    <a:pt x="190" y="74"/>
                  </a:lnTo>
                  <a:lnTo>
                    <a:pt x="129" y="121"/>
                  </a:lnTo>
                  <a:lnTo>
                    <a:pt x="129" y="115"/>
                  </a:lnTo>
                  <a:lnTo>
                    <a:pt x="156" y="196"/>
                  </a:lnTo>
                  <a:lnTo>
                    <a:pt x="88" y="142"/>
                  </a:lnTo>
                  <a:lnTo>
                    <a:pt x="101" y="142"/>
                  </a:lnTo>
                  <a:lnTo>
                    <a:pt x="34" y="196"/>
                  </a:lnTo>
                  <a:lnTo>
                    <a:pt x="61" y="115"/>
                  </a:lnTo>
                  <a:lnTo>
                    <a:pt x="61" y="121"/>
                  </a:lnTo>
                  <a:lnTo>
                    <a:pt x="0" y="74"/>
                  </a:lnTo>
                  <a:close/>
                  <a:moveTo>
                    <a:pt x="74" y="115"/>
                  </a:moveTo>
                  <a:lnTo>
                    <a:pt x="54" y="176"/>
                  </a:lnTo>
                  <a:lnTo>
                    <a:pt x="40" y="169"/>
                  </a:lnTo>
                  <a:lnTo>
                    <a:pt x="95" y="128"/>
                  </a:lnTo>
                  <a:lnTo>
                    <a:pt x="149" y="169"/>
                  </a:lnTo>
                  <a:lnTo>
                    <a:pt x="135" y="176"/>
                  </a:lnTo>
                  <a:lnTo>
                    <a:pt x="115" y="115"/>
                  </a:lnTo>
                  <a:lnTo>
                    <a:pt x="169" y="74"/>
                  </a:lnTo>
                  <a:lnTo>
                    <a:pt x="169" y="88"/>
                  </a:lnTo>
                  <a:lnTo>
                    <a:pt x="108" y="88"/>
                  </a:lnTo>
                  <a:lnTo>
                    <a:pt x="88" y="20"/>
                  </a:lnTo>
                  <a:lnTo>
                    <a:pt x="101" y="20"/>
                  </a:lnTo>
                  <a:lnTo>
                    <a:pt x="81" y="88"/>
                  </a:lnTo>
                  <a:lnTo>
                    <a:pt x="20" y="88"/>
                  </a:lnTo>
                  <a:lnTo>
                    <a:pt x="20" y="74"/>
                  </a:lnTo>
                  <a:lnTo>
                    <a:pt x="74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20" name="Rectangle 80"/>
            <p:cNvSpPr>
              <a:spLocks noChangeArrowheads="1"/>
            </p:cNvSpPr>
            <p:nvPr/>
          </p:nvSpPr>
          <p:spPr bwMode="auto">
            <a:xfrm>
              <a:off x="2718" y="1826"/>
              <a:ext cx="726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R. Molinié, U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21" name="Rectangle 81"/>
            <p:cNvSpPr>
              <a:spLocks noChangeArrowheads="1"/>
            </p:cNvSpPr>
            <p:nvPr/>
          </p:nvSpPr>
          <p:spPr bwMode="auto">
            <a:xfrm>
              <a:off x="3355" y="1826"/>
              <a:ext cx="109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-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22" name="Rectangle 82"/>
            <p:cNvSpPr>
              <a:spLocks noChangeArrowheads="1"/>
            </p:cNvSpPr>
            <p:nvPr/>
          </p:nvSpPr>
          <p:spPr bwMode="auto">
            <a:xfrm>
              <a:off x="3396" y="1826"/>
              <a:ext cx="454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Amiens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29" name="Rectangle 89"/>
            <p:cNvSpPr>
              <a:spLocks noChangeArrowheads="1"/>
            </p:cNvSpPr>
            <p:nvPr/>
          </p:nvSpPr>
          <p:spPr bwMode="auto">
            <a:xfrm>
              <a:off x="924" y="2160"/>
              <a:ext cx="128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A. 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0" name="Rectangle 90"/>
            <p:cNvSpPr>
              <a:spLocks noChangeArrowheads="1"/>
            </p:cNvSpPr>
            <p:nvPr/>
          </p:nvSpPr>
          <p:spPr bwMode="auto">
            <a:xfrm>
              <a:off x="1026" y="2160"/>
              <a:ext cx="678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Verdu_Brüker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1" name="Rectangle 91"/>
            <p:cNvSpPr>
              <a:spLocks noChangeArrowheads="1"/>
            </p:cNvSpPr>
            <p:nvPr/>
          </p:nvSpPr>
          <p:spPr bwMode="auto">
            <a:xfrm>
              <a:off x="1743" y="2160"/>
              <a:ext cx="536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daltonics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2" name="Rectangle 92"/>
            <p:cNvSpPr>
              <a:spLocks noChangeArrowheads="1"/>
            </p:cNvSpPr>
            <p:nvPr/>
          </p:nvSpPr>
          <p:spPr bwMode="auto">
            <a:xfrm>
              <a:off x="3993" y="825"/>
              <a:ext cx="129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,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3" name="Rectangle 93"/>
            <p:cNvSpPr>
              <a:spLocks noChangeArrowheads="1"/>
            </p:cNvSpPr>
            <p:nvPr/>
          </p:nvSpPr>
          <p:spPr bwMode="auto">
            <a:xfrm>
              <a:off x="2245" y="2160"/>
              <a:ext cx="368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Les </a:t>
              </a:r>
              <a:r>
                <a:rPr kumimoji="0" lang="fr-FR" sz="15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Ulis</a:t>
              </a:r>
              <a:endPara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6" name="Freeform 96"/>
            <p:cNvSpPr>
              <a:spLocks noEditPoints="1"/>
            </p:cNvSpPr>
            <p:nvPr/>
          </p:nvSpPr>
          <p:spPr bwMode="auto">
            <a:xfrm>
              <a:off x="2840" y="3394"/>
              <a:ext cx="197" cy="196"/>
            </a:xfrm>
            <a:custGeom>
              <a:avLst/>
              <a:gdLst/>
              <a:ahLst/>
              <a:cxnLst>
                <a:cxn ang="0">
                  <a:pos x="0" y="74"/>
                </a:cxn>
                <a:cxn ang="0">
                  <a:pos x="81" y="74"/>
                </a:cxn>
                <a:cxn ang="0">
                  <a:pos x="75" y="74"/>
                </a:cxn>
                <a:cxn ang="0">
                  <a:pos x="102" y="0"/>
                </a:cxn>
                <a:cxn ang="0">
                  <a:pos x="122" y="74"/>
                </a:cxn>
                <a:cxn ang="0">
                  <a:pos x="115" y="74"/>
                </a:cxn>
                <a:cxn ang="0">
                  <a:pos x="197" y="74"/>
                </a:cxn>
                <a:cxn ang="0">
                  <a:pos x="136" y="122"/>
                </a:cxn>
                <a:cxn ang="0">
                  <a:pos x="136" y="115"/>
                </a:cxn>
                <a:cxn ang="0">
                  <a:pos x="163" y="196"/>
                </a:cxn>
                <a:cxn ang="0">
                  <a:pos x="95" y="142"/>
                </a:cxn>
                <a:cxn ang="0">
                  <a:pos x="102" y="142"/>
                </a:cxn>
                <a:cxn ang="0">
                  <a:pos x="41" y="196"/>
                </a:cxn>
                <a:cxn ang="0">
                  <a:pos x="61" y="115"/>
                </a:cxn>
                <a:cxn ang="0">
                  <a:pos x="68" y="122"/>
                </a:cxn>
                <a:cxn ang="0">
                  <a:pos x="0" y="74"/>
                </a:cxn>
                <a:cxn ang="0">
                  <a:pos x="81" y="115"/>
                </a:cxn>
                <a:cxn ang="0">
                  <a:pos x="61" y="176"/>
                </a:cxn>
                <a:cxn ang="0">
                  <a:pos x="47" y="169"/>
                </a:cxn>
                <a:cxn ang="0">
                  <a:pos x="102" y="128"/>
                </a:cxn>
                <a:cxn ang="0">
                  <a:pos x="149" y="169"/>
                </a:cxn>
                <a:cxn ang="0">
                  <a:pos x="142" y="176"/>
                </a:cxn>
                <a:cxn ang="0">
                  <a:pos x="122" y="115"/>
                </a:cxn>
                <a:cxn ang="0">
                  <a:pos x="169" y="74"/>
                </a:cxn>
                <a:cxn ang="0">
                  <a:pos x="176" y="88"/>
                </a:cxn>
                <a:cxn ang="0">
                  <a:pos x="115" y="88"/>
                </a:cxn>
                <a:cxn ang="0">
                  <a:pos x="95" y="20"/>
                </a:cxn>
                <a:cxn ang="0">
                  <a:pos x="108" y="20"/>
                </a:cxn>
                <a:cxn ang="0">
                  <a:pos x="88" y="88"/>
                </a:cxn>
                <a:cxn ang="0">
                  <a:pos x="20" y="88"/>
                </a:cxn>
                <a:cxn ang="0">
                  <a:pos x="27" y="74"/>
                </a:cxn>
                <a:cxn ang="0">
                  <a:pos x="81" y="115"/>
                </a:cxn>
              </a:cxnLst>
              <a:rect l="0" t="0" r="r" b="b"/>
              <a:pathLst>
                <a:path w="197" h="196">
                  <a:moveTo>
                    <a:pt x="0" y="74"/>
                  </a:moveTo>
                  <a:lnTo>
                    <a:pt x="81" y="74"/>
                  </a:lnTo>
                  <a:lnTo>
                    <a:pt x="75" y="74"/>
                  </a:lnTo>
                  <a:lnTo>
                    <a:pt x="102" y="0"/>
                  </a:lnTo>
                  <a:lnTo>
                    <a:pt x="122" y="74"/>
                  </a:lnTo>
                  <a:lnTo>
                    <a:pt x="115" y="74"/>
                  </a:lnTo>
                  <a:lnTo>
                    <a:pt x="197" y="74"/>
                  </a:lnTo>
                  <a:lnTo>
                    <a:pt x="136" y="122"/>
                  </a:lnTo>
                  <a:lnTo>
                    <a:pt x="136" y="115"/>
                  </a:lnTo>
                  <a:lnTo>
                    <a:pt x="163" y="196"/>
                  </a:lnTo>
                  <a:lnTo>
                    <a:pt x="95" y="142"/>
                  </a:lnTo>
                  <a:lnTo>
                    <a:pt x="102" y="142"/>
                  </a:lnTo>
                  <a:lnTo>
                    <a:pt x="41" y="196"/>
                  </a:lnTo>
                  <a:lnTo>
                    <a:pt x="61" y="115"/>
                  </a:lnTo>
                  <a:lnTo>
                    <a:pt x="68" y="122"/>
                  </a:lnTo>
                  <a:lnTo>
                    <a:pt x="0" y="74"/>
                  </a:lnTo>
                  <a:close/>
                  <a:moveTo>
                    <a:pt x="81" y="115"/>
                  </a:moveTo>
                  <a:lnTo>
                    <a:pt x="61" y="176"/>
                  </a:lnTo>
                  <a:lnTo>
                    <a:pt x="47" y="169"/>
                  </a:lnTo>
                  <a:lnTo>
                    <a:pt x="102" y="128"/>
                  </a:lnTo>
                  <a:lnTo>
                    <a:pt x="149" y="169"/>
                  </a:lnTo>
                  <a:lnTo>
                    <a:pt x="142" y="176"/>
                  </a:lnTo>
                  <a:lnTo>
                    <a:pt x="122" y="115"/>
                  </a:lnTo>
                  <a:lnTo>
                    <a:pt x="169" y="74"/>
                  </a:lnTo>
                  <a:lnTo>
                    <a:pt x="176" y="88"/>
                  </a:lnTo>
                  <a:lnTo>
                    <a:pt x="115" y="88"/>
                  </a:lnTo>
                  <a:lnTo>
                    <a:pt x="95" y="20"/>
                  </a:lnTo>
                  <a:lnTo>
                    <a:pt x="108" y="20"/>
                  </a:lnTo>
                  <a:lnTo>
                    <a:pt x="88" y="88"/>
                  </a:lnTo>
                  <a:lnTo>
                    <a:pt x="20" y="88"/>
                  </a:lnTo>
                  <a:lnTo>
                    <a:pt x="27" y="74"/>
                  </a:lnTo>
                  <a:lnTo>
                    <a:pt x="81" y="115"/>
                  </a:lnTo>
                  <a:close/>
                </a:path>
              </a:pathLst>
            </a:custGeom>
            <a:solidFill>
              <a:srgbClr val="385D8A"/>
            </a:solidFill>
            <a:ln w="0">
              <a:solidFill>
                <a:srgbClr val="385D8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0337" name="Rectangle 97"/>
            <p:cNvSpPr>
              <a:spLocks noChangeArrowheads="1"/>
            </p:cNvSpPr>
            <p:nvPr/>
          </p:nvSpPr>
          <p:spPr bwMode="auto">
            <a:xfrm>
              <a:off x="2223" y="3556"/>
              <a:ext cx="807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G Mazerolles, 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8" name="Rectangle 98"/>
            <p:cNvSpPr>
              <a:spLocks noChangeArrowheads="1"/>
            </p:cNvSpPr>
            <p:nvPr/>
          </p:nvSpPr>
          <p:spPr bwMode="auto">
            <a:xfrm>
              <a:off x="1891" y="3698"/>
              <a:ext cx="495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supagro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39" name="Rectangle 99"/>
            <p:cNvSpPr>
              <a:spLocks noChangeArrowheads="1"/>
            </p:cNvSpPr>
            <p:nvPr/>
          </p:nvSpPr>
          <p:spPr bwMode="auto">
            <a:xfrm>
              <a:off x="2284" y="3698"/>
              <a:ext cx="732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  <a:cs typeface="Arial" pitchFamily="34" charset="0"/>
                </a:rPr>
                <a:t>, Montpellier</a:t>
              </a:r>
              <a:endParaRPr kumimoji="0" 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97" name="Image 96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7092280" y="980728"/>
            <a:ext cx="1505445" cy="1152128"/>
          </a:xfrm>
          <a:prstGeom prst="rect">
            <a:avLst/>
          </a:prstGeom>
        </p:spPr>
      </p:pic>
      <p:grpSp>
        <p:nvGrpSpPr>
          <p:cNvPr id="3" name="Groupe 97"/>
          <p:cNvGrpSpPr/>
          <p:nvPr/>
        </p:nvGrpSpPr>
        <p:grpSpPr>
          <a:xfrm>
            <a:off x="7452320" y="2420888"/>
            <a:ext cx="1080120" cy="1224136"/>
            <a:chOff x="2627784" y="260648"/>
            <a:chExt cx="5760640" cy="6352858"/>
          </a:xfrm>
        </p:grpSpPr>
        <p:pic>
          <p:nvPicPr>
            <p:cNvPr id="99" name="Picture 4" descr="https://encrypted-tbn0.gstatic.com/images?q=tbn:ANd9GcQfRJNPv3xl76Li30kRKjDGJodrOChvCSYBoLG9Zr5PG4ILdZS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27784" y="260648"/>
              <a:ext cx="5760640" cy="6352858"/>
            </a:xfrm>
            <a:prstGeom prst="rect">
              <a:avLst/>
            </a:prstGeom>
            <a:noFill/>
          </p:spPr>
        </p:pic>
        <p:pic>
          <p:nvPicPr>
            <p:cNvPr id="100" name="Image 99" descr="LOGOS.emf"/>
            <p:cNvPicPr>
              <a:picLocks noChangeAspect="1"/>
            </p:cNvPicPr>
            <p:nvPr/>
          </p:nvPicPr>
          <p:blipFill>
            <a:blip r:embed="rId2" cstate="print"/>
            <a:srcRect l="11413" t="11058" r="11413" b="10006"/>
            <a:stretch>
              <a:fillRect/>
            </a:stretch>
          </p:blipFill>
          <p:spPr>
            <a:xfrm>
              <a:off x="4644008" y="1196752"/>
              <a:ext cx="648072" cy="495974"/>
            </a:xfrm>
            <a:prstGeom prst="rect">
              <a:avLst/>
            </a:prstGeom>
          </p:spPr>
        </p:pic>
      </p:grpSp>
      <p:sp>
        <p:nvSpPr>
          <p:cNvPr id="101" name="Freeform 96"/>
          <p:cNvSpPr>
            <a:spLocks noEditPoints="1"/>
          </p:cNvSpPr>
          <p:nvPr/>
        </p:nvSpPr>
        <p:spPr bwMode="auto">
          <a:xfrm>
            <a:off x="5025950" y="5331048"/>
            <a:ext cx="312738" cy="311150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81" y="74"/>
              </a:cxn>
              <a:cxn ang="0">
                <a:pos x="75" y="74"/>
              </a:cxn>
              <a:cxn ang="0">
                <a:pos x="102" y="0"/>
              </a:cxn>
              <a:cxn ang="0">
                <a:pos x="122" y="74"/>
              </a:cxn>
              <a:cxn ang="0">
                <a:pos x="115" y="74"/>
              </a:cxn>
              <a:cxn ang="0">
                <a:pos x="197" y="74"/>
              </a:cxn>
              <a:cxn ang="0">
                <a:pos x="136" y="122"/>
              </a:cxn>
              <a:cxn ang="0">
                <a:pos x="136" y="115"/>
              </a:cxn>
              <a:cxn ang="0">
                <a:pos x="163" y="196"/>
              </a:cxn>
              <a:cxn ang="0">
                <a:pos x="95" y="142"/>
              </a:cxn>
              <a:cxn ang="0">
                <a:pos x="102" y="142"/>
              </a:cxn>
              <a:cxn ang="0">
                <a:pos x="41" y="196"/>
              </a:cxn>
              <a:cxn ang="0">
                <a:pos x="61" y="115"/>
              </a:cxn>
              <a:cxn ang="0">
                <a:pos x="68" y="122"/>
              </a:cxn>
              <a:cxn ang="0">
                <a:pos x="0" y="74"/>
              </a:cxn>
              <a:cxn ang="0">
                <a:pos x="81" y="115"/>
              </a:cxn>
              <a:cxn ang="0">
                <a:pos x="61" y="176"/>
              </a:cxn>
              <a:cxn ang="0">
                <a:pos x="47" y="169"/>
              </a:cxn>
              <a:cxn ang="0">
                <a:pos x="102" y="128"/>
              </a:cxn>
              <a:cxn ang="0">
                <a:pos x="149" y="169"/>
              </a:cxn>
              <a:cxn ang="0">
                <a:pos x="142" y="176"/>
              </a:cxn>
              <a:cxn ang="0">
                <a:pos x="122" y="115"/>
              </a:cxn>
              <a:cxn ang="0">
                <a:pos x="169" y="74"/>
              </a:cxn>
              <a:cxn ang="0">
                <a:pos x="176" y="88"/>
              </a:cxn>
              <a:cxn ang="0">
                <a:pos x="115" y="88"/>
              </a:cxn>
              <a:cxn ang="0">
                <a:pos x="95" y="20"/>
              </a:cxn>
              <a:cxn ang="0">
                <a:pos x="108" y="20"/>
              </a:cxn>
              <a:cxn ang="0">
                <a:pos x="88" y="88"/>
              </a:cxn>
              <a:cxn ang="0">
                <a:pos x="20" y="88"/>
              </a:cxn>
              <a:cxn ang="0">
                <a:pos x="27" y="74"/>
              </a:cxn>
              <a:cxn ang="0">
                <a:pos x="81" y="115"/>
              </a:cxn>
            </a:cxnLst>
            <a:rect l="0" t="0" r="r" b="b"/>
            <a:pathLst>
              <a:path w="197" h="196">
                <a:moveTo>
                  <a:pt x="0" y="74"/>
                </a:moveTo>
                <a:lnTo>
                  <a:pt x="81" y="74"/>
                </a:lnTo>
                <a:lnTo>
                  <a:pt x="75" y="74"/>
                </a:lnTo>
                <a:lnTo>
                  <a:pt x="102" y="0"/>
                </a:lnTo>
                <a:lnTo>
                  <a:pt x="122" y="74"/>
                </a:lnTo>
                <a:lnTo>
                  <a:pt x="115" y="74"/>
                </a:lnTo>
                <a:lnTo>
                  <a:pt x="197" y="74"/>
                </a:lnTo>
                <a:lnTo>
                  <a:pt x="136" y="122"/>
                </a:lnTo>
                <a:lnTo>
                  <a:pt x="136" y="115"/>
                </a:lnTo>
                <a:lnTo>
                  <a:pt x="163" y="196"/>
                </a:lnTo>
                <a:lnTo>
                  <a:pt x="95" y="142"/>
                </a:lnTo>
                <a:lnTo>
                  <a:pt x="102" y="142"/>
                </a:lnTo>
                <a:lnTo>
                  <a:pt x="41" y="196"/>
                </a:lnTo>
                <a:lnTo>
                  <a:pt x="61" y="115"/>
                </a:lnTo>
                <a:lnTo>
                  <a:pt x="68" y="122"/>
                </a:lnTo>
                <a:lnTo>
                  <a:pt x="0" y="74"/>
                </a:lnTo>
                <a:close/>
                <a:moveTo>
                  <a:pt x="81" y="115"/>
                </a:moveTo>
                <a:lnTo>
                  <a:pt x="61" y="176"/>
                </a:lnTo>
                <a:lnTo>
                  <a:pt x="47" y="169"/>
                </a:lnTo>
                <a:lnTo>
                  <a:pt x="102" y="128"/>
                </a:lnTo>
                <a:lnTo>
                  <a:pt x="149" y="169"/>
                </a:lnTo>
                <a:lnTo>
                  <a:pt x="142" y="176"/>
                </a:lnTo>
                <a:lnTo>
                  <a:pt x="122" y="115"/>
                </a:lnTo>
                <a:lnTo>
                  <a:pt x="169" y="74"/>
                </a:lnTo>
                <a:lnTo>
                  <a:pt x="176" y="88"/>
                </a:lnTo>
                <a:lnTo>
                  <a:pt x="115" y="88"/>
                </a:lnTo>
                <a:lnTo>
                  <a:pt x="95" y="20"/>
                </a:lnTo>
                <a:lnTo>
                  <a:pt x="108" y="20"/>
                </a:lnTo>
                <a:lnTo>
                  <a:pt x="88" y="88"/>
                </a:lnTo>
                <a:lnTo>
                  <a:pt x="20" y="88"/>
                </a:lnTo>
                <a:lnTo>
                  <a:pt x="27" y="74"/>
                </a:lnTo>
                <a:lnTo>
                  <a:pt x="81" y="115"/>
                </a:lnTo>
                <a:close/>
              </a:path>
            </a:pathLst>
          </a:custGeom>
          <a:solidFill>
            <a:srgbClr val="385D8A"/>
          </a:solidFill>
          <a:ln w="0">
            <a:solidFill>
              <a:srgbClr val="385D8A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8" name="Image 97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103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Method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547664" y="1052736"/>
            <a:ext cx="1224136" cy="1008112"/>
          </a:xfrm>
          <a:prstGeom prst="ellipse">
            <a:avLst/>
          </a:prstGeom>
          <a:gradFill flip="none" rotWithShape="1">
            <a:gsLst>
              <a:gs pos="49000">
                <a:schemeClr val="tx1"/>
              </a:gs>
              <a:gs pos="52000">
                <a:srgbClr val="FF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5940152" y="1052736"/>
            <a:ext cx="1224136" cy="1008112"/>
          </a:xfrm>
          <a:prstGeom prst="ellipse">
            <a:avLst/>
          </a:prstGeom>
          <a:gradFill flip="none" rotWithShape="1">
            <a:gsLst>
              <a:gs pos="49000">
                <a:schemeClr val="tx1">
                  <a:alpha val="55000"/>
                </a:schemeClr>
              </a:gs>
              <a:gs pos="52000">
                <a:srgbClr val="FF0000">
                  <a:alpha val="48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1043608" y="2204864"/>
            <a:ext cx="241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High </a:t>
            </a:r>
            <a:r>
              <a:rPr lang="fr-FR" b="1" dirty="0" err="1"/>
              <a:t>biological</a:t>
            </a:r>
            <a:r>
              <a:rPr lang="fr-FR" b="1" dirty="0"/>
              <a:t> </a:t>
            </a:r>
            <a:r>
              <a:rPr lang="fr-FR" b="1" dirty="0" err="1"/>
              <a:t>contrast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436096" y="2204864"/>
            <a:ext cx="23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Low</a:t>
            </a:r>
            <a:r>
              <a:rPr lang="fr-FR" b="1" dirty="0"/>
              <a:t> </a:t>
            </a:r>
            <a:r>
              <a:rPr lang="fr-FR" b="1" dirty="0" err="1"/>
              <a:t>biological</a:t>
            </a:r>
            <a:r>
              <a:rPr lang="fr-FR" b="1" dirty="0"/>
              <a:t> </a:t>
            </a:r>
            <a:r>
              <a:rPr lang="fr-FR" b="1" dirty="0" err="1"/>
              <a:t>contrast</a:t>
            </a:r>
            <a:endParaRPr lang="fr-FR" b="1" dirty="0"/>
          </a:p>
        </p:txBody>
      </p:sp>
      <p:grpSp>
        <p:nvGrpSpPr>
          <p:cNvPr id="28" name="Groupe 27"/>
          <p:cNvGrpSpPr/>
          <p:nvPr/>
        </p:nvGrpSpPr>
        <p:grpSpPr>
          <a:xfrm>
            <a:off x="467544" y="2564904"/>
            <a:ext cx="7764989" cy="1242720"/>
            <a:chOff x="467544" y="2564904"/>
            <a:chExt cx="7764989" cy="1242720"/>
          </a:xfrm>
        </p:grpSpPr>
        <p:cxnSp>
          <p:nvCxnSpPr>
            <p:cNvPr id="17" name="Connecteur droit avec flèche 16"/>
            <p:cNvCxnSpPr/>
            <p:nvPr/>
          </p:nvCxnSpPr>
          <p:spPr>
            <a:xfrm>
              <a:off x="2195736" y="2564904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7"/>
            <p:cNvSpPr txBox="1">
              <a:spLocks noChangeArrowheads="1"/>
            </p:cNvSpPr>
            <p:nvPr/>
          </p:nvSpPr>
          <p:spPr bwMode="auto">
            <a:xfrm>
              <a:off x="467544" y="3068960"/>
              <a:ext cx="3456384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fr-FR" sz="1400" b="1" dirty="0" err="1"/>
                <a:t>Analysis</a:t>
              </a:r>
              <a:r>
                <a:rPr lang="fr-FR" sz="1400" b="1" dirty="0"/>
                <a:t> of urines </a:t>
              </a:r>
              <a:r>
                <a:rPr lang="fr-FR" sz="1400" b="1" dirty="0" err="1"/>
                <a:t>provided</a:t>
              </a:r>
              <a:r>
                <a:rPr lang="fr-FR" sz="1400" b="1" dirty="0"/>
                <a:t> by 14 </a:t>
              </a:r>
              <a:r>
                <a:rPr lang="fr-FR" sz="1400" b="1" dirty="0" err="1"/>
                <a:t>healthy</a:t>
              </a:r>
              <a:r>
                <a:rPr lang="fr-FR" sz="1400" b="1" dirty="0"/>
                <a:t> </a:t>
              </a:r>
              <a:r>
                <a:rPr lang="fr-FR" sz="1400" b="1" dirty="0" err="1"/>
                <a:t>volunteers</a:t>
              </a:r>
              <a:r>
                <a:rPr lang="fr-FR" sz="1400" b="1" dirty="0"/>
                <a:t> </a:t>
              </a:r>
              <a:r>
                <a:rPr lang="fr-FR" sz="1400" b="1" dirty="0" err="1"/>
                <a:t>spiked</a:t>
              </a:r>
              <a:r>
                <a:rPr lang="fr-FR" sz="1400" b="1" dirty="0"/>
                <a:t> </a:t>
              </a:r>
              <a:r>
                <a:rPr lang="fr-FR" sz="1400" b="1" dirty="0" err="1"/>
                <a:t>with</a:t>
              </a:r>
              <a:r>
                <a:rPr lang="fr-FR" sz="1400" b="1" dirty="0"/>
                <a:t> 32 standard </a:t>
              </a:r>
              <a:r>
                <a:rPr lang="fr-FR" sz="1400" b="1" dirty="0" err="1"/>
                <a:t>metabolites</a:t>
              </a:r>
              <a:r>
                <a:rPr lang="fr-FR" sz="1400" b="1" dirty="0"/>
                <a:t> vs non-</a:t>
              </a:r>
              <a:r>
                <a:rPr lang="fr-FR" sz="1400" b="1" dirty="0" err="1"/>
                <a:t>spiked</a:t>
              </a:r>
              <a:r>
                <a:rPr lang="fr-FR" sz="1400" b="1" dirty="0"/>
                <a:t> urines</a:t>
              </a:r>
            </a:p>
          </p:txBody>
        </p:sp>
        <p:sp>
          <p:nvSpPr>
            <p:cNvPr id="19" name="ZoneTexte 6"/>
            <p:cNvSpPr txBox="1">
              <a:spLocks noChangeArrowheads="1"/>
            </p:cNvSpPr>
            <p:nvPr/>
          </p:nvSpPr>
          <p:spPr bwMode="auto">
            <a:xfrm>
              <a:off x="4992173" y="3105343"/>
              <a:ext cx="324036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fr-FR" sz="1400" b="1" dirty="0" err="1"/>
                <a:t>Dietary</a:t>
              </a:r>
              <a:r>
                <a:rPr lang="fr-FR" sz="1400" b="1" dirty="0"/>
                <a:t> </a:t>
              </a:r>
              <a:r>
                <a:rPr lang="fr-FR" sz="1400" b="1" dirty="0" err="1"/>
                <a:t>supplementation</a:t>
              </a:r>
              <a:r>
                <a:rPr lang="fr-FR" sz="1400" b="1" dirty="0"/>
                <a:t> of  20 rats </a:t>
              </a:r>
              <a:r>
                <a:rPr lang="fr-FR" sz="1400" b="1" dirty="0" err="1"/>
                <a:t>with</a:t>
              </a:r>
              <a:r>
                <a:rPr lang="fr-FR" sz="1400" b="1" dirty="0"/>
                <a:t> 20kUI vit D x 6 </a:t>
              </a:r>
              <a:r>
                <a:rPr lang="fr-FR" sz="1400" b="1" dirty="0" err="1"/>
                <a:t>weeks</a:t>
              </a:r>
              <a:r>
                <a:rPr lang="fr-FR" sz="1400" b="1" dirty="0"/>
                <a:t>  vs control rats</a:t>
              </a:r>
            </a:p>
          </p:txBody>
        </p:sp>
        <p:cxnSp>
          <p:nvCxnSpPr>
            <p:cNvPr id="20" name="Connecteur droit avec flèche 19"/>
            <p:cNvCxnSpPr/>
            <p:nvPr/>
          </p:nvCxnSpPr>
          <p:spPr>
            <a:xfrm>
              <a:off x="6588224" y="2564904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28"/>
          <p:cNvGrpSpPr/>
          <p:nvPr/>
        </p:nvGrpSpPr>
        <p:grpSpPr>
          <a:xfrm>
            <a:off x="1031733" y="3789040"/>
            <a:ext cx="6996651" cy="1984286"/>
            <a:chOff x="1031733" y="3789040"/>
            <a:chExt cx="6996651" cy="1984286"/>
          </a:xfrm>
        </p:grpSpPr>
        <p:cxnSp>
          <p:nvCxnSpPr>
            <p:cNvPr id="21" name="Connecteur droit avec flèche 20"/>
            <p:cNvCxnSpPr/>
            <p:nvPr/>
          </p:nvCxnSpPr>
          <p:spPr>
            <a:xfrm>
              <a:off x="2195736" y="3789040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/>
            <p:nvPr/>
          </p:nvCxnSpPr>
          <p:spPr>
            <a:xfrm>
              <a:off x="6588224" y="3789040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ZoneTexte 22"/>
            <p:cNvSpPr txBox="1"/>
            <p:nvPr/>
          </p:nvSpPr>
          <p:spPr>
            <a:xfrm>
              <a:off x="1031733" y="4304971"/>
              <a:ext cx="23511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err="1"/>
                <a:t>Untargeted</a:t>
              </a:r>
              <a:r>
                <a:rPr lang="fr-FR" sz="1400" b="1" dirty="0"/>
                <a:t> </a:t>
              </a:r>
              <a:r>
                <a:rPr lang="fr-FR" sz="1400" b="1" dirty="0" err="1"/>
                <a:t>analysis</a:t>
              </a:r>
              <a:r>
                <a:rPr lang="fr-FR" sz="1400" b="1" dirty="0"/>
                <a:t> of urines</a:t>
              </a: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5375963" y="4293096"/>
              <a:ext cx="2423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err="1"/>
                <a:t>Untargeted</a:t>
              </a:r>
              <a:r>
                <a:rPr lang="fr-FR" sz="1400" b="1" dirty="0"/>
                <a:t> </a:t>
              </a:r>
              <a:r>
                <a:rPr lang="fr-FR" sz="1400" b="1" dirty="0" err="1"/>
                <a:t>analysis</a:t>
              </a:r>
              <a:r>
                <a:rPr lang="fr-FR" sz="1400" b="1" dirty="0"/>
                <a:t> of plasma</a:t>
              </a:r>
            </a:p>
          </p:txBody>
        </p:sp>
        <p:cxnSp>
          <p:nvCxnSpPr>
            <p:cNvPr id="25" name="Connecteur droit avec flèche 24"/>
            <p:cNvCxnSpPr/>
            <p:nvPr/>
          </p:nvCxnSpPr>
          <p:spPr>
            <a:xfrm>
              <a:off x="2195736" y="4725144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/>
            <p:cNvCxnSpPr/>
            <p:nvPr/>
          </p:nvCxnSpPr>
          <p:spPr>
            <a:xfrm>
              <a:off x="6588224" y="4725144"/>
              <a:ext cx="0" cy="43204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15"/>
            <p:cNvSpPr txBox="1">
              <a:spLocks noChangeArrowheads="1"/>
            </p:cNvSpPr>
            <p:nvPr/>
          </p:nvSpPr>
          <p:spPr bwMode="auto">
            <a:xfrm>
              <a:off x="1187624" y="5373216"/>
              <a:ext cx="684076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fr-FR" sz="2000" b="1" dirty="0"/>
                <a:t>Data extraction and inter-</a:t>
              </a:r>
              <a:r>
                <a:rPr lang="fr-FR" sz="2000" b="1" dirty="0" err="1"/>
                <a:t>platform</a:t>
              </a:r>
              <a:r>
                <a:rPr lang="fr-FR" sz="2000" b="1" dirty="0"/>
                <a:t> convergence </a:t>
              </a:r>
              <a:r>
                <a:rPr lang="fr-FR" sz="2000" b="1" dirty="0" err="1"/>
                <a:t>assessment</a:t>
              </a:r>
              <a:endParaRPr lang="fr-FR" sz="2000" b="1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5508104" y="836712"/>
            <a:ext cx="1944216" cy="136815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32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Method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683568" y="1340768"/>
            <a:ext cx="889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LCMS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67544" y="1916832"/>
            <a:ext cx="4896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high pressure LC from different vendors, different chromatographic columns used , ESI conditions, MS configurations (TOF, QTOF, orbital technology) and instrument series. All used XCMS but with different tuning; various post-processing filtering</a:t>
            </a:r>
            <a:endParaRPr lang="fr-FR" dirty="0"/>
          </a:p>
        </p:txBody>
      </p:sp>
      <p:grpSp>
        <p:nvGrpSpPr>
          <p:cNvPr id="15" name="Groupe 14"/>
          <p:cNvGrpSpPr/>
          <p:nvPr/>
        </p:nvGrpSpPr>
        <p:grpSpPr>
          <a:xfrm>
            <a:off x="5292080" y="1844824"/>
            <a:ext cx="2520280" cy="1872208"/>
            <a:chOff x="5292080" y="1844824"/>
            <a:chExt cx="2520280" cy="1872208"/>
          </a:xfrm>
        </p:grpSpPr>
        <p:sp>
          <p:nvSpPr>
            <p:cNvPr id="8" name="Accolade fermante 7"/>
            <p:cNvSpPr/>
            <p:nvPr/>
          </p:nvSpPr>
          <p:spPr>
            <a:xfrm>
              <a:off x="5292080" y="1844824"/>
              <a:ext cx="216024" cy="1872208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5508104" y="2492896"/>
              <a:ext cx="23042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Same</a:t>
              </a:r>
              <a:r>
                <a:rPr lang="fr-FR" dirty="0"/>
                <a:t> </a:t>
              </a:r>
              <a:r>
                <a:rPr lang="fr-FR" dirty="0" err="1"/>
                <a:t>metabolite</a:t>
              </a:r>
              <a:r>
                <a:rPr lang="fr-FR" dirty="0"/>
                <a:t> </a:t>
              </a:r>
              <a:r>
                <a:rPr lang="fr-FR" dirty="0" err="1"/>
                <a:t>gives</a:t>
              </a:r>
              <a:r>
                <a:rPr lang="fr-FR" dirty="0"/>
                <a:t> </a:t>
              </a:r>
              <a:r>
                <a:rPr lang="fr-FR" dirty="0" err="1"/>
                <a:t>various</a:t>
              </a:r>
              <a:r>
                <a:rPr lang="fr-FR" dirty="0"/>
                <a:t> spectral </a:t>
              </a:r>
              <a:r>
                <a:rPr lang="fr-FR" dirty="0" err="1"/>
                <a:t>features</a:t>
              </a:r>
              <a:endParaRPr lang="fr-FR" dirty="0"/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467544" y="3789040"/>
            <a:ext cx="7344816" cy="2330390"/>
            <a:chOff x="467544" y="3789040"/>
            <a:chExt cx="7344816" cy="2330390"/>
          </a:xfrm>
        </p:grpSpPr>
        <p:sp>
          <p:nvSpPr>
            <p:cNvPr id="6" name="ZoneTexte 5"/>
            <p:cNvSpPr txBox="1"/>
            <p:nvPr/>
          </p:nvSpPr>
          <p:spPr>
            <a:xfrm>
              <a:off x="755576" y="3789040"/>
              <a:ext cx="8290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NMR</a:t>
              </a:r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467544" y="4365104"/>
              <a:ext cx="48245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err="1"/>
                <a:t>Brüker</a:t>
              </a:r>
              <a:r>
                <a:rPr lang="fr-FR" dirty="0"/>
                <a:t> avance 500 or 600, </a:t>
              </a:r>
              <a:r>
                <a:rPr lang="fr-FR" baseline="30000" dirty="0"/>
                <a:t>1</a:t>
              </a:r>
              <a:r>
                <a:rPr lang="fr-FR" dirty="0"/>
                <a:t>[H]NMR </a:t>
              </a:r>
              <a:r>
                <a:rPr lang="fr-FR" dirty="0" err="1"/>
                <a:t>spectra</a:t>
              </a:r>
              <a:r>
                <a:rPr lang="fr-FR" dirty="0"/>
                <a:t> </a:t>
              </a:r>
              <a:r>
                <a:rPr lang="fr-FR" dirty="0" err="1"/>
                <a:t>recording</a:t>
              </a:r>
              <a:r>
                <a:rPr lang="fr-FR" dirty="0"/>
                <a:t> (1D NOESY), </a:t>
              </a:r>
              <a:r>
                <a:rPr lang="fr-FR" dirty="0" err="1"/>
                <a:t>deconvolution</a:t>
              </a:r>
              <a:r>
                <a:rPr lang="fr-FR" dirty="0"/>
                <a:t> </a:t>
              </a:r>
              <a:r>
                <a:rPr lang="fr-FR" dirty="0" err="1"/>
                <a:t>with</a:t>
              </a:r>
              <a:r>
                <a:rPr lang="fr-FR" dirty="0"/>
                <a:t> AMIX or in-house </a:t>
              </a:r>
              <a:r>
                <a:rPr lang="fr-FR" dirty="0" err="1"/>
                <a:t>Matlab</a:t>
              </a:r>
              <a:r>
                <a:rPr lang="fr-FR" dirty="0"/>
                <a:t> script, </a:t>
              </a:r>
              <a:r>
                <a:rPr lang="fr-FR" dirty="0" err="1"/>
                <a:t>bucketing</a:t>
              </a:r>
              <a:r>
                <a:rPr lang="fr-FR" dirty="0"/>
                <a:t> conditions </a:t>
              </a:r>
              <a:r>
                <a:rPr lang="fr-FR" dirty="0" err="1"/>
                <a:t>from</a:t>
              </a:r>
              <a:r>
                <a:rPr lang="fr-FR" dirty="0"/>
                <a:t> 0.001ppm to 0.01 and 0.04 ppm, </a:t>
              </a:r>
              <a:r>
                <a:rPr lang="fr-FR" dirty="0" err="1"/>
                <a:t>normalization</a:t>
              </a:r>
              <a:r>
                <a:rPr lang="fr-FR" dirty="0"/>
                <a:t> on total </a:t>
              </a:r>
              <a:r>
                <a:rPr lang="fr-FR" dirty="0" err="1"/>
                <a:t>bucket</a:t>
              </a:r>
              <a:r>
                <a:rPr lang="fr-FR" dirty="0"/>
                <a:t> </a:t>
              </a:r>
              <a:r>
                <a:rPr lang="fr-FR" dirty="0" err="1"/>
                <a:t>intensity</a:t>
              </a:r>
              <a:r>
                <a:rPr lang="fr-FR" dirty="0"/>
                <a:t> or on </a:t>
              </a:r>
              <a:r>
                <a:rPr lang="fr-FR" dirty="0" err="1"/>
                <a:t>external</a:t>
              </a:r>
              <a:r>
                <a:rPr lang="fr-FR" dirty="0"/>
                <a:t> TSP</a:t>
              </a:r>
            </a:p>
          </p:txBody>
        </p:sp>
        <p:grpSp>
          <p:nvGrpSpPr>
            <p:cNvPr id="16" name="Groupe 15"/>
            <p:cNvGrpSpPr/>
            <p:nvPr/>
          </p:nvGrpSpPr>
          <p:grpSpPr>
            <a:xfrm>
              <a:off x="5292080" y="4221088"/>
              <a:ext cx="2520280" cy="1872208"/>
              <a:chOff x="5292080" y="4221088"/>
              <a:chExt cx="2520280" cy="1872208"/>
            </a:xfrm>
          </p:grpSpPr>
          <p:sp>
            <p:nvSpPr>
              <p:cNvPr id="10" name="Accolade fermante 9"/>
              <p:cNvSpPr/>
              <p:nvPr/>
            </p:nvSpPr>
            <p:spPr>
              <a:xfrm>
                <a:off x="5292080" y="4221088"/>
                <a:ext cx="216024" cy="1872208"/>
              </a:xfrm>
              <a:prstGeom prst="rightBrac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ZoneTexte 10"/>
              <p:cNvSpPr txBox="1"/>
              <p:nvPr/>
            </p:nvSpPr>
            <p:spPr>
              <a:xfrm>
                <a:off x="5508104" y="4797152"/>
                <a:ext cx="230425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/>
                  <a:t>Same</a:t>
                </a:r>
                <a:r>
                  <a:rPr lang="fr-FR" dirty="0"/>
                  <a:t> </a:t>
                </a:r>
                <a:r>
                  <a:rPr lang="fr-FR" dirty="0" err="1"/>
                  <a:t>metabolite</a:t>
                </a:r>
                <a:r>
                  <a:rPr lang="fr-FR" dirty="0"/>
                  <a:t> </a:t>
                </a:r>
                <a:r>
                  <a:rPr lang="fr-FR" dirty="0" err="1"/>
                  <a:t>gives</a:t>
                </a:r>
                <a:r>
                  <a:rPr lang="fr-FR" dirty="0"/>
                  <a:t> </a:t>
                </a:r>
                <a:r>
                  <a:rPr lang="fr-FR" dirty="0" err="1"/>
                  <a:t>various</a:t>
                </a:r>
                <a:r>
                  <a:rPr lang="fr-FR" dirty="0"/>
                  <a:t> spectral </a:t>
                </a:r>
                <a:r>
                  <a:rPr lang="fr-FR" dirty="0" err="1"/>
                  <a:t>features</a:t>
                </a:r>
                <a:endParaRPr lang="fr-FR" dirty="0"/>
              </a:p>
            </p:txBody>
          </p:sp>
        </p:grpSp>
      </p:grpSp>
      <p:pic>
        <p:nvPicPr>
          <p:cNvPr id="12" name="Image 11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grpSp>
        <p:nvGrpSpPr>
          <p:cNvPr id="17" name="Groupe 16"/>
          <p:cNvGrpSpPr/>
          <p:nvPr/>
        </p:nvGrpSpPr>
        <p:grpSpPr>
          <a:xfrm>
            <a:off x="7668344" y="1772816"/>
            <a:ext cx="1144870" cy="4392488"/>
            <a:chOff x="7668344" y="1772816"/>
            <a:chExt cx="1144870" cy="4392488"/>
          </a:xfrm>
        </p:grpSpPr>
        <p:sp>
          <p:nvSpPr>
            <p:cNvPr id="13" name="Accolade fermante 12"/>
            <p:cNvSpPr/>
            <p:nvPr/>
          </p:nvSpPr>
          <p:spPr>
            <a:xfrm>
              <a:off x="7668344" y="1772816"/>
              <a:ext cx="432048" cy="4392488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/>
            <p:cNvSpPr txBox="1"/>
            <p:nvPr/>
          </p:nvSpPr>
          <p:spPr>
            <a:xfrm rot="5400000">
              <a:off x="7121897" y="3663426"/>
              <a:ext cx="27363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Same</a:t>
              </a:r>
              <a:r>
                <a:rPr lang="fr-FR" dirty="0"/>
                <a:t> </a:t>
              </a:r>
              <a:r>
                <a:rPr lang="fr-FR" dirty="0" err="1"/>
                <a:t>metabolite</a:t>
              </a:r>
              <a:r>
                <a:rPr lang="fr-FR" dirty="0"/>
                <a:t> </a:t>
              </a:r>
              <a:r>
                <a:rPr lang="fr-FR" dirty="0" err="1"/>
                <a:t>gives</a:t>
              </a:r>
              <a:r>
                <a:rPr lang="fr-FR" dirty="0"/>
                <a:t> </a:t>
              </a:r>
              <a:r>
                <a:rPr lang="fr-FR" dirty="0" err="1"/>
                <a:t>various</a:t>
              </a:r>
              <a:r>
                <a:rPr lang="fr-FR" dirty="0"/>
                <a:t> spectral </a:t>
              </a:r>
              <a:r>
                <a:rPr lang="fr-FR" dirty="0" err="1"/>
                <a:t>features</a:t>
              </a:r>
              <a:endParaRPr lang="fr-FR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92080" y="1772816"/>
            <a:ext cx="2376264" cy="4536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Method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6" name="Espace réservé du contenu 2"/>
          <p:cNvSpPr txBox="1">
            <a:spLocks/>
          </p:cNvSpPr>
          <p:nvPr/>
        </p:nvSpPr>
        <p:spPr>
          <a:xfrm>
            <a:off x="285720" y="3975087"/>
            <a:ext cx="8501122" cy="21182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Each statistical indivual are common to each block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group assignment (unsupervised)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Each block has a specific set of variables, generally not shared with the other blocks.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1538" y="1702346"/>
            <a:ext cx="1428760" cy="1571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1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14348" y="1591334"/>
            <a:ext cx="14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14348" y="1845222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14348" y="2420888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: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55576" y="2924944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</a:t>
            </a: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-529745" y="2303498"/>
            <a:ext cx="1571636" cy="369332"/>
          </a:xfrm>
          <a:prstGeom prst="rect">
            <a:avLst/>
          </a:prstGeom>
          <a:gradFill>
            <a:lin ang="5400000" scaled="0"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individuals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071538" y="1273718"/>
            <a:ext cx="142876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p</a:t>
            </a:r>
            <a:endParaRPr lang="fr-FR" baseline="-25000" dirty="0"/>
          </a:p>
        </p:txBody>
      </p:sp>
      <p:sp>
        <p:nvSpPr>
          <p:cNvPr id="14" name="Rectangle 13"/>
          <p:cNvSpPr/>
          <p:nvPr/>
        </p:nvSpPr>
        <p:spPr>
          <a:xfrm>
            <a:off x="2527730" y="1702346"/>
            <a:ext cx="1428760" cy="15716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2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2527730" y="1273718"/>
            <a:ext cx="142876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k</a:t>
            </a:r>
            <a:endParaRPr lang="fr-FR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3991352" y="1702346"/>
            <a:ext cx="1428760" cy="15716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3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991352" y="1273718"/>
            <a:ext cx="14287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h</a:t>
            </a:r>
            <a:endParaRPr lang="fr-FR" baseline="-25000" dirty="0"/>
          </a:p>
        </p:txBody>
      </p:sp>
      <p:sp>
        <p:nvSpPr>
          <p:cNvPr id="18" name="Rectangle 17"/>
          <p:cNvSpPr/>
          <p:nvPr/>
        </p:nvSpPr>
        <p:spPr>
          <a:xfrm>
            <a:off x="5429256" y="1702346"/>
            <a:ext cx="1428760" cy="1571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……..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429256" y="1273718"/>
            <a:ext cx="1428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..…..…</a:t>
            </a:r>
            <a:endParaRPr lang="fr-FR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6858016" y="1702346"/>
            <a:ext cx="1428760" cy="15716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i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58016" y="1273718"/>
            <a:ext cx="14287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q</a:t>
            </a:r>
            <a:endParaRPr lang="fr-FR" baseline="-2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Method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071538" y="1702346"/>
            <a:ext cx="1428760" cy="1571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1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14348" y="1591334"/>
            <a:ext cx="14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714348" y="1845222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14348" y="2420888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: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55576" y="2924944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</a:t>
            </a: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-529745" y="2303498"/>
            <a:ext cx="1571636" cy="369332"/>
          </a:xfrm>
          <a:prstGeom prst="rect">
            <a:avLst/>
          </a:prstGeom>
          <a:gradFill>
            <a:lin ang="5400000" scaled="0"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individuals</a:t>
            </a:r>
            <a:endParaRPr lang="fr-FR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1071538" y="1273718"/>
            <a:ext cx="142876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p</a:t>
            </a:r>
            <a:endParaRPr lang="fr-FR" baseline="-25000" dirty="0"/>
          </a:p>
        </p:txBody>
      </p:sp>
      <p:sp>
        <p:nvSpPr>
          <p:cNvPr id="14" name="Rectangle 13"/>
          <p:cNvSpPr/>
          <p:nvPr/>
        </p:nvSpPr>
        <p:spPr>
          <a:xfrm>
            <a:off x="2527730" y="1702346"/>
            <a:ext cx="1428760" cy="15716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2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2527730" y="1273718"/>
            <a:ext cx="142876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k</a:t>
            </a:r>
            <a:endParaRPr lang="fr-FR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3991352" y="1702346"/>
            <a:ext cx="1428760" cy="15716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3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991352" y="1273718"/>
            <a:ext cx="14287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h</a:t>
            </a:r>
            <a:endParaRPr lang="fr-FR" baseline="-25000" dirty="0"/>
          </a:p>
        </p:txBody>
      </p:sp>
      <p:sp>
        <p:nvSpPr>
          <p:cNvPr id="18" name="Rectangle 17"/>
          <p:cNvSpPr/>
          <p:nvPr/>
        </p:nvSpPr>
        <p:spPr>
          <a:xfrm>
            <a:off x="5429256" y="1702346"/>
            <a:ext cx="1428760" cy="1571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……..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429256" y="1273718"/>
            <a:ext cx="1428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..…..…</a:t>
            </a:r>
            <a:endParaRPr lang="fr-FR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6858016" y="1702346"/>
            <a:ext cx="1428760" cy="15716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j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858016" y="1273718"/>
            <a:ext cx="14287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q</a:t>
            </a:r>
            <a:endParaRPr lang="fr-FR" baseline="-25000" dirty="0"/>
          </a:p>
        </p:txBody>
      </p:sp>
      <p:sp>
        <p:nvSpPr>
          <p:cNvPr id="22" name="ZoneTexte 21"/>
          <p:cNvSpPr txBox="1"/>
          <p:nvPr/>
        </p:nvSpPr>
        <p:spPr>
          <a:xfrm>
            <a:off x="323528" y="4509120"/>
            <a:ext cx="85806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400" dirty="0"/>
              <a:t>Extraction of the </a:t>
            </a:r>
            <a:r>
              <a:rPr lang="fr-FR" sz="2400" dirty="0" err="1"/>
              <a:t>common</a:t>
            </a:r>
            <a:r>
              <a:rPr lang="fr-FR" sz="2400" dirty="0"/>
              <a:t> information </a:t>
            </a:r>
            <a:r>
              <a:rPr lang="fr-FR" sz="2400" dirty="0" err="1"/>
              <a:t>shared</a:t>
            </a:r>
            <a:r>
              <a:rPr lang="fr-FR" sz="2400" dirty="0"/>
              <a:t> by all blocks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 err="1"/>
              <a:t>Weight</a:t>
            </a:r>
            <a:r>
              <a:rPr lang="fr-FR" sz="2400" dirty="0"/>
              <a:t> </a:t>
            </a:r>
            <a:r>
              <a:rPr lang="fr-FR" sz="2400" dirty="0" err="1"/>
              <a:t>determination</a:t>
            </a:r>
            <a:r>
              <a:rPr lang="fr-FR" sz="2400" dirty="0"/>
              <a:t>  of </a:t>
            </a:r>
            <a:r>
              <a:rPr lang="fr-FR" sz="2400" dirty="0" err="1"/>
              <a:t>each</a:t>
            </a:r>
            <a:r>
              <a:rPr lang="fr-FR" sz="2400" dirty="0"/>
              <a:t> block in the </a:t>
            </a:r>
            <a:r>
              <a:rPr lang="fr-FR" sz="2400" dirty="0" err="1"/>
              <a:t>common</a:t>
            </a:r>
            <a:r>
              <a:rPr lang="fr-FR" sz="2400" dirty="0"/>
              <a:t> information</a:t>
            </a:r>
          </a:p>
          <a:p>
            <a:pPr marL="342900" indent="-342900"/>
            <a:r>
              <a:rPr lang="fr-FR" sz="2400" i="1" dirty="0"/>
              <a:t>(</a:t>
            </a:r>
            <a:r>
              <a:rPr lang="fr-FR" sz="2400" i="1" dirty="0" err="1"/>
              <a:t>common</a:t>
            </a:r>
            <a:r>
              <a:rPr lang="fr-FR" sz="2400" i="1" dirty="0"/>
              <a:t> component and </a:t>
            </a:r>
            <a:r>
              <a:rPr lang="fr-FR" sz="2400" i="1" dirty="0" err="1"/>
              <a:t>specific</a:t>
            </a:r>
            <a:r>
              <a:rPr lang="fr-FR" sz="2400" i="1" dirty="0"/>
              <a:t> </a:t>
            </a:r>
            <a:r>
              <a:rPr lang="fr-FR" sz="2400" i="1" dirty="0" err="1"/>
              <a:t>weight</a:t>
            </a:r>
            <a:r>
              <a:rPr lang="fr-FR" sz="2400" i="1" dirty="0"/>
              <a:t> </a:t>
            </a:r>
            <a:r>
              <a:rPr lang="fr-FR" sz="2400" i="1" dirty="0" err="1"/>
              <a:t>analysis</a:t>
            </a:r>
            <a:r>
              <a:rPr lang="fr-FR" sz="2400" i="1" dirty="0"/>
              <a:t> or CCSW)</a:t>
            </a:r>
          </a:p>
          <a:p>
            <a:pPr marL="342900" indent="-342900"/>
            <a:endParaRPr lang="fr-FR" sz="2400" i="1" dirty="0"/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1835696" y="3501008"/>
            <a:ext cx="0" cy="7920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3275856" y="3501008"/>
            <a:ext cx="0" cy="7920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>
            <a:off x="4716016" y="3501008"/>
            <a:ext cx="0" cy="7920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6228184" y="3501008"/>
            <a:ext cx="0" cy="7920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7596336" y="3501008"/>
            <a:ext cx="0" cy="7920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2123728" y="5805264"/>
            <a:ext cx="482453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0850" algn="l"/>
              </a:tabLst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LocalLx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{j}(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,:) =  inv( T(:,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)' * T(:,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) * T(:,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)' *Table{j};</a:t>
            </a: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47664" y="6309320"/>
            <a:ext cx="62787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/>
            <a:r>
              <a:rPr lang="en-US" sz="1600" dirty="0" err="1">
                <a:solidFill>
                  <a:prstClr val="black"/>
                </a:solidFill>
              </a:rPr>
              <a:t>Qannari</a:t>
            </a:r>
            <a:r>
              <a:rPr lang="en-US" sz="1600" dirty="0">
                <a:solidFill>
                  <a:prstClr val="black"/>
                </a:solidFill>
              </a:rPr>
              <a:t>, E. M. et al, </a:t>
            </a:r>
            <a:r>
              <a:rPr lang="en-US" sz="1600" i="1" dirty="0">
                <a:solidFill>
                  <a:prstClr val="black"/>
                </a:solidFill>
              </a:rPr>
              <a:t>Food Quality and Preference</a:t>
            </a:r>
            <a:r>
              <a:rPr lang="en-US" sz="1600" dirty="0">
                <a:solidFill>
                  <a:prstClr val="black"/>
                </a:solidFill>
              </a:rPr>
              <a:t> 2000, </a:t>
            </a:r>
            <a:r>
              <a:rPr lang="en-US" sz="1600" i="1" dirty="0">
                <a:solidFill>
                  <a:prstClr val="black"/>
                </a:solidFill>
              </a:rPr>
              <a:t>11</a:t>
            </a:r>
            <a:r>
              <a:rPr lang="en-US" sz="1600" dirty="0">
                <a:solidFill>
                  <a:prstClr val="black"/>
                </a:solidFill>
              </a:rPr>
              <a:t>, 151-154.</a:t>
            </a:r>
            <a:endParaRPr lang="fr-FR" sz="16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433428"/>
            <a:ext cx="1428760" cy="1571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1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79512" y="2004800"/>
            <a:ext cx="142876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p</a:t>
            </a:r>
            <a:endParaRPr lang="fr-FR" baseline="-25000" dirty="0"/>
          </a:p>
        </p:txBody>
      </p:sp>
      <p:sp>
        <p:nvSpPr>
          <p:cNvPr id="4" name="Rectangle 3"/>
          <p:cNvSpPr/>
          <p:nvPr/>
        </p:nvSpPr>
        <p:spPr>
          <a:xfrm>
            <a:off x="1907704" y="4881700"/>
            <a:ext cx="1428760" cy="15716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2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07704" y="4453072"/>
            <a:ext cx="142876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k</a:t>
            </a:r>
            <a:endParaRPr lang="fr-FR" baseline="-25000" dirty="0"/>
          </a:p>
        </p:txBody>
      </p:sp>
      <p:sp>
        <p:nvSpPr>
          <p:cNvPr id="6" name="Rectangle 5"/>
          <p:cNvSpPr/>
          <p:nvPr/>
        </p:nvSpPr>
        <p:spPr>
          <a:xfrm>
            <a:off x="3991352" y="1481364"/>
            <a:ext cx="1428760" cy="15716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3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991352" y="1052736"/>
            <a:ext cx="142876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h</a:t>
            </a:r>
            <a:endParaRPr lang="fr-FR" baseline="-25000" dirty="0"/>
          </a:p>
        </p:txBody>
      </p:sp>
      <p:sp>
        <p:nvSpPr>
          <p:cNvPr id="8" name="Rectangle 7"/>
          <p:cNvSpPr/>
          <p:nvPr/>
        </p:nvSpPr>
        <p:spPr>
          <a:xfrm>
            <a:off x="6023560" y="4809692"/>
            <a:ext cx="1428760" cy="15716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4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023560" y="4381064"/>
            <a:ext cx="142876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..….. </a:t>
            </a:r>
            <a:r>
              <a:rPr lang="fr-FR" dirty="0" err="1"/>
              <a:t>V</a:t>
            </a:r>
            <a:r>
              <a:rPr lang="fr-FR" baseline="-25000" dirty="0" err="1"/>
              <a:t>z</a:t>
            </a:r>
            <a:endParaRPr lang="fr-FR" baseline="-25000" dirty="0"/>
          </a:p>
        </p:txBody>
      </p:sp>
      <p:sp>
        <p:nvSpPr>
          <p:cNvPr id="10" name="Rectangle 9"/>
          <p:cNvSpPr/>
          <p:nvPr/>
        </p:nvSpPr>
        <p:spPr>
          <a:xfrm>
            <a:off x="6858016" y="2145396"/>
            <a:ext cx="1428760" cy="15716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Platform i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858016" y="1716768"/>
            <a:ext cx="14287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V</a:t>
            </a:r>
            <a:r>
              <a:rPr lang="fr-FR" baseline="-25000" dirty="0"/>
              <a:t>1</a:t>
            </a:r>
            <a:r>
              <a:rPr lang="fr-FR" dirty="0"/>
              <a:t> …..    </a:t>
            </a:r>
            <a:r>
              <a:rPr lang="fr-FR" dirty="0" err="1"/>
              <a:t>V</a:t>
            </a:r>
            <a:r>
              <a:rPr lang="fr-FR" baseline="-25000" dirty="0" err="1"/>
              <a:t>q</a:t>
            </a:r>
            <a:endParaRPr lang="fr-FR" baseline="-25000" dirty="0"/>
          </a:p>
        </p:txBody>
      </p:sp>
      <p:cxnSp>
        <p:nvCxnSpPr>
          <p:cNvPr id="13" name="Connecteur droit 12"/>
          <p:cNvCxnSpPr>
            <a:stCxn id="2" idx="3"/>
            <a:endCxn id="6" idx="1"/>
          </p:cNvCxnSpPr>
          <p:nvPr/>
        </p:nvCxnSpPr>
        <p:spPr>
          <a:xfrm flipV="1">
            <a:off x="1608272" y="2267182"/>
            <a:ext cx="2383080" cy="952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>
            <a:stCxn id="6" idx="3"/>
            <a:endCxn id="10" idx="1"/>
          </p:cNvCxnSpPr>
          <p:nvPr/>
        </p:nvCxnSpPr>
        <p:spPr>
          <a:xfrm>
            <a:off x="5420112" y="2267182"/>
            <a:ext cx="1437904" cy="66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10" idx="1"/>
            <a:endCxn id="4" idx="3"/>
          </p:cNvCxnSpPr>
          <p:nvPr/>
        </p:nvCxnSpPr>
        <p:spPr>
          <a:xfrm flipH="1">
            <a:off x="3336464" y="2931214"/>
            <a:ext cx="3521552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6" idx="1"/>
            <a:endCxn id="5" idx="0"/>
          </p:cNvCxnSpPr>
          <p:nvPr/>
        </p:nvCxnSpPr>
        <p:spPr>
          <a:xfrm flipH="1">
            <a:off x="2622084" y="2267182"/>
            <a:ext cx="1369268" cy="2185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>
            <a:stCxn id="2" idx="3"/>
            <a:endCxn id="8" idx="1"/>
          </p:cNvCxnSpPr>
          <p:nvPr/>
        </p:nvCxnSpPr>
        <p:spPr>
          <a:xfrm>
            <a:off x="1608272" y="3219246"/>
            <a:ext cx="4415288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>
            <a:stCxn id="9" idx="0"/>
            <a:endCxn id="10" idx="2"/>
          </p:cNvCxnSpPr>
          <p:nvPr/>
        </p:nvCxnSpPr>
        <p:spPr>
          <a:xfrm flipV="1">
            <a:off x="6737940" y="3717032"/>
            <a:ext cx="834456" cy="66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>
            <a:stCxn id="6" idx="2"/>
            <a:endCxn id="8" idx="1"/>
          </p:cNvCxnSpPr>
          <p:nvPr/>
        </p:nvCxnSpPr>
        <p:spPr>
          <a:xfrm>
            <a:off x="4705732" y="3053000"/>
            <a:ext cx="1317828" cy="2542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2267744" y="2492896"/>
            <a:ext cx="71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Rv1-3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3635896" y="4293096"/>
            <a:ext cx="71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Rv1-4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2987824" y="3212976"/>
            <a:ext cx="71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Rv2-3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499992" y="3356992"/>
            <a:ext cx="71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Rv3-4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5724128" y="3284984"/>
            <a:ext cx="65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Rv2-i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5796136" y="2420888"/>
            <a:ext cx="65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Rv3-i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6804248" y="3789040"/>
            <a:ext cx="65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Rv4-i</a:t>
            </a:r>
          </a:p>
        </p:txBody>
      </p:sp>
      <p:sp>
        <p:nvSpPr>
          <p:cNvPr id="35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Method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6" name="Connecteur droit 35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age 36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38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39" name="ZoneTexte 38"/>
          <p:cNvSpPr txBox="1"/>
          <p:nvPr/>
        </p:nvSpPr>
        <p:spPr>
          <a:xfrm>
            <a:off x="107504" y="764704"/>
            <a:ext cx="352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RV coefficients = </a:t>
            </a:r>
            <a:r>
              <a:rPr lang="en-US" dirty="0"/>
              <a:t>closeness between two variance-covariance matrices </a:t>
            </a:r>
            <a:r>
              <a:rPr lang="fr-FR" dirty="0"/>
              <a:t>(≈ </a:t>
            </a:r>
            <a:r>
              <a:rPr lang="fr-FR" i="1" dirty="0"/>
              <a:t>r</a:t>
            </a:r>
            <a:r>
              <a:rPr lang="fr-FR" baseline="30000" dirty="0"/>
              <a:t>2</a:t>
            </a:r>
            <a:r>
              <a:rPr lang="fr-FR" dirty="0"/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6624" y="836712"/>
            <a:ext cx="3527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Lavit, C.; et a </a:t>
            </a:r>
            <a:r>
              <a:rPr lang="fr-FR" sz="1400" dirty="0" err="1"/>
              <a:t>l</a:t>
            </a:r>
            <a:r>
              <a:rPr lang="fr-FR" sz="1400" i="1" dirty="0" err="1"/>
              <a:t>Computational</a:t>
            </a:r>
            <a:r>
              <a:rPr lang="fr-FR" sz="1400" i="1" dirty="0"/>
              <a:t> </a:t>
            </a:r>
            <a:r>
              <a:rPr lang="fr-FR" sz="1400" i="1" dirty="0" err="1"/>
              <a:t>Statistics</a:t>
            </a:r>
            <a:r>
              <a:rPr lang="fr-FR" sz="1400" i="1" dirty="0"/>
              <a:t> &amp; Data </a:t>
            </a:r>
            <a:r>
              <a:rPr lang="fr-FR" sz="1400" i="1" dirty="0" err="1"/>
              <a:t>Analysis</a:t>
            </a:r>
            <a:r>
              <a:rPr lang="fr-FR" sz="1400" dirty="0"/>
              <a:t> 1994, </a:t>
            </a:r>
            <a:r>
              <a:rPr lang="fr-FR" sz="1400" i="1" dirty="0"/>
              <a:t>18</a:t>
            </a:r>
            <a:r>
              <a:rPr lang="fr-FR" sz="1400" dirty="0"/>
              <a:t>, 97-119.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92705" y="2708920"/>
            <a:ext cx="46709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b="1" dirty="0"/>
              <a:t>Test#1</a:t>
            </a:r>
          </a:p>
          <a:p>
            <a:pPr algn="ctr"/>
            <a:r>
              <a:rPr lang="fr-FR" sz="3600" b="1" dirty="0"/>
              <a:t>High </a:t>
            </a:r>
            <a:r>
              <a:rPr lang="fr-FR" sz="3600" b="1" dirty="0" err="1"/>
              <a:t>biological</a:t>
            </a:r>
            <a:r>
              <a:rPr lang="fr-FR" sz="3600" b="1" dirty="0"/>
              <a:t> </a:t>
            </a:r>
            <a:r>
              <a:rPr lang="fr-FR" sz="3600" b="1" dirty="0" err="1"/>
              <a:t>contrast</a:t>
            </a:r>
            <a:endParaRPr lang="fr-FR" sz="3600" b="1" dirty="0"/>
          </a:p>
          <a:p>
            <a:pPr algn="ctr"/>
            <a:r>
              <a:rPr lang="fr-FR" sz="3600" b="1" dirty="0"/>
              <a:t>urines</a:t>
            </a:r>
          </a:p>
        </p:txBody>
      </p:sp>
      <p:pic>
        <p:nvPicPr>
          <p:cNvPr id="3" name="Image 2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4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5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graphicFrame>
        <p:nvGraphicFramePr>
          <p:cNvPr id="6" name="Graphique 5"/>
          <p:cNvGraphicFramePr/>
          <p:nvPr/>
        </p:nvGraphicFramePr>
        <p:xfrm>
          <a:off x="1115616" y="1196752"/>
          <a:ext cx="6822504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8" name="Groupe 27"/>
          <p:cNvGrpSpPr/>
          <p:nvPr/>
        </p:nvGrpSpPr>
        <p:grpSpPr>
          <a:xfrm>
            <a:off x="2411760" y="2029784"/>
            <a:ext cx="4032448" cy="2695360"/>
            <a:chOff x="2411760" y="2029784"/>
            <a:chExt cx="4032448" cy="2695360"/>
          </a:xfrm>
        </p:grpSpPr>
        <p:sp>
          <p:nvSpPr>
            <p:cNvPr id="10" name="ZoneTexte 9"/>
            <p:cNvSpPr txBox="1"/>
            <p:nvPr/>
          </p:nvSpPr>
          <p:spPr>
            <a:xfrm>
              <a:off x="4221840" y="2029784"/>
              <a:ext cx="52450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x80</a:t>
              </a:r>
            </a:p>
          </p:txBody>
        </p:sp>
        <p:cxnSp>
          <p:nvCxnSpPr>
            <p:cNvPr id="18" name="Connecteur droit 17"/>
            <p:cNvCxnSpPr/>
            <p:nvPr/>
          </p:nvCxnSpPr>
          <p:spPr>
            <a:xfrm flipH="1">
              <a:off x="4788024" y="2204864"/>
              <a:ext cx="165618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 flipV="1">
              <a:off x="2411760" y="2222280"/>
              <a:ext cx="0" cy="2502864"/>
            </a:xfrm>
            <a:prstGeom prst="line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>
              <a:off x="2411760" y="2204864"/>
              <a:ext cx="172819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/>
          <p:cNvSpPr txBox="1"/>
          <p:nvPr/>
        </p:nvSpPr>
        <p:spPr>
          <a:xfrm>
            <a:off x="179512" y="764704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Test#1: urine </a:t>
            </a:r>
            <a:r>
              <a:rPr lang="fr-FR" i="1" dirty="0" err="1"/>
              <a:t>study</a:t>
            </a:r>
            <a:endParaRPr lang="fr-FR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08720"/>
            <a:ext cx="7920880" cy="549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CCSW </a:t>
            </a:r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4" name="Connecteur droit 3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LOGOS.emf"/>
          <p:cNvPicPr>
            <a:picLocks noChangeAspect="1"/>
          </p:cNvPicPr>
          <p:nvPr/>
        </p:nvPicPr>
        <p:blipFill>
          <a:blip r:embed="rId3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6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9" name="ZoneTexte 8"/>
          <p:cNvSpPr txBox="1"/>
          <p:nvPr/>
        </p:nvSpPr>
        <p:spPr>
          <a:xfrm>
            <a:off x="971600" y="188640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Test#1: urine </a:t>
            </a:r>
            <a:r>
              <a:rPr lang="fr-FR" i="1" dirty="0" err="1"/>
              <a:t>study</a:t>
            </a:r>
            <a:endParaRPr lang="fr-FR" i="1" dirty="0"/>
          </a:p>
        </p:txBody>
      </p:sp>
      <p:grpSp>
        <p:nvGrpSpPr>
          <p:cNvPr id="13" name="Groupe 12"/>
          <p:cNvGrpSpPr/>
          <p:nvPr/>
        </p:nvGrpSpPr>
        <p:grpSpPr>
          <a:xfrm>
            <a:off x="1137416" y="4053153"/>
            <a:ext cx="4248472" cy="1224136"/>
            <a:chOff x="1137416" y="4053153"/>
            <a:chExt cx="4248472" cy="1224136"/>
          </a:xfrm>
        </p:grpSpPr>
        <p:sp>
          <p:nvSpPr>
            <p:cNvPr id="10" name="Flèche vers le bas 9"/>
            <p:cNvSpPr/>
            <p:nvPr/>
          </p:nvSpPr>
          <p:spPr>
            <a:xfrm rot="3360000">
              <a:off x="3189645" y="4017149"/>
              <a:ext cx="144016" cy="2160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lèche vers le bas 10"/>
            <p:cNvSpPr/>
            <p:nvPr/>
          </p:nvSpPr>
          <p:spPr>
            <a:xfrm rot="3360000">
              <a:off x="1173420" y="5097269"/>
              <a:ext cx="144016" cy="2160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lèche vers le bas 11"/>
            <p:cNvSpPr/>
            <p:nvPr/>
          </p:nvSpPr>
          <p:spPr>
            <a:xfrm rot="3360000">
              <a:off x="5205868" y="4665221"/>
              <a:ext cx="144016" cy="2160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Losange 13"/>
          <p:cNvSpPr/>
          <p:nvPr/>
        </p:nvSpPr>
        <p:spPr>
          <a:xfrm>
            <a:off x="1691680" y="4077072"/>
            <a:ext cx="144016" cy="144016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1735113" y="4264521"/>
            <a:ext cx="72008" cy="1005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739305" y="4446637"/>
            <a:ext cx="72008" cy="72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riangle isocèle 16"/>
          <p:cNvSpPr/>
          <p:nvPr/>
        </p:nvSpPr>
        <p:spPr>
          <a:xfrm>
            <a:off x="1748830" y="4615036"/>
            <a:ext cx="72008" cy="7200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1783879" y="401458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NMR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793404" y="4166989"/>
            <a:ext cx="5472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Orbi’s</a:t>
            </a:r>
            <a:endParaRPr lang="fr-FR" sz="1200" dirty="0"/>
          </a:p>
        </p:txBody>
      </p:sp>
      <p:sp>
        <p:nvSpPr>
          <p:cNvPr id="20" name="ZoneTexte 19"/>
          <p:cNvSpPr txBox="1"/>
          <p:nvPr/>
        </p:nvSpPr>
        <p:spPr>
          <a:xfrm>
            <a:off x="1802011" y="4350246"/>
            <a:ext cx="619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QTOF’s</a:t>
            </a:r>
            <a:endParaRPr lang="fr-FR" sz="12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807121" y="4521696"/>
            <a:ext cx="519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TOF’s</a:t>
            </a:r>
            <a:endParaRPr lang="fr-FR" sz="1200" dirty="0"/>
          </a:p>
        </p:txBody>
      </p:sp>
      <p:sp>
        <p:nvSpPr>
          <p:cNvPr id="22" name="ZoneTexte 21"/>
          <p:cNvSpPr txBox="1"/>
          <p:nvPr/>
        </p:nvSpPr>
        <p:spPr>
          <a:xfrm>
            <a:off x="890664" y="2564904"/>
            <a:ext cx="882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non </a:t>
            </a:r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1763688" y="1268760"/>
            <a:ext cx="597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2918907" y="1484784"/>
            <a:ext cx="882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non </a:t>
            </a:r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3772290" y="1268760"/>
            <a:ext cx="597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2699792" y="836712"/>
            <a:ext cx="1872208" cy="5616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4901961" y="2276872"/>
            <a:ext cx="882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non </a:t>
            </a:r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7" name="ZoneTexte 26"/>
          <p:cNvSpPr txBox="1"/>
          <p:nvPr/>
        </p:nvSpPr>
        <p:spPr>
          <a:xfrm>
            <a:off x="5774985" y="2287905"/>
            <a:ext cx="597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6846177" y="2132856"/>
            <a:ext cx="882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non </a:t>
            </a:r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29" name="ZoneTexte 28"/>
          <p:cNvSpPr txBox="1"/>
          <p:nvPr/>
        </p:nvSpPr>
        <p:spPr>
          <a:xfrm>
            <a:off x="7719201" y="2143889"/>
            <a:ext cx="597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/>
              <a:t>spiked</a:t>
            </a:r>
            <a:endParaRPr lang="fr-F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4716016" y="836712"/>
            <a:ext cx="4104456" cy="5544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8E7D16B-2315-339E-BD08-87061B24BA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51051"/>
          <a:stretch/>
        </p:blipFill>
        <p:spPr bwMode="auto">
          <a:xfrm>
            <a:off x="626445" y="620688"/>
            <a:ext cx="7891109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2952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Rv</a:t>
            </a:r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 coefficients </a:t>
            </a:r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pic>
        <p:nvPicPr>
          <p:cNvPr id="7" name="Image 6" descr="test 1 RV_cytoscape.bmp"/>
          <p:cNvPicPr/>
          <p:nvPr/>
        </p:nvPicPr>
        <p:blipFill>
          <a:blip r:embed="rId4" cstate="print"/>
          <a:srcRect l="8889" r="15555"/>
          <a:stretch>
            <a:fillRect/>
          </a:stretch>
        </p:blipFill>
        <p:spPr>
          <a:xfrm>
            <a:off x="2520281" y="1390332"/>
            <a:ext cx="4896544" cy="4486940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494840" y="836712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98896" y="836712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MS</a:t>
            </a:r>
          </a:p>
        </p:txBody>
      </p:sp>
      <p:sp>
        <p:nvSpPr>
          <p:cNvPr id="11" name="Hexagone 10"/>
          <p:cNvSpPr/>
          <p:nvPr/>
        </p:nvSpPr>
        <p:spPr>
          <a:xfrm>
            <a:off x="467544" y="1484784"/>
            <a:ext cx="504056" cy="43204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998896" y="148478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NMR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494840" y="2204864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998896" y="1988840"/>
            <a:ext cx="39702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Correlation</a:t>
            </a:r>
            <a:r>
              <a:rPr lang="fr-FR" sz="1600" dirty="0"/>
              <a:t> (</a:t>
            </a:r>
            <a:r>
              <a:rPr lang="fr-FR" sz="1600" dirty="0" err="1"/>
              <a:t>Rv</a:t>
            </a:r>
            <a:r>
              <a:rPr lang="fr-FR" sz="1600" dirty="0"/>
              <a:t> </a:t>
            </a:r>
            <a:r>
              <a:rPr lang="fr-FR" sz="1600" dirty="0" err="1"/>
              <a:t>coeff</a:t>
            </a:r>
            <a:r>
              <a:rPr lang="fr-FR" sz="1600" dirty="0"/>
              <a:t> ≈ </a:t>
            </a:r>
            <a:r>
              <a:rPr lang="fr-FR" sz="1600" i="1" dirty="0"/>
              <a:t>r</a:t>
            </a:r>
            <a:r>
              <a:rPr lang="fr-FR" sz="1600" baseline="30000" dirty="0"/>
              <a:t>2</a:t>
            </a:r>
            <a:r>
              <a:rPr lang="fr-FR" sz="1600" dirty="0"/>
              <a:t>) </a:t>
            </a:r>
            <a:r>
              <a:rPr lang="fr-FR" sz="1600" dirty="0" err="1"/>
              <a:t>threshold</a:t>
            </a:r>
            <a:r>
              <a:rPr lang="fr-FR" sz="1600" dirty="0"/>
              <a:t> over 0.79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936105" y="2852936"/>
            <a:ext cx="219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Mean</a:t>
            </a:r>
            <a:r>
              <a:rPr lang="fr-FR" b="1" dirty="0"/>
              <a:t> RV </a:t>
            </a:r>
            <a:r>
              <a:rPr lang="fr-FR" b="1" dirty="0" err="1"/>
              <a:t>between</a:t>
            </a:r>
            <a:r>
              <a:rPr lang="fr-FR" b="1" dirty="0"/>
              <a:t> MS = 0.87 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968553" y="4150821"/>
            <a:ext cx="219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Mean</a:t>
            </a:r>
            <a:r>
              <a:rPr lang="fr-FR" b="1" dirty="0"/>
              <a:t> RV </a:t>
            </a:r>
            <a:r>
              <a:rPr lang="fr-FR" b="1" dirty="0" err="1"/>
              <a:t>between</a:t>
            </a:r>
            <a:r>
              <a:rPr lang="fr-FR" b="1" dirty="0"/>
              <a:t> NMR x MS = 0.74 </a:t>
            </a:r>
          </a:p>
        </p:txBody>
      </p:sp>
      <p:sp>
        <p:nvSpPr>
          <p:cNvPr id="20" name="Accolade fermante 19"/>
          <p:cNvSpPr/>
          <p:nvPr/>
        </p:nvSpPr>
        <p:spPr>
          <a:xfrm>
            <a:off x="1862992" y="836712"/>
            <a:ext cx="288032" cy="1080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2223032" y="1196752"/>
            <a:ext cx="2292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Node</a:t>
            </a:r>
            <a:r>
              <a:rPr lang="fr-FR" dirty="0"/>
              <a:t> size </a:t>
            </a:r>
            <a:r>
              <a:rPr lang="fr-FR" i="1" dirty="0"/>
              <a:t>f</a:t>
            </a:r>
            <a:r>
              <a:rPr lang="fr-FR" dirty="0"/>
              <a:t>(# </a:t>
            </a:r>
            <a:r>
              <a:rPr lang="fr-FR" dirty="0" err="1"/>
              <a:t>features</a:t>
            </a:r>
            <a:r>
              <a:rPr lang="fr-FR" dirty="0"/>
              <a:t>)</a:t>
            </a:r>
          </a:p>
        </p:txBody>
      </p:sp>
      <p:grpSp>
        <p:nvGrpSpPr>
          <p:cNvPr id="27" name="Groupe 26"/>
          <p:cNvGrpSpPr/>
          <p:nvPr/>
        </p:nvGrpSpPr>
        <p:grpSpPr>
          <a:xfrm>
            <a:off x="4464497" y="2492896"/>
            <a:ext cx="4860031" cy="3528392"/>
            <a:chOff x="3779912" y="2492896"/>
            <a:chExt cx="4860031" cy="3528392"/>
          </a:xfrm>
        </p:grpSpPr>
        <p:sp>
          <p:nvSpPr>
            <p:cNvPr id="18" name="ZoneTexte 17"/>
            <p:cNvSpPr txBox="1"/>
            <p:nvPr/>
          </p:nvSpPr>
          <p:spPr>
            <a:xfrm>
              <a:off x="6444208" y="3933056"/>
              <a:ext cx="21957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/>
                <a:t>Mean</a:t>
              </a:r>
              <a:r>
                <a:rPr lang="fr-FR" b="1" dirty="0"/>
                <a:t> RV </a:t>
              </a:r>
              <a:r>
                <a:rPr lang="fr-FR" b="1" dirty="0" err="1"/>
                <a:t>between</a:t>
              </a:r>
              <a:r>
                <a:rPr lang="fr-FR" b="1" dirty="0"/>
                <a:t> NMR = 0.78 </a:t>
              </a:r>
            </a:p>
          </p:txBody>
        </p:sp>
        <p:sp>
          <p:nvSpPr>
            <p:cNvPr id="22" name="Flèche vers le bas 21"/>
            <p:cNvSpPr/>
            <p:nvPr/>
          </p:nvSpPr>
          <p:spPr>
            <a:xfrm>
              <a:off x="6084168" y="2492896"/>
              <a:ext cx="144016" cy="3600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>
                <a:rot lat="0" lon="0" rev="14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lèche vers le bas 22"/>
            <p:cNvSpPr/>
            <p:nvPr/>
          </p:nvSpPr>
          <p:spPr>
            <a:xfrm>
              <a:off x="6084168" y="5661248"/>
              <a:ext cx="144016" cy="3600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>
                <a:rot lat="0" lon="0" rev="14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lèche vers le bas 23"/>
            <p:cNvSpPr/>
            <p:nvPr/>
          </p:nvSpPr>
          <p:spPr>
            <a:xfrm>
              <a:off x="6804248" y="3501008"/>
              <a:ext cx="144016" cy="3600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>
                <a:rot lat="0" lon="0" rev="14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lèche vers le bas 24"/>
            <p:cNvSpPr/>
            <p:nvPr/>
          </p:nvSpPr>
          <p:spPr>
            <a:xfrm>
              <a:off x="6084168" y="3356992"/>
              <a:ext cx="144016" cy="3600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>
                <a:rot lat="0" lon="0" rev="14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lèche vers le bas 25"/>
            <p:cNvSpPr/>
            <p:nvPr/>
          </p:nvSpPr>
          <p:spPr>
            <a:xfrm>
              <a:off x="3779912" y="5589240"/>
              <a:ext cx="144016" cy="3600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>
                <a:rot lat="0" lon="0" rev="14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467544" y="2636912"/>
            <a:ext cx="2304256" cy="72008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13F92E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/>
          <p:cNvSpPr txBox="1"/>
          <p:nvPr/>
        </p:nvSpPr>
        <p:spPr>
          <a:xfrm>
            <a:off x="755576" y="2348880"/>
            <a:ext cx="1632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# </a:t>
            </a:r>
            <a:r>
              <a:rPr lang="fr-FR" sz="1400" dirty="0" err="1"/>
              <a:t>node</a:t>
            </a:r>
            <a:r>
              <a:rPr lang="fr-FR" sz="1400" dirty="0"/>
              <a:t> connections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0" y="2492896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high</a:t>
            </a:r>
            <a:endParaRPr lang="fr-FR" sz="1400" dirty="0"/>
          </a:p>
        </p:txBody>
      </p:sp>
      <p:sp>
        <p:nvSpPr>
          <p:cNvPr id="31" name="ZoneTexte 30"/>
          <p:cNvSpPr txBox="1"/>
          <p:nvPr/>
        </p:nvSpPr>
        <p:spPr>
          <a:xfrm>
            <a:off x="2699792" y="2492896"/>
            <a:ext cx="45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low</a:t>
            </a:r>
            <a:endParaRPr lang="fr-FR" sz="1400" dirty="0"/>
          </a:p>
        </p:txBody>
      </p:sp>
      <p:sp>
        <p:nvSpPr>
          <p:cNvPr id="32" name="ZoneTexte 31"/>
          <p:cNvSpPr txBox="1"/>
          <p:nvPr/>
        </p:nvSpPr>
        <p:spPr>
          <a:xfrm>
            <a:off x="607620" y="4745469"/>
            <a:ext cx="23702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Key:</a:t>
            </a:r>
          </a:p>
          <a:p>
            <a:r>
              <a:rPr lang="fr-FR" sz="1200" b="1" dirty="0"/>
              <a:t>N for NMR</a:t>
            </a:r>
          </a:p>
          <a:p>
            <a:r>
              <a:rPr lang="fr-FR" sz="1200" b="1" dirty="0"/>
              <a:t>Q for QTOF</a:t>
            </a:r>
          </a:p>
          <a:p>
            <a:r>
              <a:rPr lang="fr-FR" sz="1200" b="1" dirty="0"/>
              <a:t>O for </a:t>
            </a:r>
            <a:r>
              <a:rPr lang="fr-FR" sz="1200" b="1" dirty="0" err="1"/>
              <a:t>orbitrap</a:t>
            </a:r>
            <a:endParaRPr lang="fr-FR" sz="1200" b="1" dirty="0"/>
          </a:p>
          <a:p>
            <a:r>
              <a:rPr lang="fr-FR" sz="1200" b="1" dirty="0"/>
              <a:t>T for TOF</a:t>
            </a:r>
          </a:p>
          <a:p>
            <a:r>
              <a:rPr lang="fr-FR" sz="1200" b="1" dirty="0"/>
              <a:t>Positive </a:t>
            </a:r>
            <a:r>
              <a:rPr lang="fr-FR" sz="1200" b="1" dirty="0" err="1"/>
              <a:t>ionization</a:t>
            </a:r>
            <a:r>
              <a:rPr lang="fr-FR" sz="1200" b="1" dirty="0"/>
              <a:t> </a:t>
            </a:r>
            <a:r>
              <a:rPr lang="fr-FR" sz="1200" b="1" dirty="0" err="1"/>
              <a:t>indicated</a:t>
            </a:r>
            <a:r>
              <a:rPr lang="fr-FR" sz="1200" b="1" dirty="0"/>
              <a:t> by P</a:t>
            </a:r>
          </a:p>
          <a:p>
            <a:r>
              <a:rPr lang="fr-FR" sz="1200" b="1" dirty="0" err="1"/>
              <a:t>Negative</a:t>
            </a:r>
            <a:r>
              <a:rPr lang="fr-FR" sz="1200" b="1" dirty="0"/>
              <a:t> </a:t>
            </a:r>
            <a:r>
              <a:rPr lang="fr-FR" sz="1200" b="1" dirty="0" err="1"/>
              <a:t>ionization</a:t>
            </a:r>
            <a:r>
              <a:rPr lang="fr-FR" sz="1200" b="1" dirty="0"/>
              <a:t> </a:t>
            </a:r>
            <a:r>
              <a:rPr lang="fr-FR" sz="1200" b="1" dirty="0" err="1"/>
              <a:t>indicated</a:t>
            </a:r>
            <a:r>
              <a:rPr lang="fr-FR" sz="1200" b="1" dirty="0"/>
              <a:t> by N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152908" y="5789001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/>
              <a:t>MS</a:t>
            </a:r>
          </a:p>
        </p:txBody>
      </p:sp>
      <p:sp>
        <p:nvSpPr>
          <p:cNvPr id="34" name="Accolade ouvrante 33"/>
          <p:cNvSpPr/>
          <p:nvPr/>
        </p:nvSpPr>
        <p:spPr>
          <a:xfrm>
            <a:off x="539552" y="5733256"/>
            <a:ext cx="72008" cy="3600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335635" y="2708920"/>
            <a:ext cx="45851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b="1" dirty="0"/>
              <a:t>Test#2</a:t>
            </a:r>
          </a:p>
          <a:p>
            <a:pPr algn="ctr"/>
            <a:r>
              <a:rPr lang="fr-FR" sz="3600" b="1" dirty="0" err="1"/>
              <a:t>Low</a:t>
            </a:r>
            <a:r>
              <a:rPr lang="fr-FR" sz="3600" b="1" dirty="0"/>
              <a:t> </a:t>
            </a:r>
            <a:r>
              <a:rPr lang="fr-FR" sz="3600" b="1" dirty="0" err="1"/>
              <a:t>biological</a:t>
            </a:r>
            <a:r>
              <a:rPr lang="fr-FR" sz="3600" b="1" dirty="0"/>
              <a:t> </a:t>
            </a:r>
            <a:r>
              <a:rPr lang="fr-FR" sz="3600" b="1" dirty="0" err="1"/>
              <a:t>contrast</a:t>
            </a:r>
            <a:endParaRPr lang="fr-FR" sz="3600" b="1" dirty="0"/>
          </a:p>
          <a:p>
            <a:pPr algn="ctr"/>
            <a:r>
              <a:rPr lang="fr-FR" sz="3600" b="1" dirty="0"/>
              <a:t>Rat plasma</a:t>
            </a:r>
          </a:p>
        </p:txBody>
      </p:sp>
      <p:pic>
        <p:nvPicPr>
          <p:cNvPr id="3" name="Image 2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4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5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1835696" y="1844824"/>
            <a:ext cx="5583276" cy="3704721"/>
            <a:chOff x="18578314" y="26859284"/>
            <a:chExt cx="8786874" cy="6617190"/>
          </a:xfrm>
        </p:grpSpPr>
        <p:graphicFrame>
          <p:nvGraphicFramePr>
            <p:cNvPr id="3" name="Graphique 2"/>
            <p:cNvGraphicFramePr/>
            <p:nvPr/>
          </p:nvGraphicFramePr>
          <p:xfrm>
            <a:off x="18578314" y="26859284"/>
            <a:ext cx="8786874" cy="53285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ZoneTexte 3"/>
            <p:cNvSpPr txBox="1"/>
            <p:nvPr/>
          </p:nvSpPr>
          <p:spPr>
            <a:xfrm rot="17839223">
              <a:off x="22840392" y="32342025"/>
              <a:ext cx="1599959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QTOF3</a:t>
              </a:r>
            </a:p>
          </p:txBody>
        </p:sp>
        <p:sp>
          <p:nvSpPr>
            <p:cNvPr id="5" name="ZoneTexte 4"/>
            <p:cNvSpPr txBox="1"/>
            <p:nvPr/>
          </p:nvSpPr>
          <p:spPr>
            <a:xfrm rot="17839223">
              <a:off x="23663603" y="32324022"/>
              <a:ext cx="1520934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NMR1</a:t>
              </a:r>
            </a:p>
          </p:txBody>
        </p:sp>
        <p:sp>
          <p:nvSpPr>
            <p:cNvPr id="6" name="ZoneTexte 5"/>
            <p:cNvSpPr txBox="1"/>
            <p:nvPr/>
          </p:nvSpPr>
          <p:spPr>
            <a:xfrm rot="17839223">
              <a:off x="25221562" y="32324022"/>
              <a:ext cx="1520934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NMR3</a:t>
              </a:r>
            </a:p>
          </p:txBody>
        </p:sp>
        <p:sp>
          <p:nvSpPr>
            <p:cNvPr id="7" name="ZoneTexte 6"/>
            <p:cNvSpPr txBox="1"/>
            <p:nvPr/>
          </p:nvSpPr>
          <p:spPr>
            <a:xfrm rot="17839223">
              <a:off x="24429474" y="32324022"/>
              <a:ext cx="1520934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NMR2</a:t>
              </a:r>
            </a:p>
          </p:txBody>
        </p:sp>
        <p:sp>
          <p:nvSpPr>
            <p:cNvPr id="8" name="ZoneTexte 7"/>
            <p:cNvSpPr txBox="1"/>
            <p:nvPr/>
          </p:nvSpPr>
          <p:spPr>
            <a:xfrm rot="17839223">
              <a:off x="25941642" y="32324022"/>
              <a:ext cx="1520934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NMR4</a:t>
              </a:r>
            </a:p>
          </p:txBody>
        </p:sp>
        <p:sp>
          <p:nvSpPr>
            <p:cNvPr id="9" name="ZoneTexte 8"/>
            <p:cNvSpPr txBox="1"/>
            <p:nvPr/>
          </p:nvSpPr>
          <p:spPr>
            <a:xfrm rot="17839223">
              <a:off x="19069206" y="32340254"/>
              <a:ext cx="1509481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ORBI1</a:t>
              </a:r>
            </a:p>
          </p:txBody>
        </p:sp>
        <p:sp>
          <p:nvSpPr>
            <p:cNvPr id="10" name="ZoneTexte 9"/>
            <p:cNvSpPr txBox="1"/>
            <p:nvPr/>
          </p:nvSpPr>
          <p:spPr>
            <a:xfrm rot="17839223">
              <a:off x="19782925" y="32336940"/>
              <a:ext cx="1599959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QTOF1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 rot="17839223">
              <a:off x="20536617" y="32343679"/>
              <a:ext cx="1509481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ORBI2</a:t>
              </a:r>
            </a:p>
          </p:txBody>
        </p:sp>
        <p:sp>
          <p:nvSpPr>
            <p:cNvPr id="12" name="ZoneTexte 11"/>
            <p:cNvSpPr txBox="1"/>
            <p:nvPr/>
          </p:nvSpPr>
          <p:spPr>
            <a:xfrm rot="17839223">
              <a:off x="21328704" y="32343679"/>
              <a:ext cx="1509481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ORBI3</a:t>
              </a:r>
            </a:p>
          </p:txBody>
        </p:sp>
        <p:sp>
          <p:nvSpPr>
            <p:cNvPr id="13" name="ZoneTexte 12"/>
            <p:cNvSpPr txBox="1"/>
            <p:nvPr/>
          </p:nvSpPr>
          <p:spPr>
            <a:xfrm rot="17839223">
              <a:off x="22015172" y="32361651"/>
              <a:ext cx="1599959" cy="629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/>
                <a:t>QTOF2</a:t>
              </a:r>
            </a:p>
          </p:txBody>
        </p:sp>
      </p:grpSp>
      <p:pic>
        <p:nvPicPr>
          <p:cNvPr id="14" name="Image 13" descr="LOGOS.emf"/>
          <p:cNvPicPr>
            <a:picLocks noChangeAspect="1"/>
          </p:cNvPicPr>
          <p:nvPr/>
        </p:nvPicPr>
        <p:blipFill>
          <a:blip r:embed="rId3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1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16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179512" y="764704"/>
            <a:ext cx="246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Test#2: rat plasma </a:t>
            </a:r>
            <a:r>
              <a:rPr lang="fr-FR" i="1" dirty="0" err="1"/>
              <a:t>study</a:t>
            </a:r>
            <a:endParaRPr lang="fr-FR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844824"/>
            <a:ext cx="7223149" cy="408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llipse 2"/>
          <p:cNvSpPr/>
          <p:nvPr/>
        </p:nvSpPr>
        <p:spPr>
          <a:xfrm>
            <a:off x="494840" y="836712"/>
            <a:ext cx="432048" cy="4320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998896" y="836712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MS</a:t>
            </a:r>
          </a:p>
        </p:txBody>
      </p:sp>
      <p:sp>
        <p:nvSpPr>
          <p:cNvPr id="5" name="Hexagone 4"/>
          <p:cNvSpPr/>
          <p:nvPr/>
        </p:nvSpPr>
        <p:spPr>
          <a:xfrm>
            <a:off x="467544" y="1484784"/>
            <a:ext cx="504056" cy="432048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998896" y="148478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NMR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494840" y="2204864"/>
            <a:ext cx="4320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998896" y="1988840"/>
            <a:ext cx="350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Correlation</a:t>
            </a:r>
            <a:r>
              <a:rPr lang="fr-FR" dirty="0"/>
              <a:t> (</a:t>
            </a:r>
            <a:r>
              <a:rPr lang="fr-FR" dirty="0" err="1"/>
              <a:t>Rv</a:t>
            </a:r>
            <a:r>
              <a:rPr lang="fr-FR" dirty="0"/>
              <a:t> </a:t>
            </a:r>
            <a:r>
              <a:rPr lang="fr-FR" dirty="0" err="1"/>
              <a:t>coeff</a:t>
            </a:r>
            <a:r>
              <a:rPr lang="fr-FR"/>
              <a:t> ≈ </a:t>
            </a:r>
            <a:r>
              <a:rPr lang="fr-FR" i="1"/>
              <a:t>r</a:t>
            </a:r>
            <a:r>
              <a:rPr lang="fr-FR" baseline="30000"/>
              <a:t>2</a:t>
            </a:r>
            <a:r>
              <a:rPr lang="fr-FR"/>
              <a:t>) </a:t>
            </a:r>
            <a:r>
              <a:rPr lang="fr-FR" b="1" dirty="0"/>
              <a:t>over 0.71</a:t>
            </a:r>
          </a:p>
        </p:txBody>
      </p:sp>
      <p:sp>
        <p:nvSpPr>
          <p:cNvPr id="9" name="Accolade fermante 8"/>
          <p:cNvSpPr/>
          <p:nvPr/>
        </p:nvSpPr>
        <p:spPr>
          <a:xfrm>
            <a:off x="1862992" y="836712"/>
            <a:ext cx="288032" cy="10801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2223032" y="1196752"/>
            <a:ext cx="2292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Node</a:t>
            </a:r>
            <a:r>
              <a:rPr lang="fr-FR" dirty="0"/>
              <a:t> size </a:t>
            </a:r>
            <a:r>
              <a:rPr lang="fr-FR" i="1" dirty="0"/>
              <a:t>f</a:t>
            </a:r>
            <a:r>
              <a:rPr lang="fr-FR" dirty="0"/>
              <a:t>(# </a:t>
            </a:r>
            <a:r>
              <a:rPr lang="fr-FR" dirty="0" err="1"/>
              <a:t>features</a:t>
            </a:r>
            <a:r>
              <a:rPr lang="fr-FR" dirty="0"/>
              <a:t>)</a:t>
            </a:r>
          </a:p>
        </p:txBody>
      </p:sp>
      <p:pic>
        <p:nvPicPr>
          <p:cNvPr id="11" name="Image 10" descr="LOGOS.emf"/>
          <p:cNvPicPr>
            <a:picLocks noChangeAspect="1"/>
          </p:cNvPicPr>
          <p:nvPr/>
        </p:nvPicPr>
        <p:blipFill>
          <a:blip r:embed="rId3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12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13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Results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1043608" y="2996952"/>
            <a:ext cx="219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Mean</a:t>
            </a:r>
            <a:r>
              <a:rPr lang="fr-FR" b="1" dirty="0"/>
              <a:t> RV </a:t>
            </a:r>
            <a:r>
              <a:rPr lang="fr-FR" b="1" dirty="0" err="1"/>
              <a:t>between</a:t>
            </a:r>
            <a:r>
              <a:rPr lang="fr-FR" b="1" dirty="0"/>
              <a:t> MS = 0.67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732240" y="4437112"/>
            <a:ext cx="219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Mean</a:t>
            </a:r>
            <a:r>
              <a:rPr lang="fr-FR" b="1" dirty="0"/>
              <a:t> RV </a:t>
            </a:r>
            <a:r>
              <a:rPr lang="fr-FR" b="1" dirty="0" err="1"/>
              <a:t>between</a:t>
            </a:r>
            <a:r>
              <a:rPr lang="fr-FR" b="1" dirty="0"/>
              <a:t> NMR = 0.78 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16016" y="5373216"/>
            <a:ext cx="219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Mean</a:t>
            </a:r>
            <a:r>
              <a:rPr lang="fr-FR" b="1" dirty="0"/>
              <a:t> RV </a:t>
            </a:r>
            <a:r>
              <a:rPr lang="fr-FR" b="1" dirty="0" err="1"/>
              <a:t>between</a:t>
            </a:r>
            <a:r>
              <a:rPr lang="fr-FR" b="1" dirty="0"/>
              <a:t> NMR x MS = 0.57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971600" y="188640"/>
            <a:ext cx="246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Test#2: rat plasma </a:t>
            </a:r>
            <a:r>
              <a:rPr lang="fr-FR" i="1" dirty="0" err="1"/>
              <a:t>study</a:t>
            </a:r>
            <a:endParaRPr lang="fr-FR" i="1" dirty="0"/>
          </a:p>
        </p:txBody>
      </p:sp>
      <p:sp>
        <p:nvSpPr>
          <p:cNvPr id="19" name="Rectangle 18"/>
          <p:cNvSpPr/>
          <p:nvPr/>
        </p:nvSpPr>
        <p:spPr>
          <a:xfrm>
            <a:off x="467544" y="2636912"/>
            <a:ext cx="2304256" cy="72008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13F92E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755576" y="2348880"/>
            <a:ext cx="1632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# </a:t>
            </a:r>
            <a:r>
              <a:rPr lang="fr-FR" sz="1400" dirty="0" err="1"/>
              <a:t>node</a:t>
            </a:r>
            <a:r>
              <a:rPr lang="fr-FR" sz="1400" dirty="0"/>
              <a:t> connections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0" y="2492896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high</a:t>
            </a:r>
            <a:endParaRPr lang="fr-FR" sz="1400" dirty="0"/>
          </a:p>
        </p:txBody>
      </p:sp>
      <p:sp>
        <p:nvSpPr>
          <p:cNvPr id="22" name="ZoneTexte 21"/>
          <p:cNvSpPr txBox="1"/>
          <p:nvPr/>
        </p:nvSpPr>
        <p:spPr>
          <a:xfrm>
            <a:off x="2699792" y="2492896"/>
            <a:ext cx="45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low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8E7D16B-2315-339E-BD08-87061B24BA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51813"/>
          <a:stretch/>
        </p:blipFill>
        <p:spPr bwMode="auto">
          <a:xfrm>
            <a:off x="827584" y="764704"/>
            <a:ext cx="7416824" cy="5130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056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5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1596" y="6453336"/>
            <a:ext cx="1104900" cy="323850"/>
          </a:xfrm>
          <a:prstGeom prst="rect">
            <a:avLst/>
          </a:prstGeom>
          <a:noFill/>
        </p:spPr>
      </p:pic>
      <p:sp>
        <p:nvSpPr>
          <p:cNvPr id="6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00B050"/>
                </a:solidFill>
                <a:latin typeface="Cambria" pitchFamily="18" charset="0"/>
              </a:rPr>
              <a:t>Conclusion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e 10"/>
          <p:cNvGrpSpPr/>
          <p:nvPr/>
        </p:nvGrpSpPr>
        <p:grpSpPr>
          <a:xfrm>
            <a:off x="5724128" y="1556792"/>
            <a:ext cx="3024336" cy="3256514"/>
            <a:chOff x="2627784" y="260648"/>
            <a:chExt cx="5760640" cy="6352858"/>
          </a:xfrm>
        </p:grpSpPr>
        <p:pic>
          <p:nvPicPr>
            <p:cNvPr id="12" name="Picture 4" descr="https://encrypted-tbn0.gstatic.com/images?q=tbn:ANd9GcQfRJNPv3xl76Li30kRKjDGJodrOChvCSYBoLG9Zr5PG4ILdZS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27784" y="260648"/>
              <a:ext cx="5760640" cy="6352858"/>
            </a:xfrm>
            <a:prstGeom prst="rect">
              <a:avLst/>
            </a:prstGeom>
            <a:noFill/>
          </p:spPr>
        </p:pic>
        <p:pic>
          <p:nvPicPr>
            <p:cNvPr id="13" name="Image 12" descr="LOGOS.emf"/>
            <p:cNvPicPr>
              <a:picLocks noChangeAspect="1"/>
            </p:cNvPicPr>
            <p:nvPr/>
          </p:nvPicPr>
          <p:blipFill>
            <a:blip r:embed="rId2" cstate="print"/>
            <a:srcRect l="11413" t="11058" r="11413" b="10006"/>
            <a:stretch>
              <a:fillRect/>
            </a:stretch>
          </p:blipFill>
          <p:spPr>
            <a:xfrm>
              <a:off x="4644008" y="1196752"/>
              <a:ext cx="648072" cy="495974"/>
            </a:xfrm>
            <a:prstGeom prst="rect">
              <a:avLst/>
            </a:prstGeom>
          </p:spPr>
        </p:pic>
      </p:grpSp>
      <p:grpSp>
        <p:nvGrpSpPr>
          <p:cNvPr id="19" name="Groupe 18"/>
          <p:cNvGrpSpPr/>
          <p:nvPr/>
        </p:nvGrpSpPr>
        <p:grpSpPr>
          <a:xfrm>
            <a:off x="1619672" y="4869160"/>
            <a:ext cx="4248472" cy="1861096"/>
            <a:chOff x="467544" y="4725144"/>
            <a:chExt cx="4248472" cy="1861096"/>
          </a:xfrm>
        </p:grpSpPr>
        <p:sp>
          <p:nvSpPr>
            <p:cNvPr id="14" name="ZoneTexte 13"/>
            <p:cNvSpPr txBox="1"/>
            <p:nvPr/>
          </p:nvSpPr>
          <p:spPr>
            <a:xfrm>
              <a:off x="467544" y="4725144"/>
              <a:ext cx="4004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/>
                <a:t>Can </a:t>
              </a:r>
              <a:r>
                <a:rPr lang="fr-FR" b="1" dirty="0" err="1"/>
                <a:t>we</a:t>
              </a:r>
              <a:r>
                <a:rPr lang="fr-FR" b="1" dirty="0"/>
                <a:t> trust </a:t>
              </a:r>
              <a:r>
                <a:rPr lang="fr-FR" b="1" dirty="0" err="1"/>
                <a:t>untargeted</a:t>
              </a:r>
              <a:r>
                <a:rPr lang="fr-FR" b="1" dirty="0"/>
                <a:t> </a:t>
              </a:r>
              <a:r>
                <a:rPr lang="fr-FR" b="1" dirty="0" err="1"/>
                <a:t>metabolomics</a:t>
              </a:r>
              <a:r>
                <a:rPr lang="fr-FR" b="1" dirty="0"/>
                <a:t>?</a:t>
              </a:r>
            </a:p>
          </p:txBody>
        </p:sp>
        <p:pic>
          <p:nvPicPr>
            <p:cNvPr id="17" name="Picture 21" descr="C:\Documents and Settings\jean-charles martin\Application Data\Microsoft\Media Catalog\Downloaded Clips\cl99\j0383546.wmf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75856" y="5157192"/>
              <a:ext cx="1440160" cy="1429048"/>
            </a:xfrm>
            <a:prstGeom prst="rect">
              <a:avLst/>
            </a:prstGeom>
            <a:noFill/>
          </p:spPr>
        </p:pic>
      </p:grpSp>
      <p:sp>
        <p:nvSpPr>
          <p:cNvPr id="18" name="ZoneTexte 17"/>
          <p:cNvSpPr txBox="1"/>
          <p:nvPr/>
        </p:nvSpPr>
        <p:spPr>
          <a:xfrm>
            <a:off x="395537" y="1556792"/>
            <a:ext cx="51125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 err="1"/>
              <a:t>Heterologous</a:t>
            </a:r>
            <a:r>
              <a:rPr lang="fr-FR" dirty="0"/>
              <a:t> instruments are able to </a:t>
            </a:r>
            <a:r>
              <a:rPr lang="fr-FR" dirty="0" err="1"/>
              <a:t>extract</a:t>
            </a:r>
            <a:r>
              <a:rPr lang="fr-FR" dirty="0"/>
              <a:t> a convergent </a:t>
            </a:r>
            <a:r>
              <a:rPr lang="fr-FR" dirty="0" err="1"/>
              <a:t>biological</a:t>
            </a:r>
            <a:r>
              <a:rPr lang="fr-FR" dirty="0"/>
              <a:t> information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prior</a:t>
            </a:r>
            <a:r>
              <a:rPr lang="fr-FR" dirty="0"/>
              <a:t> </a:t>
            </a:r>
            <a:r>
              <a:rPr lang="fr-FR" dirty="0" err="1"/>
              <a:t>standardization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This information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u="sng" dirty="0"/>
              <a:t>not </a:t>
            </a:r>
            <a:r>
              <a:rPr lang="fr-FR" u="sng" dirty="0" err="1"/>
              <a:t>influenced</a:t>
            </a:r>
            <a:r>
              <a:rPr lang="fr-FR" u="sng" dirty="0"/>
              <a:t> </a:t>
            </a:r>
            <a:r>
              <a:rPr lang="fr-FR" dirty="0"/>
              <a:t>by the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extracted</a:t>
            </a:r>
            <a:r>
              <a:rPr lang="fr-FR" dirty="0"/>
              <a:t> variables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For MS, the </a:t>
            </a:r>
            <a:r>
              <a:rPr lang="fr-FR" dirty="0" err="1"/>
              <a:t>technological</a:t>
            </a:r>
            <a:r>
              <a:rPr lang="fr-FR" dirty="0"/>
              <a:t> design has </a:t>
            </a:r>
            <a:r>
              <a:rPr lang="fr-FR" u="sng" dirty="0"/>
              <a:t>no </a:t>
            </a:r>
            <a:r>
              <a:rPr lang="fr-FR" u="sng" dirty="0" err="1"/>
              <a:t>effect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dealing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pattern </a:t>
            </a:r>
            <a:r>
              <a:rPr lang="fr-FR" dirty="0" err="1"/>
              <a:t>comparisons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Metabotypes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reported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scales</a:t>
            </a:r>
            <a:r>
              <a:rPr lang="fr-FR" dirty="0"/>
              <a:t> (MS and NMR </a:t>
            </a:r>
            <a:r>
              <a:rPr lang="fr-FR" dirty="0" err="1"/>
              <a:t>sensitivity</a:t>
            </a:r>
            <a:r>
              <a:rPr lang="fr-FR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Our </a:t>
            </a:r>
            <a:r>
              <a:rPr lang="fr-FR" dirty="0" err="1"/>
              <a:t>methodology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assess</a:t>
            </a:r>
            <a:r>
              <a:rPr lang="fr-FR" dirty="0"/>
              <a:t> the </a:t>
            </a:r>
            <a:r>
              <a:rPr lang="fr-FR" dirty="0" err="1"/>
              <a:t>efficiency</a:t>
            </a:r>
            <a:r>
              <a:rPr lang="fr-FR" dirty="0"/>
              <a:t> of </a:t>
            </a:r>
            <a:r>
              <a:rPr lang="fr-FR" dirty="0" err="1"/>
              <a:t>standardization</a:t>
            </a:r>
            <a:r>
              <a:rPr lang="fr-FR" dirty="0"/>
              <a:t> </a:t>
            </a:r>
            <a:r>
              <a:rPr lang="fr-FR" dirty="0" err="1"/>
              <a:t>procedures</a:t>
            </a:r>
            <a:r>
              <a:rPr lang="fr-FR" dirty="0"/>
              <a:t> to </a:t>
            </a:r>
            <a:r>
              <a:rPr lang="fr-FR" dirty="0" err="1"/>
              <a:t>further</a:t>
            </a:r>
            <a:r>
              <a:rPr lang="fr-FR" dirty="0"/>
              <a:t> </a:t>
            </a:r>
            <a:r>
              <a:rPr lang="fr-FR" dirty="0" err="1"/>
              <a:t>improve</a:t>
            </a:r>
            <a:r>
              <a:rPr lang="fr-FR" dirty="0"/>
              <a:t> inter-instrument convergence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S.emf"/>
          <p:cNvPicPr>
            <a:picLocks noChangeAspect="1"/>
          </p:cNvPicPr>
          <p:nvPr/>
        </p:nvPicPr>
        <p:blipFill>
          <a:blip r:embed="rId2" cstate="print"/>
          <a:srcRect l="11413" t="11058" r="11413" b="10006"/>
          <a:stretch>
            <a:fillRect/>
          </a:stretch>
        </p:blipFill>
        <p:spPr>
          <a:xfrm>
            <a:off x="1" y="6279752"/>
            <a:ext cx="755576" cy="578248"/>
          </a:xfrm>
          <a:prstGeom prst="rect">
            <a:avLst/>
          </a:prstGeom>
        </p:spPr>
      </p:pic>
      <p:pic>
        <p:nvPicPr>
          <p:cNvPr id="3" name="Picture 4" descr="https://www.bordeaux.inra.fr/ifr103/reseau_metabolome/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5949280"/>
            <a:ext cx="2333272" cy="683890"/>
          </a:xfrm>
          <a:prstGeom prst="rect">
            <a:avLst/>
          </a:prstGeom>
          <a:noFill/>
        </p:spPr>
      </p:pic>
      <p:sp>
        <p:nvSpPr>
          <p:cNvPr id="4" name="ZoneTexte 2"/>
          <p:cNvSpPr txBox="1">
            <a:spLocks noChangeArrowheads="1"/>
          </p:cNvSpPr>
          <p:nvPr/>
        </p:nvSpPr>
        <p:spPr bwMode="auto">
          <a:xfrm>
            <a:off x="-8377" y="25460"/>
            <a:ext cx="91523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dirty="0" err="1">
                <a:solidFill>
                  <a:srgbClr val="00B050"/>
                </a:solidFill>
                <a:latin typeface="Cambria" pitchFamily="18" charset="0"/>
              </a:rPr>
              <a:t>Acknowledgments</a:t>
            </a:r>
            <a:endParaRPr lang="fr-FR" sz="2800" b="1" dirty="0">
              <a:solidFill>
                <a:srgbClr val="00B050"/>
              </a:solidFill>
              <a:latin typeface="Cambria" pitchFamily="18" charset="0"/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619672" y="1240299"/>
            <a:ext cx="5796136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Matthieu Maillot, Gérard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Mazerolles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Alexandre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Verdu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 Bernard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Lyan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Carole Migne, </a:t>
            </a:r>
            <a:r>
              <a:rPr kumimoji="0" lang="fr-FR" sz="2000" b="0" i="1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Catherine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Defoort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 Cecile Canlet, Christophe Junot, Claude Guillou,  Claudine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Manach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</a:t>
            </a:r>
            <a:r>
              <a:rPr lang="fr-FR" sz="2000" i="1" baseline="30000" dirty="0">
                <a:solidFill>
                  <a:srgbClr val="333333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Daniel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Jabob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Delphine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Jouan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-Rimbaud Bouveresse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Estelle Paris, Estelle Pujos-Guillot, Fabien Jourdan, Fabrice</a:t>
            </a:r>
            <a:r>
              <a:rPr kumimoji="0" lang="fr-FR" sz="2000" b="0" i="1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Tranchida</a:t>
            </a:r>
            <a:r>
              <a:rPr kumimoji="0" lang="fr-FR" sz="2000" b="0" i="1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Franck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Giacomoni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Fréderique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Courant, Gaëlle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Favé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</a:t>
            </a:r>
            <a:r>
              <a:rPr kumimoji="0" lang="fr-FR" sz="2000" b="0" i="1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Gwenaëlle Le Gall, Hubert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Chassaigne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Jean-Claude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Tabet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Jean-Francois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Martin, Jean-Philippe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Antignac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Laetitia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Shintu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Marianne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Defernez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Mark Philo, Marie-Cécile Alexandre-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Gouaubau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</a:t>
            </a:r>
            <a:r>
              <a:rPr kumimoji="0" lang="fr-FR" sz="2000" b="0" i="1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Marie-Josephe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Amiot-Carlin,</a:t>
            </a:r>
            <a:r>
              <a:rPr kumimoji="0" lang="fr-FR" sz="2000" b="0" i="1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Mathilde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Bossis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Mohamed N.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Triba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Natali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Stojilkovic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Nathalie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Banzet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Roland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Molinié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 Romain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Bott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Sophie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Goulitquer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Stefano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Caldarelli</a:t>
            </a:r>
            <a:r>
              <a:rPr kumimoji="0" lang="fr-FR" sz="2000" b="0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Douglas N. </a:t>
            </a:r>
            <a:r>
              <a:rPr kumimoji="0" lang="fr-FR" sz="2000" b="0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Rutledge</a:t>
            </a:r>
            <a:endParaRPr kumimoji="0" 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 l="22882" t="6303" r="41525" b="55882"/>
          <a:stretch>
            <a:fillRect/>
          </a:stretch>
        </p:blipFill>
        <p:spPr bwMode="auto">
          <a:xfrm>
            <a:off x="5508104" y="821499"/>
            <a:ext cx="1043608" cy="447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3"/>
          <p:cNvPicPr>
            <a:picLocks noChangeAspect="1" noChangeArrowheads="1"/>
          </p:cNvPicPr>
          <p:nvPr/>
        </p:nvPicPr>
        <p:blipFill>
          <a:blip r:embed="rId5" cstate="print"/>
          <a:srcRect l="4980" t="21240" r="91504" b="61914"/>
          <a:stretch>
            <a:fillRect/>
          </a:stretch>
        </p:blipFill>
        <p:spPr bwMode="auto">
          <a:xfrm>
            <a:off x="7884368" y="1628800"/>
            <a:ext cx="504056" cy="966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6" cstate="print"/>
          <a:srcRect t="17578" r="83887" b="74365"/>
          <a:stretch>
            <a:fillRect/>
          </a:stretch>
        </p:blipFill>
        <p:spPr bwMode="auto">
          <a:xfrm>
            <a:off x="179512" y="764704"/>
            <a:ext cx="2594444" cy="518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63888" y="764704"/>
            <a:ext cx="121566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8" cstate="print"/>
          <a:srcRect l="6934" t="17041" r="85742" b="72705"/>
          <a:stretch>
            <a:fillRect/>
          </a:stretch>
        </p:blipFill>
        <p:spPr bwMode="auto">
          <a:xfrm>
            <a:off x="7503754" y="764705"/>
            <a:ext cx="102868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5" descr="http://cbi.labri.fr/images/Logo_cbib_index.jpg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596336" y="2924944"/>
            <a:ext cx="810344" cy="41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http://dircom.univ-amu.fr/sites/dircom.univ-amu.fr/files/amu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6722" y="1916832"/>
            <a:ext cx="1470942" cy="504056"/>
          </a:xfrm>
          <a:prstGeom prst="rect">
            <a:avLst/>
          </a:prstGeom>
          <a:noFill/>
        </p:spPr>
      </p:pic>
      <p:pic>
        <p:nvPicPr>
          <p:cNvPr id="15" name="Picture 1" descr="C:\Users\jc martin\Documents\texte\Marseille\projet métabolomique\charte plate-forme\logo biomet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2780928"/>
            <a:ext cx="864096" cy="648072"/>
          </a:xfrm>
          <a:prstGeom prst="rect">
            <a:avLst/>
          </a:prstGeom>
          <a:noFill/>
        </p:spPr>
      </p:pic>
      <p:pic>
        <p:nvPicPr>
          <p:cNvPr id="16" name="Picture 10" descr="http://www.supagro.fr/web/UserFiles/Image/logos/logo-irc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40352" y="3789040"/>
            <a:ext cx="720080" cy="375270"/>
          </a:xfrm>
          <a:prstGeom prst="rect">
            <a:avLst/>
          </a:prstGeom>
          <a:noFill/>
        </p:spPr>
      </p:pic>
      <p:pic>
        <p:nvPicPr>
          <p:cNvPr id="17" name="Picture 8" descr="http://upload.wikimedia.org/wikipedia/fr/f/f5/AgroParisTech_-_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51520" y="3717032"/>
            <a:ext cx="1245177" cy="459743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524328" y="4653136"/>
            <a:ext cx="1224935" cy="55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23528" y="4725144"/>
            <a:ext cx="1099582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331640" y="5949280"/>
            <a:ext cx="971779" cy="566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http://www-physiologie-insecte.versailles.inra.fr/images/logo_inra.jp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74404" y="5949280"/>
            <a:ext cx="1053981" cy="432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</TotalTime>
  <Words>928</Words>
  <Application>Microsoft Office PowerPoint</Application>
  <PresentationFormat>Affichage à l'écran (4:3)</PresentationFormat>
  <Paragraphs>222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jc martin</dc:creator>
  <cp:lastModifiedBy>jc Martin</cp:lastModifiedBy>
  <cp:revision>178</cp:revision>
  <dcterms:created xsi:type="dcterms:W3CDTF">2013-06-17T16:51:20Z</dcterms:created>
  <dcterms:modified xsi:type="dcterms:W3CDTF">2026-10-03T14:32:10Z</dcterms:modified>
</cp:coreProperties>
</file>